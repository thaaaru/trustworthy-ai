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99" r:id="rId2"/>
    <p:sldId id="302" r:id="rId3"/>
    <p:sldId id="303" r:id="rId4"/>
    <p:sldId id="304" r:id="rId5"/>
    <p:sldId id="305" r:id="rId6"/>
    <p:sldId id="306" r:id="rId7"/>
    <p:sldId id="307" r:id="rId8"/>
    <p:sldId id="308" r:id="rId9"/>
    <p:sldId id="309" r:id="rId10"/>
    <p:sldId id="310" r:id="rId11"/>
    <p:sldId id="311" r:id="rId12"/>
    <p:sldId id="312" r:id="rId13"/>
    <p:sldId id="313" r:id="rId14"/>
    <p:sldId id="314" r:id="rId15"/>
    <p:sldId id="315" r:id="rId16"/>
    <p:sldId id="301" r:id="rId17"/>
    <p:sldId id="316"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350"/>
    <p:restoredTop sz="94610"/>
  </p:normalViewPr>
  <p:slideViewPr>
    <p:cSldViewPr snapToGrid="0" snapToObjects="1">
      <p:cViewPr varScale="1">
        <p:scale>
          <a:sx n="121" d="100"/>
          <a:sy n="121" d="100"/>
        </p:scale>
        <p:origin x="200" y="10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3416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I want to start with a claim, not a question: we may already have an answer to one of the oldest problems in auditing and assurance - and most of us are not using it.
Look at the top of this slide. This is how assurance still largely works in most of our organizations. Something happens - a transaction, an access event, a claim. We request evidence. Someone reviews it. Eventually there is a finding, and eventually a report. Between the event and the assured conclusion, weeks or months pass.
Now look at the bottom path. The event happens. Evidence is captured continuously, not requested after the fact. Investigation happens close to the event. Assurance follows quickly.
I am not telling you today which path is realistic for your organization tomorrow. I am asking you to sit with the gap between these two paths, because everything in the next twenty-five minutes is really about that gap - why it exists, what it costs us, and what is now technically possible to close it.
Our businesses run every second of every day - payments clear, claims are filed, employees access systems. Assurance, in most organizations, still runs on a calendar. That mismatch is where we are going to spend our time this morning.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structural mismatch in one picture. Along the top, your business never stops. Transactions clear, payments move, claims are filed, employees access systems, customers interact with you, and - whether we like it or not - cyber events happen. All of this runs continuously, twenty-four hours a day.
Underneath, look at how we assure it. Four checkpoints a year. Q1, Q2, Q3, Q4. Between those checkpoints - and this is the point - nothing is being formally assured. Not because nobody cares, but because that is how periodic assurance is structured. It looks backward, at a point in time, on a schedule that has nothing to do with when risk actually occurs.
I want to ask the room a genuine question, not a rhetorical one: if a control failure happened in week three of Q2, when would we know? For most of us, the honest answer is: at the Q2 review, if we happen to test that control, and if the evidence from that week still exists.
This is not a criticism of internal audit, risk, or compliance teams - periodic assurance was a completely rational design for a paper-based, resource-constrained world. The question this morning is whether it is still the right design for how our organizations actually operate today.
One more layer to this, specifically for AI: it isn't only that the gaps between checkpoints go unobserved. With AI in the loop, the control itself can quietly change between checkpoints too - a model update, a prompt change, a fine-tune - none of which necessarily trigger a change-control ticket. You could test a control in March and have it behave differently by April with no record that anything changed at all.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go further, I want each of you to privately place your own organization on this staircase - not where you'd like to be, not where the slide deck says you should be, but honestly, where you are today.
Level zero is actively avoiding AI. Level one is individual or shadow use - people using AI tools on their own laptops, on their own accounts, with no organizational visibility. Level two is governed AI - approved tools, some policy. Level three is embedded AI - built into your actual workflows and systems. Level four is agentic AI - systems that can take multi-step action, not just answer questions. Level five is a governed agentic enterprise - capability and governance moving together.
Here is the trap I want to flag specifically: Level one - shadow AI - can quietly be more dangerous than Level zero, because at least Level zero has no exposure. At Level one, your staff may already be feeding client data, financial models, or case files into consumer AI tools with no logging, no data governance, and no audit trail. You may already be exposed and simply not know it.
Underneath the staircase is a second dimension that matters just as much as capability: governance maturity - unmanaged, controlled, observable, auditable. The uncomfortable truth for most organizations in this room is that your AI capability and your AI governance are not moving at the same speed. That gap is itself a risk.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wider market actually stands - and I want to be precise here, because the hype cycle around agentic AI makes it easy to overstate how far along most organizations are.
McKinsey's 2025 State of AI survey found that eighty-eight percent of organizations now use AI in at least one business function - that is genuinely mainstream. But when you move to agentic AI specifically - systems that can plan and take multi-step action, not just answer a question - only twenty-three percent are scaling an agent in even one function, and fewer than ten percent have reached enterprise-wide deployment.
So the honest picture is a wave, not a cliff edge. Most organizations sit somewhere between enterprise AI and embedded AI. A smaller group of leaders is pushing into agentic workflows. A frontier - genuinely a minority - is working toward governed agentic operations.
Why does this matter for a room full of audit, risk, and governance professionals? Because the conversation is no longer "should we use AI." It is "who governs the AI that our organization - or our employees informally - are already moving toward." The competitive and risk divide is forming now, while adoption is still uneven, not later.
One regulatory note, since several of you operate under EU exposure: the AI Act's high-risk obligations for systems like credit scoring and underwriting were pushed from August 2026 to December 2027 in this year's Digital Omnibus amendment. That's genuine relief on the deadline - but the mapping, governance, and audit-trail work behind it isn't optional just because the date moved, and the goalposts have already shifted once this year.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challenge a common assumption in this room: that if we don't formally adopt AI, we simply stay where we are. That is not what happens.
There are really three paths from today, not two. Path A: you do not formally adopt AI. That feels safe, but it quietly accumulates capability debt, a widening skills gap, and a real productivity opportunity cost relative to competitors who are moving.
Path B is the one I'd ask you to sit with the longest, because in most organizations in this room, it is already happening whether or not it's been decided: employees adopt AI themselves, informally. That leads to shadow AI, a data governance gap, and - critically for this audience - a loss of observability and a loss of auditability. You cannot assure what you cannot see.
Path C is governed organizational AI: controlled capability, visibility, evidence, auditability. This is the only path of the three that keeps assurance intact.
So the real strategic choice most boards are facing is not "AI or no AI." It is: will AI capability develop inside governance, or outside it. Doing nothing does not stop Path B from happening - it just means nobody is choosing which controls apply to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help ground this discussion, so let's look at four, drawn from the most current independent research available: IBM's 2025 Cost of a Data Breach Report, the ACFE's 2024 Report to the Nations on occupational fraud, and McKinsey's 2025 State of AI survey.
Top left: cyber loss. The average financial-services data breach now costs $5.56 million. IBM's research also shows organizations using AI and automation extensively in security operations pay $3.62 million on average versus $5.52 million for those that don't - and detect breaches roughly 51 days faster. I want to be careful here: this is correlation IBM has measured across hundreds of real breaches, not a guarantee for any one organization.
Top right: fraud loss. The median occupational fraud case takes twelve months to detect, and every month it goes undetected, the loss grows. ACFE puts the typical annual fraud loss at around 5% of revenue.
Bottom left: capability debt. Fewer than one in ten organizations have reached enterprise-wide agentic deployment - most are still piloting, while a minority pull ahead.
Bottom right: shadow AI carries its own premium - breaches involving unsanctioned AI use cost on average $670,000 more.
The common thread across all four boxes is time: the longer detection, response, and governance lag behind the risk, the larger the number gets.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make one thing very clear before this slide: I am not suggesting a Security Operations Centre is the same thing as Internal Audit. It is not. I'm using it only as an analogy - a discipline that faced exactly this same structural mismatch decades ago, and evolved.
Cybersecurity used to work on periodic log review - someone would sit down, on a schedule, and read through logs after the fact. That evolved into centralized monitoring, then into what most of you have heard of as a Security Operations Centre, a dedicated function watching continuously. From there it moved into detection engineering - deliberately building logic to catch specific failure patterns rather than waiting to notice them. And now, into what's increasingly called an agentic SOC, where AI systems investigate a first pass of alerts before a human analyst ever sees them.
Underneath, what actually changed at each stage: manual review became continuous signals, became continuous detection, became engineered detection, became continuous investigation.
Why did this transformation happen in cybersecurity specifically? Not because someone had a bright idea. It happened because the risk itself became continuous - attackers don't wait for quarterly reviews. My question for this room is simple: has the risk audit, risk, and compliance functions are responsible for become any less continuous?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really the hinge of the whole talk, so let me slow down here.
In cybersecurity, teams don't wait to stumble across a threat. They start with a hypothesis - "an attacker might try to move laterally after gaining initial access" - and they deliberately engineer a detection for that specific pattern, using observable telemetry, so that when it happens, an alert fires automatically.
What if audit worked the same way? Start with an audit objective. Form a control-failure hypothesis - a specific way this control could fail. Identify what observable evidence or telemetry would exist if it failed. Build detection logic for that pattern. When it fires, you get an exception, which triggers investigation, which produces assurance - continuously, not once a quarter.
Take a concrete example on the bottom of this slide: privileged access should be approved and time-bound. There are at least four distinct, detectable ways that control can fail - access granted before approval was logged, access that outlives its expiry date, a terminated employee whose access was never revoked, and emergency access that's used but never reviewed afterward. Every one of those is something a system could detect the moment it happens, rather than something an auditor discovers by sampling six months later.
This is the reframe I want you to carry into the rest of the talk: cybersecurity engineers detections for threats. There's no reason audit cannot engineer detections for control failure.
One caveat I want to flag before we move on, because it matters a great deal once AI is generating the evidence itself: if the agent that performed an action is also the one writing the log explaining that action, that evidence is not independent of the thing being audited. A hallucinated justification can look exactly as clean as a real one. So the detection logic still needs an independent verification step - not just automated logging, but something that checks the logging.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I've talked about AI in fairly general terms. This slide is about what specifically changes with agentic AI.
Traditional AI - the kind most of your organizations already use - answers a question when you ask it. You prompt it, it responds. Agentic AI is different: it can pursue a bounded objective across multiple steps without a person prompting each one.
The loop on the left is that operating cycle: observe, investigate, reason, decide, act, verify - and back to observe. I want to draw your attention to the dashed boundary around the whole loop, labeled "human and policy boundary." That boundary is not decorative. It represents where human approval sits, and - this matters for a room focused on governance - the "act" step, shown in amber, is exactly where that boundary usually needs to be enforced most strictly. Observing and investigating can often run autonomously; consequential action is where you decide how much autonomy to grant.
On the right is a concrete walk-through: an unusual privileged-access event occurs. The agent gathers evidence, checks related approvals, examines related activity, determines whether it looks abnormal, and - depending on how much authority you've granted it - either recommends a response for a human to approve, or performs a pre-authorized response itself. Either way, it verifies the outcome afterward.
In the middle of the loop, I've flagged three failure modes that are genuinely new, not just faster versions of old ones. Hallucination sits at the reason step - a confident, plausible, wrong conclusion that passes surface review. Automation bias sits at decide and act - humans rubber-stamping the agent's recommendation because challenging it feels like friction. And goal misalignment sits at act - the agent technically satisfying its stated objective in a way nobody intended. None of these show up in a traditional control test; they only show up if you're specifically looking for them.
The real value here isn't that the AI can talk. It's that the time between something happening and someone understanding and responding to it collapses.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addresses a question I often get asked once people understand what agentic AI can do: "if agents are making decisions and taking action, doesn't that make things less transparent, not more?"
The answer depends entirely on how the system is built - but done well, it's the opposite. Think of it as three layers. Layer one is business telemetry you already have: transactions, claims, payments, customer activity, access events. Layer two is risk and security telemetry: alerts, exceptions, control failures, anomalies - also largely familiar to this room.
Layer three is new: agentic telemetry. If an agent is properly instrumented, every step it takes generates a record - what evidence it gathered, what policy it evaluated against, what decision it reached, whether approval was sought or granted, what action it took, what the outcome was, and how that outcome was verified.
That is a fundamentally different kind of evidence than a human analyst's memory of why they approved something six weeks ago. It's structured, timestamped, and complete by construction - not reconstructed after the fact from someone's notes.
More structured telemetry leads to better observability, which leads to better auditability. The point of this slide is simple: agentic AI, properly governed, does not have to be a black box. It can be the most auditable part of your operation, precisely because every step of its reasoning and action can be logged.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has been building toward this slide, and I want to be direct: if you take one idea away from this talk, I'd like it to be this one.
An agent that can act on behalf of your organization is not a tool in the traditional sense. It is closer to a new type of privileged actor - one that can initiate transactions, grant or revoke access, or trigger a response, potentially without a human in the loop for every step. That is a governance question before it is a technology question.
Around the agent in the center of this diagram are seven controls that, in my view, are non-negotiable for any agent with real authority: identity - does the agent have its own verifiable identity, not a shared credential? Authority - what is it actually permitted to do? Instructions - what was it told, and is that logged? Policy - what rules constrain its behavior? A human approval boundary - where does a person have to sign off? Action evidence - is every action it takes recorded? And verification - is the outcome of its actions checked afterward?
That whole ring is what I'm calling governed autonomy - not maximum autonomy, appropriate autonomy with accountability built in from the start, not bolted on afterward.
Two more things worth naming explicitly, because they're genuinely new categories, not faster versions of old risks. First, segregation of duties: traditionally we keep incompatible functions - say, initiating a payment and approving it - with different people. A single agent can now originate, check, and execute in one action, which quietly collapses that separation unless you deliberately re-engineer it back in through exactly the controls on this ring. Second, attack surface: identity spoofing, prompt injection, and agent impersonation are attack classes with no line item on a traditional IT general controls checklist - they sit alongside, not instead of, the privilege misuse we already know how to test for.
The key question on the right is the one every audit committee, risk committee, and board in this room should be able to answer today, not after an incident: if an agent acted on our behalf, who authorized it, what was it allowed to do, and can we reconstruct exactly what happened?
Let me show you exactly what this looks like when it's not hypothetical.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just spent a slide establishing what governed autonomy looks like for a single agent. I want to ground that immediately in something concrete, because in almost every organization in this room, the audit blind spot isn't just periodic assurance - it's the integration layer itself.
Here's the pattern. Six core systems - core banking, payments, CRM, claims, a risk engine, compliance - and over the years, someone connects payments to core banking directly. Someone else connects claims to CRM directly. Someone else builds a direct feed from the risk engine to compliance. Nobody planned this as a system; it accreted, integration by integration, project by project. With just six systems, the maximum number of point-to-point links is fifteen. In a real organization with dozens of systems, that number explodes into the hundreds. This is what architects call the integration hairball.
Every one of those links has its own authentication method, its own data mapping, its own error handling, and - critically for this room - usually its own logging, or none at all. Nobody can give you a single answer to "what talks to what, and what would happen if this one link failed or was compromised." That is a live control gap sitting underneath your audited applications.
The alternative on the right is not new architectural thinking - hub-and-spoke integration has existed for decades. What's new is putting a governed AI agent in that hub position: one mediation layer, six governed connections instead of fifteen ungoverned ones, and a single place to enforce policy and capture evidence. I'll show you exactly what that evidence looks like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it actually look like to put a governed agent at the center of integration, instead of another undocumented point-to-point link?
On the left is the same six systems from the last slide, but now every exchange between them passes through a single integration and audit agent. That agent isn't just moving data - it's mediating.
On the right is what that mediation buys you, automatically, on every single exchange, not just the ones someone remembers to sample. Caller identity: which system or user actually initiated this. Policy evaluated: was this exchange permitted, and under which specific rule. Data mapping validated: were the fields transformed and checked, not silently altered somewhere in transit, which is one of the most common and hardest-to-detect integration failures. Response verified: did the receiving system actually confirm the outcome it was supposed to. And anomaly flagged in real time: if something looks wrong, you find out now, not at next quarter's review.
The bottom of the slide shows how that becomes assurance in practice: an event happens, the agent mediates the exchange, policy is checked and evidence is logged in the same motion, that evidence flows into a real-time audit feed, and if something is genuinely anomalous, it raises an exception for investigation - the same detection-engineering pattern we discussed earlier, just applied to the integration layer specifically.
This is, I think, one of the most underrated applications of agentic AI for organizations like yours: not customer-facing chatbots, but a disciplined, boring, extremely well-instrumented integration layer that turns your biggest unaudited risk surface into your most continuously assured one.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bring this all the way home. The staircase across the top is the argument of the last twenty minutes, compressed into six steps: you start by engineering detections for control failure, that enables agentic investigation, which produces observability, which produces auditability, which produces assurance, which ultimately produces resilience.
Underneath are two loops that I want you to notice are not the same thing, even though they rhyme. On the left, resilience: detect, respond, recover, adapt - this is operational, it's about what your organization does when something goes wrong. On the right, assurance: observe, test, verify, prove - this is about whether you, and your regulators, and your board can trust that the first loop is actually working. They connect through one phrase in the middle: evidence-backed confidence.
I want to close by returning to where I started. I said we may already have an answer to one of auditing's oldest problems. I don't think the opportunity in front of this room is simply to automate more manual work - that's the least interesting version of this story, and it's the one that sounds like a sales pitch.
The real opportunity is to engineer evidence, governance, and accountability directly into how work happens - so that assurance stops being something we do to the business periodically, and starts being something the business produces continuously, as a byproduct of how it operates.
I'll stop there. I have about five minutes, and I'd genuinely like to hear where you agree, where you're skeptical, and where this doesn't fit your organization's reality.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last slide is optional context, not something I'd necessarily walk through live - it's here in case anyone asks how I personally think about this, or wants a worked example after the talk.
It's a two-by-two: autonomy scale on the horizontal axis - how much of a workflow runs unsupervised - against governance and safety discipline on the vertical axis - how tightly verified the output is. My own setup, running an autonomous coding agent inside a gated CI/CD pipeline, sits high on both axes: extended unsupervised runtime, but every change still commits to a non-default branch, halts at each gate, and hands control back to a human before anything merges. That's deliberately different from the industry median - based on the DORA 2025 survey baseline - which the data shows is still largely ad hoc and unmeasured on governance.
Two terms on here are worth a quick gloss if anyone asks: DORA is Google's DevOps Research and Assessment program - it's the source of the industry benchmark. McCabe refers to cyclomatic complexity, a much older software metric for counting independent paths through code - I use it informally here as a stand-in for how gated versus unsupervised a given change path actually is.
The point of including this isn't to hold my own setup up as a model - it's to make concrete that the personal-level checklist on the previous slide is something I hold myself to, not just something I'm asking of this room.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822960" y="2148840"/>
            <a:ext cx="10543032" cy="1554480"/>
          </a:xfrm>
          <a:prstGeom prst="rect">
            <a:avLst/>
          </a:prstGeom>
          <a:noFill/>
          <a:ln/>
        </p:spPr>
        <p:txBody>
          <a:bodyPr wrap="square" lIns="0" tIns="0" rIns="0" bIns="0" rtlCol="0" anchor="ctr"/>
          <a:lstStyle/>
          <a:p>
            <a:pPr marL="0" indent="0" algn="ctr">
              <a:lnSpc>
                <a:spcPct val="108000"/>
              </a:lnSpc>
              <a:buNone/>
            </a:pPr>
            <a:r>
              <a:rPr lang="en-US" sz="3800" b="1" dirty="0">
                <a:solidFill>
                  <a:srgbClr val="1B2A4A"/>
                </a:solidFill>
                <a:latin typeface="Cambria" pitchFamily="34" charset="0"/>
                <a:ea typeface="Cambria" pitchFamily="34" charset="-122"/>
                <a:cs typeface="Cambria" pitchFamily="34" charset="-120"/>
              </a:rPr>
              <a:t>DRIVING INFORMATION SECURITY RESILIENCE</a:t>
            </a:r>
            <a:endParaRPr lang="en-US" sz="3800" dirty="0"/>
          </a:p>
          <a:p>
            <a:pPr marL="0" indent="0" algn="ctr">
              <a:lnSpc>
                <a:spcPct val="108000"/>
              </a:lnSpc>
              <a:buNone/>
            </a:pPr>
            <a:r>
              <a:rPr lang="en-US" sz="3800" b="1" dirty="0">
                <a:solidFill>
                  <a:srgbClr val="1B2A4A"/>
                </a:solidFill>
                <a:latin typeface="Cambria" pitchFamily="34" charset="0"/>
                <a:ea typeface="Cambria" pitchFamily="34" charset="-122"/>
                <a:cs typeface="Cambria" pitchFamily="34" charset="-120"/>
              </a:rPr>
              <a:t>THROUGH AGENTIC AI</a:t>
            </a:r>
            <a:endParaRPr lang="en-US" sz="3800" dirty="0"/>
          </a:p>
        </p:txBody>
      </p:sp>
      <p:sp>
        <p:nvSpPr>
          <p:cNvPr id="5" name="Text 3"/>
          <p:cNvSpPr/>
          <p:nvPr/>
        </p:nvSpPr>
        <p:spPr>
          <a:xfrm>
            <a:off x="822960" y="3877694"/>
            <a:ext cx="10543032" cy="457200"/>
          </a:xfrm>
          <a:prstGeom prst="rect">
            <a:avLst/>
          </a:prstGeom>
          <a:noFill/>
          <a:ln/>
        </p:spPr>
        <p:txBody>
          <a:bodyPr wrap="square" lIns="0" tIns="0" rIns="0" bIns="0" rtlCol="0" anchor="ctr"/>
          <a:lstStyle/>
          <a:p>
            <a:pPr marL="0" indent="0" algn="ctr">
              <a:buNone/>
            </a:pPr>
            <a:r>
              <a:rPr lang="en-US" sz="2400" i="1" dirty="0">
                <a:solidFill>
                  <a:srgbClr val="0E6E8C"/>
                </a:solidFill>
                <a:latin typeface="Cambria" pitchFamily="34" charset="0"/>
                <a:ea typeface="Cambria" pitchFamily="34" charset="-122"/>
                <a:cs typeface="Cambria" pitchFamily="34" charset="-120"/>
              </a:rPr>
              <a:t>From Periodic Assurance to Continuous, Governed Assurance</a:t>
            </a:r>
            <a:endParaRPr lang="en-US" sz="2400" dirty="0"/>
          </a:p>
        </p:txBody>
      </p:sp>
      <p:sp>
        <p:nvSpPr>
          <p:cNvPr id="14" name="Text 12"/>
          <p:cNvSpPr/>
          <p:nvPr/>
        </p:nvSpPr>
        <p:spPr>
          <a:xfrm>
            <a:off x="822960" y="5769864"/>
            <a:ext cx="10543032" cy="292608"/>
          </a:xfrm>
          <a:prstGeom prst="rect">
            <a:avLst/>
          </a:prstGeom>
          <a:noFill/>
          <a:ln/>
        </p:spPr>
        <p:txBody>
          <a:bodyPr wrap="square" lIns="0" tIns="0" rIns="0" bIns="0" rtlCol="0" anchor="ctr"/>
          <a:lstStyle/>
          <a:p>
            <a:pPr marL="0" indent="0" algn="ctr">
              <a:buNone/>
            </a:pPr>
            <a:r>
              <a:rPr lang="en-US" sz="2400" b="1" dirty="0">
                <a:solidFill>
                  <a:srgbClr val="1B2A4A"/>
                </a:solidFill>
                <a:latin typeface="Calibri" pitchFamily="34" charset="0"/>
                <a:ea typeface="Calibri" pitchFamily="34" charset="-122"/>
                <a:cs typeface="Calibri" pitchFamily="34" charset="-120"/>
              </a:rPr>
              <a:t>Tharaka  ·  Enterprise Cybersecurity Architect</a:t>
            </a:r>
            <a:endParaRPr lang="en-US" sz="2400" dirty="0"/>
          </a:p>
        </p:txBody>
      </p:sp>
    </p:spTree>
    <p:extLst>
      <p:ext uri="{BB962C8B-B14F-4D97-AF65-F5344CB8AC3E}">
        <p14:creationId xmlns:p14="http://schemas.microsoft.com/office/powerpoint/2010/main" val="1463530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buNone/>
            </a:pPr>
            <a:r>
              <a:rPr lang="en-US" sz="1500" b="1" kern="0" spc="200" dirty="0">
                <a:solidFill>
                  <a:srgbClr val="0E6E8C"/>
                </a:solidFill>
                <a:latin typeface="Calibri" pitchFamily="34" charset="0"/>
                <a:ea typeface="Calibri" pitchFamily="34" charset="-122"/>
                <a:cs typeface="Calibri" pitchFamily="34" charset="-120"/>
              </a:rPr>
              <a:t>OPENING</a:t>
            </a:r>
            <a:endParaRPr lang="en-US" sz="1500" dirty="0"/>
          </a:p>
        </p:txBody>
      </p:sp>
      <p:sp>
        <p:nvSpPr>
          <p:cNvPr id="3" name="Text 1"/>
          <p:cNvSpPr/>
          <p:nvPr/>
        </p:nvSpPr>
        <p:spPr>
          <a:xfrm>
            <a:off x="502920" y="612648"/>
            <a:ext cx="11155680" cy="868680"/>
          </a:xfrm>
          <a:prstGeom prst="rect">
            <a:avLst/>
          </a:prstGeom>
          <a:noFill/>
          <a:ln/>
        </p:spPr>
        <p:txBody>
          <a:bodyPr wrap="square" lIns="0" tIns="0" rIns="0" bIns="0" rtlCol="0" anchor="t"/>
          <a:lstStyle/>
          <a:p>
            <a:pPr marL="0" indent="0">
              <a:lnSpc>
                <a:spcPct val="102000"/>
              </a:lnSpc>
              <a:buNone/>
            </a:pPr>
            <a:r>
              <a:rPr lang="en-US" sz="3250" b="1" dirty="0">
                <a:solidFill>
                  <a:srgbClr val="1B2A4A"/>
                </a:solidFill>
                <a:latin typeface="Cambria" pitchFamily="34" charset="0"/>
                <a:ea typeface="Cambria" pitchFamily="34" charset="-122"/>
                <a:cs typeface="Cambria" pitchFamily="34" charset="-120"/>
              </a:rPr>
              <a:t>We may already have an answer to one of auditing's oldest problems - but we are not using it.</a:t>
            </a:r>
            <a:endParaRPr lang="en-US" sz="3250" dirty="0"/>
          </a:p>
        </p:txBody>
      </p:sp>
      <p:sp>
        <p:nvSpPr>
          <p:cNvPr id="4" name="Text 2"/>
          <p:cNvSpPr/>
          <p:nvPr/>
        </p:nvSpPr>
        <p:spPr>
          <a:xfrm>
            <a:off x="502920" y="1929384"/>
            <a:ext cx="5486400" cy="274320"/>
          </a:xfrm>
          <a:prstGeom prst="rect">
            <a:avLst/>
          </a:prstGeom>
          <a:noFill/>
          <a:ln/>
        </p:spPr>
        <p:txBody>
          <a:bodyPr wrap="square" lIns="0" tIns="0" rIns="0" bIns="0" rtlCol="0" anchor="ctr"/>
          <a:lstStyle/>
          <a:p>
            <a:pPr marL="0" indent="0">
              <a:buNone/>
            </a:pPr>
            <a:r>
              <a:rPr lang="en-US" sz="1375" b="1" dirty="0">
                <a:solidFill>
                  <a:srgbClr val="B3401F"/>
                </a:solidFill>
                <a:latin typeface="Calibri" pitchFamily="34" charset="0"/>
                <a:ea typeface="Calibri" pitchFamily="34" charset="-122"/>
                <a:cs typeface="Calibri" pitchFamily="34" charset="-120"/>
              </a:rPr>
              <a:t>TODAY: PERIODIC ASSURANCE</a:t>
            </a:r>
            <a:endParaRPr lang="en-US" sz="1375" dirty="0"/>
          </a:p>
        </p:txBody>
      </p:sp>
      <p:sp>
        <p:nvSpPr>
          <p:cNvPr id="5" name="Shape 3"/>
          <p:cNvSpPr/>
          <p:nvPr/>
        </p:nvSpPr>
        <p:spPr>
          <a:xfrm>
            <a:off x="502920" y="2336292"/>
            <a:ext cx="1929384" cy="777240"/>
          </a:xfrm>
          <a:prstGeom prst="roundRect">
            <a:avLst>
              <a:gd name="adj" fmla="val 8235"/>
            </a:avLst>
          </a:prstGeom>
          <a:solidFill>
            <a:srgbClr val="E7EAF2"/>
          </a:solidFill>
          <a:ln w="12700">
            <a:solidFill>
              <a:srgbClr val="C9CDD6"/>
            </a:solidFill>
            <a:prstDash val="solid"/>
          </a:ln>
        </p:spPr>
        <p:txBody>
          <a:bodyPr/>
          <a:lstStyle/>
          <a:p>
            <a:endParaRPr lang="en-US"/>
          </a:p>
        </p:txBody>
      </p:sp>
      <p:sp>
        <p:nvSpPr>
          <p:cNvPr id="6" name="Text 4"/>
          <p:cNvSpPr/>
          <p:nvPr/>
        </p:nvSpPr>
        <p:spPr>
          <a:xfrm>
            <a:off x="548640" y="2363724"/>
            <a:ext cx="1837944" cy="722376"/>
          </a:xfrm>
          <a:prstGeom prst="rect">
            <a:avLst/>
          </a:prstGeom>
          <a:noFill/>
          <a:ln/>
        </p:spPr>
        <p:txBody>
          <a:bodyPr wrap="square" lIns="0" tIns="0" rIns="0" bIns="0" rtlCol="0" anchor="ctr"/>
          <a:lstStyle/>
          <a:p>
            <a:pPr marL="0" indent="0" algn="ctr">
              <a:buNone/>
            </a:pPr>
            <a:r>
              <a:rPr lang="en-US" sz="1375" b="1" dirty="0">
                <a:solidFill>
                  <a:srgbClr val="1B2A4A"/>
                </a:solidFill>
                <a:latin typeface="Calibri" pitchFamily="34" charset="0"/>
                <a:ea typeface="Calibri" pitchFamily="34" charset="-122"/>
                <a:cs typeface="Calibri" pitchFamily="34" charset="-120"/>
              </a:rPr>
              <a:t>Event</a:t>
            </a:r>
            <a:endParaRPr lang="en-US" sz="1375" dirty="0"/>
          </a:p>
        </p:txBody>
      </p:sp>
      <p:sp>
        <p:nvSpPr>
          <p:cNvPr id="7" name="Shape 5"/>
          <p:cNvSpPr/>
          <p:nvPr/>
        </p:nvSpPr>
        <p:spPr>
          <a:xfrm>
            <a:off x="2505273" y="2592781"/>
            <a:ext cx="238110" cy="264262"/>
          </a:xfrm>
          <a:prstGeom prst="chevron">
            <a:avLst/>
          </a:prstGeom>
          <a:solidFill>
            <a:srgbClr val="C9CDD6"/>
          </a:solidFill>
          <a:ln/>
        </p:spPr>
        <p:txBody>
          <a:bodyPr/>
          <a:lstStyle/>
          <a:p>
            <a:endParaRPr lang="en-US"/>
          </a:p>
        </p:txBody>
      </p:sp>
      <p:sp>
        <p:nvSpPr>
          <p:cNvPr id="8" name="Shape 6"/>
          <p:cNvSpPr/>
          <p:nvPr/>
        </p:nvSpPr>
        <p:spPr>
          <a:xfrm>
            <a:off x="2816352" y="2336292"/>
            <a:ext cx="1929384" cy="777240"/>
          </a:xfrm>
          <a:prstGeom prst="roundRect">
            <a:avLst>
              <a:gd name="adj" fmla="val 8235"/>
            </a:avLst>
          </a:prstGeom>
          <a:solidFill>
            <a:srgbClr val="E7EAF2"/>
          </a:solidFill>
          <a:ln w="12700">
            <a:solidFill>
              <a:srgbClr val="C9CDD6"/>
            </a:solidFill>
            <a:prstDash val="solid"/>
          </a:ln>
        </p:spPr>
        <p:txBody>
          <a:bodyPr/>
          <a:lstStyle/>
          <a:p>
            <a:endParaRPr lang="en-US"/>
          </a:p>
        </p:txBody>
      </p:sp>
      <p:sp>
        <p:nvSpPr>
          <p:cNvPr id="9" name="Text 7"/>
          <p:cNvSpPr/>
          <p:nvPr/>
        </p:nvSpPr>
        <p:spPr>
          <a:xfrm>
            <a:off x="2862072" y="2363724"/>
            <a:ext cx="1837944" cy="722376"/>
          </a:xfrm>
          <a:prstGeom prst="rect">
            <a:avLst/>
          </a:prstGeom>
          <a:noFill/>
          <a:ln/>
        </p:spPr>
        <p:txBody>
          <a:bodyPr wrap="square" lIns="0" tIns="0" rIns="0" bIns="0" rtlCol="0" anchor="ctr"/>
          <a:lstStyle/>
          <a:p>
            <a:pPr marL="0" indent="0" algn="ctr">
              <a:buNone/>
            </a:pPr>
            <a:r>
              <a:rPr lang="en-US" sz="1375" b="1" dirty="0">
                <a:solidFill>
                  <a:srgbClr val="1B2A4A"/>
                </a:solidFill>
                <a:latin typeface="Calibri" pitchFamily="34" charset="0"/>
                <a:ea typeface="Calibri" pitchFamily="34" charset="-122"/>
                <a:cs typeface="Calibri" pitchFamily="34" charset="-120"/>
              </a:rPr>
              <a:t>Evidence</a:t>
            </a:r>
            <a:endParaRPr lang="en-US" sz="1375" dirty="0"/>
          </a:p>
          <a:p>
            <a:pPr marL="0" indent="0" algn="ctr">
              <a:buNone/>
            </a:pPr>
            <a:r>
              <a:rPr lang="en-US" sz="1375" b="1" dirty="0">
                <a:solidFill>
                  <a:srgbClr val="1B2A4A"/>
                </a:solidFill>
                <a:latin typeface="Calibri" pitchFamily="34" charset="0"/>
                <a:ea typeface="Calibri" pitchFamily="34" charset="-122"/>
                <a:cs typeface="Calibri" pitchFamily="34" charset="-120"/>
              </a:rPr>
              <a:t>Request</a:t>
            </a:r>
            <a:endParaRPr lang="en-US" sz="1375" dirty="0"/>
          </a:p>
        </p:txBody>
      </p:sp>
      <p:sp>
        <p:nvSpPr>
          <p:cNvPr id="10" name="Shape 8"/>
          <p:cNvSpPr/>
          <p:nvPr/>
        </p:nvSpPr>
        <p:spPr>
          <a:xfrm>
            <a:off x="4818705" y="2592781"/>
            <a:ext cx="238110" cy="264262"/>
          </a:xfrm>
          <a:prstGeom prst="chevron">
            <a:avLst/>
          </a:prstGeom>
          <a:solidFill>
            <a:srgbClr val="C9CDD6"/>
          </a:solidFill>
          <a:ln/>
        </p:spPr>
        <p:txBody>
          <a:bodyPr/>
          <a:lstStyle/>
          <a:p>
            <a:endParaRPr lang="en-US"/>
          </a:p>
        </p:txBody>
      </p:sp>
      <p:sp>
        <p:nvSpPr>
          <p:cNvPr id="11" name="Shape 9"/>
          <p:cNvSpPr/>
          <p:nvPr/>
        </p:nvSpPr>
        <p:spPr>
          <a:xfrm>
            <a:off x="5129784" y="2336292"/>
            <a:ext cx="1929384" cy="777240"/>
          </a:xfrm>
          <a:prstGeom prst="roundRect">
            <a:avLst>
              <a:gd name="adj" fmla="val 8235"/>
            </a:avLst>
          </a:prstGeom>
          <a:solidFill>
            <a:srgbClr val="E7EAF2"/>
          </a:solidFill>
          <a:ln w="12700">
            <a:solidFill>
              <a:srgbClr val="C9CDD6"/>
            </a:solidFill>
            <a:prstDash val="solid"/>
          </a:ln>
        </p:spPr>
        <p:txBody>
          <a:bodyPr/>
          <a:lstStyle/>
          <a:p>
            <a:endParaRPr lang="en-US"/>
          </a:p>
        </p:txBody>
      </p:sp>
      <p:sp>
        <p:nvSpPr>
          <p:cNvPr id="12" name="Text 10"/>
          <p:cNvSpPr/>
          <p:nvPr/>
        </p:nvSpPr>
        <p:spPr>
          <a:xfrm>
            <a:off x="5175504" y="2363724"/>
            <a:ext cx="1837944" cy="722376"/>
          </a:xfrm>
          <a:prstGeom prst="rect">
            <a:avLst/>
          </a:prstGeom>
          <a:noFill/>
          <a:ln/>
        </p:spPr>
        <p:txBody>
          <a:bodyPr wrap="square" lIns="0" tIns="0" rIns="0" bIns="0" rtlCol="0" anchor="ctr"/>
          <a:lstStyle/>
          <a:p>
            <a:pPr marL="0" indent="0" algn="ctr">
              <a:buNone/>
            </a:pPr>
            <a:r>
              <a:rPr lang="en-US" sz="1375" b="1" dirty="0">
                <a:solidFill>
                  <a:srgbClr val="1B2A4A"/>
                </a:solidFill>
                <a:latin typeface="Calibri" pitchFamily="34" charset="0"/>
                <a:ea typeface="Calibri" pitchFamily="34" charset="-122"/>
                <a:cs typeface="Calibri" pitchFamily="34" charset="-120"/>
              </a:rPr>
              <a:t>Review</a:t>
            </a:r>
            <a:endParaRPr lang="en-US" sz="1375" dirty="0"/>
          </a:p>
        </p:txBody>
      </p:sp>
      <p:sp>
        <p:nvSpPr>
          <p:cNvPr id="13" name="Shape 11"/>
          <p:cNvSpPr/>
          <p:nvPr/>
        </p:nvSpPr>
        <p:spPr>
          <a:xfrm>
            <a:off x="7132137" y="2592781"/>
            <a:ext cx="238110" cy="264262"/>
          </a:xfrm>
          <a:prstGeom prst="chevron">
            <a:avLst/>
          </a:prstGeom>
          <a:solidFill>
            <a:srgbClr val="C9CDD6"/>
          </a:solidFill>
          <a:ln/>
        </p:spPr>
        <p:txBody>
          <a:bodyPr/>
          <a:lstStyle/>
          <a:p>
            <a:endParaRPr lang="en-US"/>
          </a:p>
        </p:txBody>
      </p:sp>
      <p:sp>
        <p:nvSpPr>
          <p:cNvPr id="14" name="Shape 12"/>
          <p:cNvSpPr/>
          <p:nvPr/>
        </p:nvSpPr>
        <p:spPr>
          <a:xfrm>
            <a:off x="7443216" y="2336292"/>
            <a:ext cx="1929384" cy="777240"/>
          </a:xfrm>
          <a:prstGeom prst="roundRect">
            <a:avLst>
              <a:gd name="adj" fmla="val 8235"/>
            </a:avLst>
          </a:prstGeom>
          <a:solidFill>
            <a:srgbClr val="E7EAF2"/>
          </a:solidFill>
          <a:ln w="12700">
            <a:solidFill>
              <a:srgbClr val="C9CDD6"/>
            </a:solidFill>
            <a:prstDash val="solid"/>
          </a:ln>
        </p:spPr>
        <p:txBody>
          <a:bodyPr/>
          <a:lstStyle/>
          <a:p>
            <a:endParaRPr lang="en-US"/>
          </a:p>
        </p:txBody>
      </p:sp>
      <p:sp>
        <p:nvSpPr>
          <p:cNvPr id="15" name="Text 13"/>
          <p:cNvSpPr/>
          <p:nvPr/>
        </p:nvSpPr>
        <p:spPr>
          <a:xfrm>
            <a:off x="7488936" y="2363724"/>
            <a:ext cx="1837944" cy="722376"/>
          </a:xfrm>
          <a:prstGeom prst="rect">
            <a:avLst/>
          </a:prstGeom>
          <a:noFill/>
          <a:ln/>
        </p:spPr>
        <p:txBody>
          <a:bodyPr wrap="square" lIns="0" tIns="0" rIns="0" bIns="0" rtlCol="0" anchor="ctr"/>
          <a:lstStyle/>
          <a:p>
            <a:pPr marL="0" indent="0" algn="ctr">
              <a:buNone/>
            </a:pPr>
            <a:r>
              <a:rPr lang="en-US" sz="1375" b="1" dirty="0">
                <a:solidFill>
                  <a:srgbClr val="1B2A4A"/>
                </a:solidFill>
                <a:latin typeface="Calibri" pitchFamily="34" charset="0"/>
                <a:ea typeface="Calibri" pitchFamily="34" charset="-122"/>
                <a:cs typeface="Calibri" pitchFamily="34" charset="-120"/>
              </a:rPr>
              <a:t>Finding</a:t>
            </a:r>
            <a:endParaRPr lang="en-US" sz="1375" dirty="0"/>
          </a:p>
        </p:txBody>
      </p:sp>
      <p:sp>
        <p:nvSpPr>
          <p:cNvPr id="16" name="Shape 14"/>
          <p:cNvSpPr/>
          <p:nvPr/>
        </p:nvSpPr>
        <p:spPr>
          <a:xfrm>
            <a:off x="9445569" y="2592781"/>
            <a:ext cx="238110" cy="264262"/>
          </a:xfrm>
          <a:prstGeom prst="chevron">
            <a:avLst/>
          </a:prstGeom>
          <a:solidFill>
            <a:srgbClr val="C9CDD6"/>
          </a:solidFill>
          <a:ln/>
        </p:spPr>
        <p:txBody>
          <a:bodyPr/>
          <a:lstStyle/>
          <a:p>
            <a:endParaRPr lang="en-US"/>
          </a:p>
        </p:txBody>
      </p:sp>
      <p:sp>
        <p:nvSpPr>
          <p:cNvPr id="17" name="Shape 15"/>
          <p:cNvSpPr/>
          <p:nvPr/>
        </p:nvSpPr>
        <p:spPr>
          <a:xfrm>
            <a:off x="9756648" y="2336292"/>
            <a:ext cx="1929384" cy="777240"/>
          </a:xfrm>
          <a:prstGeom prst="roundRect">
            <a:avLst>
              <a:gd name="adj" fmla="val 8235"/>
            </a:avLst>
          </a:prstGeom>
          <a:solidFill>
            <a:srgbClr val="E7EAF2"/>
          </a:solidFill>
          <a:ln w="12700">
            <a:solidFill>
              <a:srgbClr val="C9CDD6"/>
            </a:solidFill>
            <a:prstDash val="solid"/>
          </a:ln>
        </p:spPr>
        <p:txBody>
          <a:bodyPr/>
          <a:lstStyle/>
          <a:p>
            <a:endParaRPr lang="en-US"/>
          </a:p>
        </p:txBody>
      </p:sp>
      <p:sp>
        <p:nvSpPr>
          <p:cNvPr id="18" name="Text 16"/>
          <p:cNvSpPr/>
          <p:nvPr/>
        </p:nvSpPr>
        <p:spPr>
          <a:xfrm>
            <a:off x="9802368" y="2363724"/>
            <a:ext cx="1837944" cy="722376"/>
          </a:xfrm>
          <a:prstGeom prst="rect">
            <a:avLst/>
          </a:prstGeom>
          <a:noFill/>
          <a:ln/>
        </p:spPr>
        <p:txBody>
          <a:bodyPr wrap="square" lIns="0" tIns="0" rIns="0" bIns="0" rtlCol="0" anchor="ctr"/>
          <a:lstStyle/>
          <a:p>
            <a:pPr marL="0" indent="0" algn="ctr">
              <a:buNone/>
            </a:pPr>
            <a:r>
              <a:rPr lang="en-US" sz="1375" b="1" dirty="0">
                <a:solidFill>
                  <a:srgbClr val="1B2A4A"/>
                </a:solidFill>
                <a:latin typeface="Calibri" pitchFamily="34" charset="0"/>
                <a:ea typeface="Calibri" pitchFamily="34" charset="-122"/>
                <a:cs typeface="Calibri" pitchFamily="34" charset="-120"/>
              </a:rPr>
              <a:t>Report</a:t>
            </a:r>
            <a:endParaRPr lang="en-US" sz="1375" dirty="0"/>
          </a:p>
        </p:txBody>
      </p:sp>
      <p:sp>
        <p:nvSpPr>
          <p:cNvPr id="19" name="Shape 17"/>
          <p:cNvSpPr/>
          <p:nvPr/>
        </p:nvSpPr>
        <p:spPr>
          <a:xfrm>
            <a:off x="502920" y="3296412"/>
            <a:ext cx="11183112" cy="0"/>
          </a:xfrm>
          <a:prstGeom prst="line">
            <a:avLst/>
          </a:prstGeom>
          <a:noFill/>
          <a:ln w="19050">
            <a:solidFill>
              <a:srgbClr val="B3401F"/>
            </a:solidFill>
            <a:prstDash val="dash"/>
            <a:headEnd type="triangle"/>
            <a:tailEnd type="triangle"/>
          </a:ln>
        </p:spPr>
        <p:txBody>
          <a:bodyPr/>
          <a:lstStyle/>
          <a:p>
            <a:endParaRPr lang="en-US"/>
          </a:p>
        </p:txBody>
      </p:sp>
      <p:sp>
        <p:nvSpPr>
          <p:cNvPr id="20" name="Text 18"/>
          <p:cNvSpPr/>
          <p:nvPr/>
        </p:nvSpPr>
        <p:spPr>
          <a:xfrm>
            <a:off x="502920" y="3360420"/>
            <a:ext cx="11183112" cy="274320"/>
          </a:xfrm>
          <a:prstGeom prst="rect">
            <a:avLst/>
          </a:prstGeom>
          <a:noFill/>
          <a:ln/>
        </p:spPr>
        <p:txBody>
          <a:bodyPr wrap="square" lIns="0" tIns="0" rIns="0" bIns="0" rtlCol="0" anchor="ctr"/>
          <a:lstStyle/>
          <a:p>
            <a:pPr marL="0" indent="0" algn="ctr">
              <a:buNone/>
            </a:pPr>
            <a:r>
              <a:rPr lang="en-US" sz="1600" i="1" dirty="0">
                <a:solidFill>
                  <a:srgbClr val="B3401F"/>
                </a:solidFill>
                <a:latin typeface="Calibri" pitchFamily="34" charset="0"/>
                <a:ea typeface="Calibri" pitchFamily="34" charset="-122"/>
                <a:cs typeface="Calibri" pitchFamily="34" charset="-120"/>
              </a:rPr>
              <a:t>Latency: weeks to months between event and assured conclusion</a:t>
            </a:r>
            <a:endParaRPr lang="en-US" sz="1600" dirty="0"/>
          </a:p>
        </p:txBody>
      </p:sp>
      <p:sp>
        <p:nvSpPr>
          <p:cNvPr id="21" name="Text 19"/>
          <p:cNvSpPr/>
          <p:nvPr/>
        </p:nvSpPr>
        <p:spPr>
          <a:xfrm>
            <a:off x="502920" y="3946093"/>
            <a:ext cx="7315200" cy="274320"/>
          </a:xfrm>
          <a:prstGeom prst="rect">
            <a:avLst/>
          </a:prstGeom>
          <a:noFill/>
          <a:ln/>
        </p:spPr>
        <p:txBody>
          <a:bodyPr wrap="square" lIns="0" tIns="0" rIns="0" bIns="0" rtlCol="0" anchor="ctr"/>
          <a:lstStyle/>
          <a:p>
            <a:pPr marL="0" indent="0">
              <a:buNone/>
            </a:pPr>
            <a:r>
              <a:rPr lang="en-US" sz="1375" b="1" dirty="0">
                <a:solidFill>
                  <a:srgbClr val="0E6E8C"/>
                </a:solidFill>
                <a:latin typeface="Calibri" pitchFamily="34" charset="0"/>
                <a:ea typeface="Calibri" pitchFamily="34" charset="-122"/>
                <a:cs typeface="Calibri" pitchFamily="34" charset="-120"/>
              </a:rPr>
              <a:t>A POSSIBLE FUTURE: CONTINUOUS ASSURANCE</a:t>
            </a:r>
            <a:endParaRPr lang="en-US" sz="1375" dirty="0"/>
          </a:p>
        </p:txBody>
      </p:sp>
      <p:sp>
        <p:nvSpPr>
          <p:cNvPr id="22" name="Shape 20"/>
          <p:cNvSpPr/>
          <p:nvPr/>
        </p:nvSpPr>
        <p:spPr>
          <a:xfrm>
            <a:off x="502920" y="4347972"/>
            <a:ext cx="2507742" cy="777240"/>
          </a:xfrm>
          <a:prstGeom prst="roundRect">
            <a:avLst>
              <a:gd name="adj" fmla="val 8235"/>
            </a:avLst>
          </a:prstGeom>
          <a:solidFill>
            <a:srgbClr val="D8ECF1"/>
          </a:solidFill>
          <a:ln w="12700">
            <a:solidFill>
              <a:srgbClr val="0E6E8C"/>
            </a:solidFill>
            <a:prstDash val="solid"/>
          </a:ln>
        </p:spPr>
        <p:txBody>
          <a:bodyPr/>
          <a:lstStyle/>
          <a:p>
            <a:endParaRPr lang="en-US"/>
          </a:p>
        </p:txBody>
      </p:sp>
      <p:sp>
        <p:nvSpPr>
          <p:cNvPr id="23" name="Text 21"/>
          <p:cNvSpPr/>
          <p:nvPr/>
        </p:nvSpPr>
        <p:spPr>
          <a:xfrm>
            <a:off x="548640" y="4375404"/>
            <a:ext cx="2416302" cy="722376"/>
          </a:xfrm>
          <a:prstGeom prst="rect">
            <a:avLst/>
          </a:prstGeom>
          <a:noFill/>
          <a:ln/>
        </p:spPr>
        <p:txBody>
          <a:bodyPr wrap="square" lIns="0" tIns="0" rIns="0" bIns="0" rtlCol="0" anchor="ctr"/>
          <a:lstStyle/>
          <a:p>
            <a:pPr marL="0" indent="0" algn="ctr">
              <a:buNone/>
            </a:pPr>
            <a:r>
              <a:rPr lang="en-US" sz="1375" b="1" dirty="0">
                <a:solidFill>
                  <a:srgbClr val="1B2A4A"/>
                </a:solidFill>
                <a:latin typeface="Calibri" pitchFamily="34" charset="0"/>
                <a:ea typeface="Calibri" pitchFamily="34" charset="-122"/>
                <a:cs typeface="Calibri" pitchFamily="34" charset="-120"/>
              </a:rPr>
              <a:t>Event</a:t>
            </a:r>
            <a:endParaRPr lang="en-US" sz="1375" dirty="0"/>
          </a:p>
        </p:txBody>
      </p:sp>
      <p:sp>
        <p:nvSpPr>
          <p:cNvPr id="24" name="Shape 22"/>
          <p:cNvSpPr/>
          <p:nvPr/>
        </p:nvSpPr>
        <p:spPr>
          <a:xfrm>
            <a:off x="3083631" y="4604461"/>
            <a:ext cx="238110" cy="264262"/>
          </a:xfrm>
          <a:prstGeom prst="chevron">
            <a:avLst/>
          </a:prstGeom>
          <a:solidFill>
            <a:srgbClr val="0E6E8C"/>
          </a:solidFill>
          <a:ln/>
        </p:spPr>
        <p:txBody>
          <a:bodyPr/>
          <a:lstStyle/>
          <a:p>
            <a:endParaRPr lang="en-US"/>
          </a:p>
        </p:txBody>
      </p:sp>
      <p:sp>
        <p:nvSpPr>
          <p:cNvPr id="25" name="Shape 23"/>
          <p:cNvSpPr/>
          <p:nvPr/>
        </p:nvSpPr>
        <p:spPr>
          <a:xfrm>
            <a:off x="3394710" y="4347972"/>
            <a:ext cx="2507742" cy="777240"/>
          </a:xfrm>
          <a:prstGeom prst="roundRect">
            <a:avLst>
              <a:gd name="adj" fmla="val 8235"/>
            </a:avLst>
          </a:prstGeom>
          <a:solidFill>
            <a:srgbClr val="D8ECF1"/>
          </a:solidFill>
          <a:ln w="12700">
            <a:solidFill>
              <a:srgbClr val="0E6E8C"/>
            </a:solidFill>
            <a:prstDash val="solid"/>
          </a:ln>
        </p:spPr>
        <p:txBody>
          <a:bodyPr/>
          <a:lstStyle/>
          <a:p>
            <a:endParaRPr lang="en-US"/>
          </a:p>
        </p:txBody>
      </p:sp>
      <p:sp>
        <p:nvSpPr>
          <p:cNvPr id="26" name="Text 24"/>
          <p:cNvSpPr/>
          <p:nvPr/>
        </p:nvSpPr>
        <p:spPr>
          <a:xfrm>
            <a:off x="3440430" y="4375404"/>
            <a:ext cx="2416302" cy="722376"/>
          </a:xfrm>
          <a:prstGeom prst="rect">
            <a:avLst/>
          </a:prstGeom>
          <a:noFill/>
          <a:ln/>
        </p:spPr>
        <p:txBody>
          <a:bodyPr wrap="square" lIns="0" tIns="0" rIns="0" bIns="0" rtlCol="0" anchor="ctr"/>
          <a:lstStyle/>
          <a:p>
            <a:pPr marL="0" indent="0" algn="ctr">
              <a:buNone/>
            </a:pPr>
            <a:r>
              <a:rPr lang="en-US" sz="1375" b="1" dirty="0">
                <a:solidFill>
                  <a:srgbClr val="1B2A4A"/>
                </a:solidFill>
                <a:latin typeface="Calibri" pitchFamily="34" charset="0"/>
                <a:ea typeface="Calibri" pitchFamily="34" charset="-122"/>
                <a:cs typeface="Calibri" pitchFamily="34" charset="-120"/>
              </a:rPr>
              <a:t>Continuous</a:t>
            </a:r>
            <a:endParaRPr lang="en-US" sz="1375" dirty="0"/>
          </a:p>
          <a:p>
            <a:pPr marL="0" indent="0" algn="ctr">
              <a:buNone/>
            </a:pPr>
            <a:r>
              <a:rPr lang="en-US" sz="1375" b="1" dirty="0">
                <a:solidFill>
                  <a:srgbClr val="1B2A4A"/>
                </a:solidFill>
                <a:latin typeface="Calibri" pitchFamily="34" charset="0"/>
                <a:ea typeface="Calibri" pitchFamily="34" charset="-122"/>
                <a:cs typeface="Calibri" pitchFamily="34" charset="-120"/>
              </a:rPr>
              <a:t>Evidence</a:t>
            </a:r>
            <a:endParaRPr lang="en-US" sz="1375" dirty="0"/>
          </a:p>
        </p:txBody>
      </p:sp>
      <p:sp>
        <p:nvSpPr>
          <p:cNvPr id="27" name="Shape 25"/>
          <p:cNvSpPr/>
          <p:nvPr/>
        </p:nvSpPr>
        <p:spPr>
          <a:xfrm>
            <a:off x="5975421" y="4604461"/>
            <a:ext cx="238110" cy="264262"/>
          </a:xfrm>
          <a:prstGeom prst="chevron">
            <a:avLst/>
          </a:prstGeom>
          <a:solidFill>
            <a:srgbClr val="0E6E8C"/>
          </a:solidFill>
          <a:ln/>
        </p:spPr>
        <p:txBody>
          <a:bodyPr/>
          <a:lstStyle/>
          <a:p>
            <a:endParaRPr lang="en-US"/>
          </a:p>
        </p:txBody>
      </p:sp>
      <p:sp>
        <p:nvSpPr>
          <p:cNvPr id="28" name="Shape 26"/>
          <p:cNvSpPr/>
          <p:nvPr/>
        </p:nvSpPr>
        <p:spPr>
          <a:xfrm>
            <a:off x="6286500" y="4347972"/>
            <a:ext cx="2507742" cy="777240"/>
          </a:xfrm>
          <a:prstGeom prst="roundRect">
            <a:avLst>
              <a:gd name="adj" fmla="val 8235"/>
            </a:avLst>
          </a:prstGeom>
          <a:solidFill>
            <a:srgbClr val="D8ECF1"/>
          </a:solidFill>
          <a:ln w="12700">
            <a:solidFill>
              <a:srgbClr val="0E6E8C"/>
            </a:solidFill>
            <a:prstDash val="solid"/>
          </a:ln>
        </p:spPr>
        <p:txBody>
          <a:bodyPr/>
          <a:lstStyle/>
          <a:p>
            <a:endParaRPr lang="en-US"/>
          </a:p>
        </p:txBody>
      </p:sp>
      <p:sp>
        <p:nvSpPr>
          <p:cNvPr id="29" name="Text 27"/>
          <p:cNvSpPr/>
          <p:nvPr/>
        </p:nvSpPr>
        <p:spPr>
          <a:xfrm>
            <a:off x="6332220" y="4375404"/>
            <a:ext cx="2416302" cy="722376"/>
          </a:xfrm>
          <a:prstGeom prst="rect">
            <a:avLst/>
          </a:prstGeom>
          <a:noFill/>
          <a:ln/>
        </p:spPr>
        <p:txBody>
          <a:bodyPr wrap="square" lIns="0" tIns="0" rIns="0" bIns="0" rtlCol="0" anchor="ctr"/>
          <a:lstStyle/>
          <a:p>
            <a:pPr marL="0" indent="0" algn="ctr">
              <a:buNone/>
            </a:pPr>
            <a:r>
              <a:rPr lang="en-US" sz="1375" b="1" dirty="0">
                <a:solidFill>
                  <a:srgbClr val="1B2A4A"/>
                </a:solidFill>
                <a:latin typeface="Calibri" pitchFamily="34" charset="0"/>
                <a:ea typeface="Calibri" pitchFamily="34" charset="-122"/>
                <a:cs typeface="Calibri" pitchFamily="34" charset="-120"/>
              </a:rPr>
              <a:t>Investigation</a:t>
            </a:r>
            <a:endParaRPr lang="en-US" sz="1375" dirty="0"/>
          </a:p>
        </p:txBody>
      </p:sp>
      <p:sp>
        <p:nvSpPr>
          <p:cNvPr id="30" name="Shape 28"/>
          <p:cNvSpPr/>
          <p:nvPr/>
        </p:nvSpPr>
        <p:spPr>
          <a:xfrm>
            <a:off x="8867211" y="4604461"/>
            <a:ext cx="238110" cy="264262"/>
          </a:xfrm>
          <a:prstGeom prst="chevron">
            <a:avLst/>
          </a:prstGeom>
          <a:solidFill>
            <a:srgbClr val="0E6E8C"/>
          </a:solidFill>
          <a:ln/>
        </p:spPr>
        <p:txBody>
          <a:bodyPr/>
          <a:lstStyle/>
          <a:p>
            <a:endParaRPr lang="en-US"/>
          </a:p>
        </p:txBody>
      </p:sp>
      <p:sp>
        <p:nvSpPr>
          <p:cNvPr id="31" name="Shape 29"/>
          <p:cNvSpPr/>
          <p:nvPr/>
        </p:nvSpPr>
        <p:spPr>
          <a:xfrm>
            <a:off x="9178290" y="4347972"/>
            <a:ext cx="2507742" cy="777240"/>
          </a:xfrm>
          <a:prstGeom prst="roundRect">
            <a:avLst>
              <a:gd name="adj" fmla="val 8235"/>
            </a:avLst>
          </a:prstGeom>
          <a:solidFill>
            <a:srgbClr val="D8ECF1"/>
          </a:solidFill>
          <a:ln w="12700">
            <a:solidFill>
              <a:srgbClr val="0E6E8C"/>
            </a:solidFill>
            <a:prstDash val="solid"/>
          </a:ln>
        </p:spPr>
        <p:txBody>
          <a:bodyPr/>
          <a:lstStyle/>
          <a:p>
            <a:endParaRPr lang="en-US"/>
          </a:p>
        </p:txBody>
      </p:sp>
      <p:sp>
        <p:nvSpPr>
          <p:cNvPr id="32" name="Text 30"/>
          <p:cNvSpPr/>
          <p:nvPr/>
        </p:nvSpPr>
        <p:spPr>
          <a:xfrm>
            <a:off x="9224010" y="4375404"/>
            <a:ext cx="2416302" cy="722376"/>
          </a:xfrm>
          <a:prstGeom prst="rect">
            <a:avLst/>
          </a:prstGeom>
          <a:noFill/>
          <a:ln/>
        </p:spPr>
        <p:txBody>
          <a:bodyPr wrap="square" lIns="0" tIns="0" rIns="0" bIns="0" rtlCol="0" anchor="ctr"/>
          <a:lstStyle/>
          <a:p>
            <a:pPr marL="0" indent="0" algn="ctr">
              <a:buNone/>
            </a:pPr>
            <a:r>
              <a:rPr lang="en-US" sz="1375" b="1" dirty="0">
                <a:solidFill>
                  <a:srgbClr val="1B2A4A"/>
                </a:solidFill>
                <a:latin typeface="Calibri" pitchFamily="34" charset="0"/>
                <a:ea typeface="Calibri" pitchFamily="34" charset="-122"/>
                <a:cs typeface="Calibri" pitchFamily="34" charset="-120"/>
              </a:rPr>
              <a:t>Assurance</a:t>
            </a:r>
            <a:endParaRPr lang="en-US" sz="1375" dirty="0"/>
          </a:p>
        </p:txBody>
      </p:sp>
      <p:sp>
        <p:nvSpPr>
          <p:cNvPr id="33" name="Shape 31"/>
          <p:cNvSpPr/>
          <p:nvPr/>
        </p:nvSpPr>
        <p:spPr>
          <a:xfrm>
            <a:off x="502920" y="5308092"/>
            <a:ext cx="5120640" cy="0"/>
          </a:xfrm>
          <a:prstGeom prst="line">
            <a:avLst/>
          </a:prstGeom>
          <a:noFill/>
          <a:ln w="19050">
            <a:solidFill>
              <a:srgbClr val="0E6E8C"/>
            </a:solidFill>
            <a:prstDash val="solid"/>
            <a:headEnd type="triangle"/>
            <a:tailEnd type="triangle"/>
          </a:ln>
        </p:spPr>
        <p:txBody>
          <a:bodyPr/>
          <a:lstStyle/>
          <a:p>
            <a:endParaRPr lang="en-US"/>
          </a:p>
        </p:txBody>
      </p:sp>
      <p:sp>
        <p:nvSpPr>
          <p:cNvPr id="34" name="Text 32"/>
          <p:cNvSpPr/>
          <p:nvPr/>
        </p:nvSpPr>
        <p:spPr>
          <a:xfrm>
            <a:off x="502920" y="5372100"/>
            <a:ext cx="5120640" cy="274320"/>
          </a:xfrm>
          <a:prstGeom prst="rect">
            <a:avLst/>
          </a:prstGeom>
          <a:noFill/>
          <a:ln/>
        </p:spPr>
        <p:txBody>
          <a:bodyPr wrap="square" lIns="0" tIns="0" rIns="0" bIns="0" rtlCol="0" anchor="ctr"/>
          <a:lstStyle/>
          <a:p>
            <a:pPr marL="0" indent="0" algn="ctr">
              <a:buNone/>
            </a:pPr>
            <a:r>
              <a:rPr lang="en-US" i="1" dirty="0">
                <a:solidFill>
                  <a:srgbClr val="0E6E8C"/>
                </a:solidFill>
                <a:latin typeface="Calibri" pitchFamily="34" charset="0"/>
                <a:ea typeface="Calibri" pitchFamily="34" charset="-122"/>
                <a:cs typeface="Calibri" pitchFamily="34" charset="-120"/>
              </a:rPr>
              <a:t>Near-continuous</a:t>
            </a:r>
            <a:endParaRPr lang="en-US" dirty="0"/>
          </a:p>
        </p:txBody>
      </p:sp>
      <p:sp>
        <p:nvSpPr>
          <p:cNvPr id="35" name="Shape 33"/>
          <p:cNvSpPr/>
          <p:nvPr/>
        </p:nvSpPr>
        <p:spPr>
          <a:xfrm>
            <a:off x="502920" y="6108192"/>
            <a:ext cx="11183112" cy="457200"/>
          </a:xfrm>
          <a:prstGeom prst="rect">
            <a:avLst/>
          </a:prstGeom>
          <a:solidFill>
            <a:srgbClr val="F7F8FA"/>
          </a:solidFill>
          <a:ln/>
        </p:spPr>
        <p:txBody>
          <a:bodyPr/>
          <a:lstStyle/>
          <a:p>
            <a:endParaRPr lang="en-US"/>
          </a:p>
        </p:txBody>
      </p:sp>
      <p:sp>
        <p:nvSpPr>
          <p:cNvPr id="36" name="Text 34"/>
          <p:cNvSpPr/>
          <p:nvPr/>
        </p:nvSpPr>
        <p:spPr>
          <a:xfrm>
            <a:off x="731520" y="6108192"/>
            <a:ext cx="10744200" cy="457200"/>
          </a:xfrm>
          <a:prstGeom prst="rect">
            <a:avLst/>
          </a:prstGeom>
          <a:noFill/>
          <a:ln/>
        </p:spPr>
        <p:txBody>
          <a:bodyPr wrap="square" lIns="0" tIns="0" rIns="0" bIns="0" rtlCol="0" anchor="ctr"/>
          <a:lstStyle/>
          <a:p>
            <a:pPr marL="0" indent="0">
              <a:buNone/>
            </a:pPr>
            <a:r>
              <a:rPr lang="en-US" sz="1875" b="1" i="1" dirty="0">
                <a:solidFill>
                  <a:srgbClr val="1B2A4A"/>
                </a:solidFill>
                <a:latin typeface="Cambria" pitchFamily="34" charset="0"/>
                <a:ea typeface="Cambria" pitchFamily="34" charset="-122"/>
                <a:cs typeface="Cambria" pitchFamily="34" charset="-120"/>
              </a:rPr>
              <a:t>Our organizations operate continuously. Assurance largely does not.</a:t>
            </a:r>
            <a:endParaRPr lang="en-US" sz="1875" dirty="0"/>
          </a:p>
        </p:txBody>
      </p:sp>
      <p:sp>
        <p:nvSpPr>
          <p:cNvPr id="37" name="Text 35"/>
          <p:cNvSpPr/>
          <p:nvPr/>
        </p:nvSpPr>
        <p:spPr>
          <a:xfrm>
            <a:off x="11658600" y="320040"/>
            <a:ext cx="457200" cy="274320"/>
          </a:xfrm>
          <a:prstGeom prst="rect">
            <a:avLst/>
          </a:prstGeom>
          <a:noFill/>
          <a:ln/>
        </p:spPr>
        <p:txBody>
          <a:bodyPr wrap="square" lIns="0" tIns="0" rIns="0" bIns="0" rtlCol="0" anchor="ctr"/>
          <a:lstStyle/>
          <a:p>
            <a:pPr marL="0" indent="0" algn="r">
              <a:buNone/>
            </a:pPr>
            <a:r>
              <a:rPr lang="en-US" sz="1125" dirty="0">
                <a:solidFill>
                  <a:srgbClr val="C9CDD6"/>
                </a:solidFill>
                <a:latin typeface="Calibri" pitchFamily="34" charset="0"/>
                <a:ea typeface="Calibri" pitchFamily="34" charset="-122"/>
                <a:cs typeface="Calibri" pitchFamily="34" charset="-120"/>
              </a:rPr>
              <a:t>01</a:t>
            </a:r>
            <a:endParaRPr lang="en-US" sz="1125" dirty="0"/>
          </a:p>
        </p:txBody>
      </p:sp>
    </p:spTree>
    <p:extLst>
      <p:ext uri="{BB962C8B-B14F-4D97-AF65-F5344CB8AC3E}">
        <p14:creationId xmlns:p14="http://schemas.microsoft.com/office/powerpoint/2010/main" val="3153869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buNone/>
            </a:pPr>
            <a:r>
              <a:rPr lang="en-US" sz="1500" b="1" kern="0" spc="200" dirty="0">
                <a:solidFill>
                  <a:srgbClr val="0E6E8C"/>
                </a:solidFill>
                <a:latin typeface="Calibri" pitchFamily="34" charset="0"/>
                <a:ea typeface="Calibri" pitchFamily="34" charset="-122"/>
                <a:cs typeface="Calibri" pitchFamily="34" charset="-120"/>
              </a:rPr>
              <a:t>THE PROBLEM</a:t>
            </a:r>
            <a:endParaRPr lang="en-US" sz="1500" dirty="0"/>
          </a:p>
        </p:txBody>
      </p:sp>
      <p:sp>
        <p:nvSpPr>
          <p:cNvPr id="3" name="Text 1"/>
          <p:cNvSpPr/>
          <p:nvPr/>
        </p:nvSpPr>
        <p:spPr>
          <a:xfrm>
            <a:off x="502920" y="612648"/>
            <a:ext cx="11155680" cy="868680"/>
          </a:xfrm>
          <a:prstGeom prst="rect">
            <a:avLst/>
          </a:prstGeom>
          <a:noFill/>
          <a:ln/>
        </p:spPr>
        <p:txBody>
          <a:bodyPr wrap="square" lIns="0" tIns="0" rIns="0" bIns="0" rtlCol="0" anchor="t"/>
          <a:lstStyle/>
          <a:p>
            <a:pPr marL="0" indent="0">
              <a:lnSpc>
                <a:spcPct val="102000"/>
              </a:lnSpc>
              <a:buNone/>
            </a:pPr>
            <a:r>
              <a:rPr lang="en-US" sz="3250" b="1" dirty="0">
                <a:solidFill>
                  <a:srgbClr val="1B2A4A"/>
                </a:solidFill>
                <a:latin typeface="Cambria" pitchFamily="34" charset="0"/>
                <a:ea typeface="Cambria" pitchFamily="34" charset="-122"/>
                <a:cs typeface="Cambria" pitchFamily="34" charset="-120"/>
              </a:rPr>
              <a:t>The business is continuous. </a:t>
            </a:r>
          </a:p>
          <a:p>
            <a:pPr marL="0" indent="0">
              <a:lnSpc>
                <a:spcPct val="102000"/>
              </a:lnSpc>
              <a:buNone/>
            </a:pPr>
            <a:r>
              <a:rPr lang="en-US" sz="3250" b="1" dirty="0">
                <a:solidFill>
                  <a:srgbClr val="1B2A4A"/>
                </a:solidFill>
                <a:latin typeface="Cambria" pitchFamily="34" charset="0"/>
                <a:ea typeface="Cambria" pitchFamily="34" charset="-122"/>
                <a:cs typeface="Cambria" pitchFamily="34" charset="-120"/>
              </a:rPr>
              <a:t>Risk is continuous. Assurance is still often periodic.</a:t>
            </a:r>
            <a:endParaRPr lang="en-US" sz="3250" dirty="0"/>
          </a:p>
        </p:txBody>
      </p:sp>
      <p:sp>
        <p:nvSpPr>
          <p:cNvPr id="4" name="Shape 2"/>
          <p:cNvSpPr/>
          <p:nvPr/>
        </p:nvSpPr>
        <p:spPr>
          <a:xfrm>
            <a:off x="502920" y="2578608"/>
            <a:ext cx="11183112" cy="548640"/>
          </a:xfrm>
          <a:prstGeom prst="roundRect">
            <a:avLst>
              <a:gd name="adj" fmla="val 16667"/>
            </a:avLst>
          </a:prstGeom>
          <a:solidFill>
            <a:srgbClr val="D8ECF1"/>
          </a:solidFill>
          <a:ln w="12700">
            <a:solidFill>
              <a:srgbClr val="0E6E8C"/>
            </a:solidFill>
            <a:prstDash val="solid"/>
          </a:ln>
        </p:spPr>
        <p:txBody>
          <a:bodyPr/>
          <a:lstStyle/>
          <a:p>
            <a:endParaRPr lang="en-US" sz="2800"/>
          </a:p>
        </p:txBody>
      </p:sp>
      <p:sp>
        <p:nvSpPr>
          <p:cNvPr id="5" name="Shape 3"/>
          <p:cNvSpPr/>
          <p:nvPr/>
        </p:nvSpPr>
        <p:spPr>
          <a:xfrm>
            <a:off x="777240" y="2722760"/>
            <a:ext cx="91440" cy="91440"/>
          </a:xfrm>
          <a:prstGeom prst="ellipse">
            <a:avLst/>
          </a:prstGeom>
          <a:solidFill>
            <a:srgbClr val="0E6E8C"/>
          </a:solidFill>
          <a:ln/>
        </p:spPr>
        <p:txBody>
          <a:bodyPr/>
          <a:lstStyle/>
          <a:p>
            <a:endParaRPr lang="en-US" sz="2800"/>
          </a:p>
        </p:txBody>
      </p:sp>
      <p:sp>
        <p:nvSpPr>
          <p:cNvPr id="6" name="Text 4"/>
          <p:cNvSpPr/>
          <p:nvPr/>
        </p:nvSpPr>
        <p:spPr>
          <a:xfrm>
            <a:off x="320040" y="2189669"/>
            <a:ext cx="1463040" cy="320040"/>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Transactions</a:t>
            </a:r>
            <a:endParaRPr lang="en-US" sz="1600" dirty="0"/>
          </a:p>
        </p:txBody>
      </p:sp>
      <p:sp>
        <p:nvSpPr>
          <p:cNvPr id="7" name="Shape 5"/>
          <p:cNvSpPr/>
          <p:nvPr/>
        </p:nvSpPr>
        <p:spPr>
          <a:xfrm>
            <a:off x="2898648" y="2722760"/>
            <a:ext cx="91440" cy="91440"/>
          </a:xfrm>
          <a:prstGeom prst="ellipse">
            <a:avLst/>
          </a:prstGeom>
          <a:solidFill>
            <a:srgbClr val="0E6E8C"/>
          </a:solidFill>
          <a:ln/>
        </p:spPr>
        <p:txBody>
          <a:bodyPr/>
          <a:lstStyle/>
          <a:p>
            <a:endParaRPr lang="en-US" sz="2800"/>
          </a:p>
        </p:txBody>
      </p:sp>
      <p:sp>
        <p:nvSpPr>
          <p:cNvPr id="8" name="Text 6"/>
          <p:cNvSpPr/>
          <p:nvPr/>
        </p:nvSpPr>
        <p:spPr>
          <a:xfrm>
            <a:off x="2212848" y="2212848"/>
            <a:ext cx="1463040" cy="320040"/>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Payments</a:t>
            </a:r>
            <a:endParaRPr lang="en-US" sz="1600" dirty="0"/>
          </a:p>
        </p:txBody>
      </p:sp>
      <p:sp>
        <p:nvSpPr>
          <p:cNvPr id="9" name="Shape 7"/>
          <p:cNvSpPr/>
          <p:nvPr/>
        </p:nvSpPr>
        <p:spPr>
          <a:xfrm>
            <a:off x="5020056" y="2722760"/>
            <a:ext cx="91440" cy="91440"/>
          </a:xfrm>
          <a:prstGeom prst="ellipse">
            <a:avLst/>
          </a:prstGeom>
          <a:solidFill>
            <a:srgbClr val="0E6E8C"/>
          </a:solidFill>
          <a:ln/>
        </p:spPr>
        <p:txBody>
          <a:bodyPr/>
          <a:lstStyle/>
          <a:p>
            <a:endParaRPr lang="en-US" sz="2800"/>
          </a:p>
        </p:txBody>
      </p:sp>
      <p:sp>
        <p:nvSpPr>
          <p:cNvPr id="10" name="Text 8"/>
          <p:cNvSpPr/>
          <p:nvPr/>
        </p:nvSpPr>
        <p:spPr>
          <a:xfrm>
            <a:off x="4334256" y="2212848"/>
            <a:ext cx="1463040" cy="320040"/>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Claims</a:t>
            </a:r>
            <a:endParaRPr lang="en-US" sz="1600" dirty="0"/>
          </a:p>
        </p:txBody>
      </p:sp>
      <p:sp>
        <p:nvSpPr>
          <p:cNvPr id="11" name="Shape 9"/>
          <p:cNvSpPr/>
          <p:nvPr/>
        </p:nvSpPr>
        <p:spPr>
          <a:xfrm>
            <a:off x="7141464" y="2722760"/>
            <a:ext cx="91440" cy="91440"/>
          </a:xfrm>
          <a:prstGeom prst="ellipse">
            <a:avLst/>
          </a:prstGeom>
          <a:solidFill>
            <a:srgbClr val="0E6E8C"/>
          </a:solidFill>
          <a:ln/>
        </p:spPr>
        <p:txBody>
          <a:bodyPr/>
          <a:lstStyle/>
          <a:p>
            <a:endParaRPr lang="en-US" sz="2800"/>
          </a:p>
        </p:txBody>
      </p:sp>
      <p:sp>
        <p:nvSpPr>
          <p:cNvPr id="12" name="Text 10"/>
          <p:cNvSpPr/>
          <p:nvPr/>
        </p:nvSpPr>
        <p:spPr>
          <a:xfrm>
            <a:off x="6455664" y="2212848"/>
            <a:ext cx="1463040" cy="320040"/>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Access</a:t>
            </a:r>
            <a:endParaRPr lang="en-US" sz="1600" dirty="0"/>
          </a:p>
        </p:txBody>
      </p:sp>
      <p:sp>
        <p:nvSpPr>
          <p:cNvPr id="13" name="Shape 11"/>
          <p:cNvSpPr/>
          <p:nvPr/>
        </p:nvSpPr>
        <p:spPr>
          <a:xfrm>
            <a:off x="9262872" y="2722760"/>
            <a:ext cx="91440" cy="91440"/>
          </a:xfrm>
          <a:prstGeom prst="ellipse">
            <a:avLst/>
          </a:prstGeom>
          <a:solidFill>
            <a:srgbClr val="0E6E8C"/>
          </a:solidFill>
          <a:ln/>
        </p:spPr>
        <p:txBody>
          <a:bodyPr/>
          <a:lstStyle/>
          <a:p>
            <a:endParaRPr lang="en-US" sz="2800"/>
          </a:p>
        </p:txBody>
      </p:sp>
      <p:sp>
        <p:nvSpPr>
          <p:cNvPr id="14" name="Text 12"/>
          <p:cNvSpPr/>
          <p:nvPr/>
        </p:nvSpPr>
        <p:spPr>
          <a:xfrm>
            <a:off x="8439912" y="2114147"/>
            <a:ext cx="1645920" cy="448593"/>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Customer Activity</a:t>
            </a:r>
            <a:endParaRPr lang="en-US" sz="1600" dirty="0"/>
          </a:p>
        </p:txBody>
      </p:sp>
      <p:sp>
        <p:nvSpPr>
          <p:cNvPr id="15" name="Shape 13"/>
          <p:cNvSpPr/>
          <p:nvPr/>
        </p:nvSpPr>
        <p:spPr>
          <a:xfrm>
            <a:off x="11384280" y="2722760"/>
            <a:ext cx="91440" cy="91440"/>
          </a:xfrm>
          <a:prstGeom prst="ellipse">
            <a:avLst/>
          </a:prstGeom>
          <a:solidFill>
            <a:srgbClr val="0E6E8C"/>
          </a:solidFill>
          <a:ln/>
        </p:spPr>
        <p:txBody>
          <a:bodyPr/>
          <a:lstStyle/>
          <a:p>
            <a:endParaRPr lang="en-US" sz="2800"/>
          </a:p>
        </p:txBody>
      </p:sp>
      <p:sp>
        <p:nvSpPr>
          <p:cNvPr id="16" name="Text 14"/>
          <p:cNvSpPr/>
          <p:nvPr/>
        </p:nvSpPr>
        <p:spPr>
          <a:xfrm>
            <a:off x="10515600" y="2244852"/>
            <a:ext cx="1463040" cy="320040"/>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Cyber Events</a:t>
            </a:r>
            <a:endParaRPr lang="en-US" sz="1600" dirty="0"/>
          </a:p>
        </p:txBody>
      </p:sp>
      <p:sp>
        <p:nvSpPr>
          <p:cNvPr id="17" name="Text 15"/>
          <p:cNvSpPr/>
          <p:nvPr/>
        </p:nvSpPr>
        <p:spPr>
          <a:xfrm>
            <a:off x="440436" y="2852928"/>
            <a:ext cx="11183112" cy="256032"/>
          </a:xfrm>
          <a:prstGeom prst="rect">
            <a:avLst/>
          </a:prstGeom>
          <a:noFill/>
          <a:ln/>
        </p:spPr>
        <p:txBody>
          <a:bodyPr wrap="square" lIns="0" tIns="0" rIns="0" bIns="0" rtlCol="0" anchor="ctr"/>
          <a:lstStyle/>
          <a:p>
            <a:pPr marL="0" indent="0" algn="ctr">
              <a:buNone/>
            </a:pPr>
            <a:r>
              <a:rPr lang="en-US" sz="1400" b="1" kern="0" spc="100" dirty="0">
                <a:solidFill>
                  <a:srgbClr val="1B2A4A"/>
                </a:solidFill>
                <a:latin typeface="Calibri" pitchFamily="34" charset="0"/>
                <a:ea typeface="Calibri" pitchFamily="34" charset="-122"/>
                <a:cs typeface="Calibri" pitchFamily="34" charset="-120"/>
              </a:rPr>
              <a:t>CONTINUOUS BUSINESS ACTIVITY</a:t>
            </a:r>
            <a:endParaRPr lang="en-US" sz="1400" dirty="0"/>
          </a:p>
        </p:txBody>
      </p:sp>
      <p:sp>
        <p:nvSpPr>
          <p:cNvPr id="18" name="Shape 16"/>
          <p:cNvSpPr/>
          <p:nvPr/>
        </p:nvSpPr>
        <p:spPr>
          <a:xfrm>
            <a:off x="1554480" y="3127248"/>
            <a:ext cx="0" cy="1581912"/>
          </a:xfrm>
          <a:prstGeom prst="line">
            <a:avLst/>
          </a:prstGeom>
          <a:noFill/>
          <a:ln w="12700">
            <a:solidFill>
              <a:srgbClr val="C9CDD6"/>
            </a:solidFill>
            <a:prstDash val="sysDash"/>
          </a:ln>
        </p:spPr>
        <p:txBody>
          <a:bodyPr/>
          <a:lstStyle/>
          <a:p>
            <a:endParaRPr lang="en-US" sz="2800"/>
          </a:p>
        </p:txBody>
      </p:sp>
      <p:sp>
        <p:nvSpPr>
          <p:cNvPr id="19" name="Shape 17"/>
          <p:cNvSpPr/>
          <p:nvPr/>
        </p:nvSpPr>
        <p:spPr>
          <a:xfrm>
            <a:off x="4444432" y="3127248"/>
            <a:ext cx="9205" cy="1581912"/>
          </a:xfrm>
          <a:prstGeom prst="line">
            <a:avLst/>
          </a:prstGeom>
          <a:noFill/>
          <a:ln w="12700">
            <a:solidFill>
              <a:srgbClr val="C9CDD6"/>
            </a:solidFill>
            <a:prstDash val="sysDash"/>
          </a:ln>
        </p:spPr>
        <p:txBody>
          <a:bodyPr/>
          <a:lstStyle/>
          <a:p>
            <a:endParaRPr lang="en-US" sz="2800"/>
          </a:p>
        </p:txBody>
      </p:sp>
      <p:sp>
        <p:nvSpPr>
          <p:cNvPr id="20" name="Shape 18"/>
          <p:cNvSpPr/>
          <p:nvPr/>
        </p:nvSpPr>
        <p:spPr>
          <a:xfrm>
            <a:off x="7865355" y="3264408"/>
            <a:ext cx="9205" cy="1444752"/>
          </a:xfrm>
          <a:prstGeom prst="line">
            <a:avLst/>
          </a:prstGeom>
          <a:noFill/>
          <a:ln w="12700">
            <a:solidFill>
              <a:srgbClr val="C9CDD6"/>
            </a:solidFill>
            <a:prstDash val="sysDash"/>
          </a:ln>
        </p:spPr>
        <p:txBody>
          <a:bodyPr/>
          <a:lstStyle/>
          <a:p>
            <a:endParaRPr lang="en-US" sz="2800"/>
          </a:p>
        </p:txBody>
      </p:sp>
      <p:sp>
        <p:nvSpPr>
          <p:cNvPr id="21" name="Shape 19"/>
          <p:cNvSpPr/>
          <p:nvPr/>
        </p:nvSpPr>
        <p:spPr>
          <a:xfrm>
            <a:off x="10850610" y="3127248"/>
            <a:ext cx="9205" cy="1581912"/>
          </a:xfrm>
          <a:prstGeom prst="line">
            <a:avLst/>
          </a:prstGeom>
          <a:noFill/>
          <a:ln w="12700">
            <a:solidFill>
              <a:srgbClr val="C9CDD6"/>
            </a:solidFill>
            <a:prstDash val="sysDash"/>
          </a:ln>
        </p:spPr>
        <p:txBody>
          <a:bodyPr/>
          <a:lstStyle/>
          <a:p>
            <a:endParaRPr lang="en-US" sz="2800"/>
          </a:p>
        </p:txBody>
      </p:sp>
      <p:sp>
        <p:nvSpPr>
          <p:cNvPr id="22" name="Text 20"/>
          <p:cNvSpPr/>
          <p:nvPr/>
        </p:nvSpPr>
        <p:spPr>
          <a:xfrm>
            <a:off x="475488" y="3796375"/>
            <a:ext cx="11183112" cy="274320"/>
          </a:xfrm>
          <a:prstGeom prst="rect">
            <a:avLst/>
          </a:prstGeom>
          <a:noFill/>
          <a:ln/>
        </p:spPr>
        <p:txBody>
          <a:bodyPr wrap="square" lIns="0" tIns="0" rIns="0" bIns="0" rtlCol="0" anchor="ctr"/>
          <a:lstStyle/>
          <a:p>
            <a:pPr marL="0" indent="0" algn="ctr">
              <a:buNone/>
            </a:pPr>
            <a:r>
              <a:rPr lang="en-US" b="1" kern="0" spc="100" dirty="0">
                <a:solidFill>
                  <a:srgbClr val="B3401F"/>
                </a:solidFill>
                <a:latin typeface="Calibri" pitchFamily="34" charset="0"/>
                <a:ea typeface="Calibri" pitchFamily="34" charset="-122"/>
                <a:cs typeface="Calibri" pitchFamily="34" charset="-120"/>
              </a:rPr>
              <a:t>PERIODIC ASSURANCE CHECKPOINTS</a:t>
            </a:r>
            <a:endParaRPr lang="en-US" dirty="0"/>
          </a:p>
        </p:txBody>
      </p:sp>
      <p:sp>
        <p:nvSpPr>
          <p:cNvPr id="23" name="Shape 21"/>
          <p:cNvSpPr/>
          <p:nvPr/>
        </p:nvSpPr>
        <p:spPr>
          <a:xfrm>
            <a:off x="778764" y="4709160"/>
            <a:ext cx="1554480" cy="640080"/>
          </a:xfrm>
          <a:prstGeom prst="roundRect">
            <a:avLst>
              <a:gd name="adj" fmla="val 8571"/>
            </a:avLst>
          </a:prstGeom>
          <a:solidFill>
            <a:srgbClr val="F7F8FA"/>
          </a:solidFill>
          <a:ln w="12700">
            <a:solidFill>
              <a:srgbClr val="B3401F"/>
            </a:solidFill>
            <a:prstDash val="solid"/>
          </a:ln>
        </p:spPr>
        <p:txBody>
          <a:bodyPr/>
          <a:lstStyle/>
          <a:p>
            <a:endParaRPr lang="en-US" sz="2800"/>
          </a:p>
        </p:txBody>
      </p:sp>
      <p:sp>
        <p:nvSpPr>
          <p:cNvPr id="24" name="Text 22"/>
          <p:cNvSpPr/>
          <p:nvPr/>
        </p:nvSpPr>
        <p:spPr>
          <a:xfrm>
            <a:off x="815340" y="4709160"/>
            <a:ext cx="1481328" cy="640080"/>
          </a:xfrm>
          <a:prstGeom prst="rect">
            <a:avLst/>
          </a:prstGeom>
          <a:noFill/>
          <a:ln/>
        </p:spPr>
        <p:txBody>
          <a:bodyPr wrap="square" lIns="0" tIns="0" rIns="0" bIns="0" rtlCol="0" anchor="ctr"/>
          <a:lstStyle/>
          <a:p>
            <a:pPr marL="0" indent="0" algn="ctr">
              <a:buNone/>
            </a:pPr>
            <a:r>
              <a:rPr lang="en-US" sz="2000" b="1" dirty="0">
                <a:solidFill>
                  <a:srgbClr val="1B2A4A"/>
                </a:solidFill>
                <a:latin typeface="Calibri" pitchFamily="34" charset="0"/>
                <a:ea typeface="Calibri" pitchFamily="34" charset="-122"/>
                <a:cs typeface="Calibri" pitchFamily="34" charset="-120"/>
              </a:rPr>
              <a:t>Q1 Audit</a:t>
            </a:r>
            <a:endParaRPr lang="en-US" sz="2000" dirty="0"/>
          </a:p>
        </p:txBody>
      </p:sp>
      <p:sp>
        <p:nvSpPr>
          <p:cNvPr id="25" name="Shape 23"/>
          <p:cNvSpPr/>
          <p:nvPr/>
        </p:nvSpPr>
        <p:spPr>
          <a:xfrm>
            <a:off x="3796284" y="4709160"/>
            <a:ext cx="1554480" cy="640080"/>
          </a:xfrm>
          <a:prstGeom prst="roundRect">
            <a:avLst>
              <a:gd name="adj" fmla="val 8571"/>
            </a:avLst>
          </a:prstGeom>
          <a:solidFill>
            <a:srgbClr val="F7F8FA"/>
          </a:solidFill>
          <a:ln w="12700">
            <a:solidFill>
              <a:srgbClr val="B3401F"/>
            </a:solidFill>
            <a:prstDash val="solid"/>
          </a:ln>
        </p:spPr>
        <p:txBody>
          <a:bodyPr/>
          <a:lstStyle/>
          <a:p>
            <a:endParaRPr lang="en-US" sz="2800"/>
          </a:p>
        </p:txBody>
      </p:sp>
      <p:sp>
        <p:nvSpPr>
          <p:cNvPr id="26" name="Text 24"/>
          <p:cNvSpPr/>
          <p:nvPr/>
        </p:nvSpPr>
        <p:spPr>
          <a:xfrm>
            <a:off x="3832860" y="4709160"/>
            <a:ext cx="1481328" cy="640080"/>
          </a:xfrm>
          <a:prstGeom prst="rect">
            <a:avLst/>
          </a:prstGeom>
          <a:noFill/>
          <a:ln/>
        </p:spPr>
        <p:txBody>
          <a:bodyPr wrap="square" lIns="0" tIns="0" rIns="0" bIns="0" rtlCol="0" anchor="ctr"/>
          <a:lstStyle/>
          <a:p>
            <a:pPr marL="0" indent="0" algn="ctr">
              <a:buNone/>
            </a:pPr>
            <a:r>
              <a:rPr lang="en-US" sz="2000" b="1" dirty="0">
                <a:solidFill>
                  <a:srgbClr val="1B2A4A"/>
                </a:solidFill>
                <a:latin typeface="Calibri" pitchFamily="34" charset="0"/>
                <a:ea typeface="Calibri" pitchFamily="34" charset="-122"/>
                <a:cs typeface="Calibri" pitchFamily="34" charset="-120"/>
              </a:rPr>
              <a:t>Q2 Review</a:t>
            </a:r>
            <a:endParaRPr lang="en-US" sz="2000" dirty="0"/>
          </a:p>
        </p:txBody>
      </p:sp>
      <p:sp>
        <p:nvSpPr>
          <p:cNvPr id="27" name="Shape 25"/>
          <p:cNvSpPr/>
          <p:nvPr/>
        </p:nvSpPr>
        <p:spPr>
          <a:xfrm>
            <a:off x="7088124" y="4709160"/>
            <a:ext cx="1554480" cy="640080"/>
          </a:xfrm>
          <a:prstGeom prst="roundRect">
            <a:avLst>
              <a:gd name="adj" fmla="val 8571"/>
            </a:avLst>
          </a:prstGeom>
          <a:solidFill>
            <a:srgbClr val="F7F8FA"/>
          </a:solidFill>
          <a:ln w="12700">
            <a:solidFill>
              <a:srgbClr val="B3401F"/>
            </a:solidFill>
            <a:prstDash val="solid"/>
          </a:ln>
        </p:spPr>
        <p:txBody>
          <a:bodyPr/>
          <a:lstStyle/>
          <a:p>
            <a:endParaRPr lang="en-US" sz="2800"/>
          </a:p>
        </p:txBody>
      </p:sp>
      <p:sp>
        <p:nvSpPr>
          <p:cNvPr id="28" name="Text 26"/>
          <p:cNvSpPr/>
          <p:nvPr/>
        </p:nvSpPr>
        <p:spPr>
          <a:xfrm>
            <a:off x="7124700" y="4709160"/>
            <a:ext cx="1481328" cy="640080"/>
          </a:xfrm>
          <a:prstGeom prst="rect">
            <a:avLst/>
          </a:prstGeom>
          <a:noFill/>
          <a:ln/>
        </p:spPr>
        <p:txBody>
          <a:bodyPr wrap="square" lIns="0" tIns="0" rIns="0" bIns="0" rtlCol="0" anchor="ctr"/>
          <a:lstStyle/>
          <a:p>
            <a:pPr marL="0" indent="0" algn="ctr">
              <a:buNone/>
            </a:pPr>
            <a:r>
              <a:rPr lang="en-US" sz="2000" b="1" dirty="0">
                <a:solidFill>
                  <a:srgbClr val="1B2A4A"/>
                </a:solidFill>
                <a:latin typeface="Calibri" pitchFamily="34" charset="0"/>
                <a:ea typeface="Calibri" pitchFamily="34" charset="-122"/>
                <a:cs typeface="Calibri" pitchFamily="34" charset="-120"/>
              </a:rPr>
              <a:t>Q3 Audit</a:t>
            </a:r>
            <a:endParaRPr lang="en-US" sz="2000" dirty="0"/>
          </a:p>
        </p:txBody>
      </p:sp>
      <p:sp>
        <p:nvSpPr>
          <p:cNvPr id="29" name="Shape 27"/>
          <p:cNvSpPr/>
          <p:nvPr/>
        </p:nvSpPr>
        <p:spPr>
          <a:xfrm>
            <a:off x="10105644" y="4709160"/>
            <a:ext cx="1554480" cy="640080"/>
          </a:xfrm>
          <a:prstGeom prst="roundRect">
            <a:avLst>
              <a:gd name="adj" fmla="val 8571"/>
            </a:avLst>
          </a:prstGeom>
          <a:solidFill>
            <a:srgbClr val="F7F8FA"/>
          </a:solidFill>
          <a:ln w="12700">
            <a:solidFill>
              <a:srgbClr val="B3401F"/>
            </a:solidFill>
            <a:prstDash val="solid"/>
          </a:ln>
        </p:spPr>
        <p:txBody>
          <a:bodyPr/>
          <a:lstStyle/>
          <a:p>
            <a:endParaRPr lang="en-US" sz="2800"/>
          </a:p>
        </p:txBody>
      </p:sp>
      <p:sp>
        <p:nvSpPr>
          <p:cNvPr id="30" name="Text 28"/>
          <p:cNvSpPr/>
          <p:nvPr/>
        </p:nvSpPr>
        <p:spPr>
          <a:xfrm>
            <a:off x="10142220" y="4709160"/>
            <a:ext cx="1481328" cy="640080"/>
          </a:xfrm>
          <a:prstGeom prst="rect">
            <a:avLst/>
          </a:prstGeom>
          <a:noFill/>
          <a:ln/>
        </p:spPr>
        <p:txBody>
          <a:bodyPr wrap="square" lIns="0" tIns="0" rIns="0" bIns="0" rtlCol="0" anchor="ctr"/>
          <a:lstStyle/>
          <a:p>
            <a:pPr marL="0" indent="0" algn="ctr">
              <a:buNone/>
            </a:pPr>
            <a:r>
              <a:rPr lang="en-US" sz="2000" b="1" dirty="0">
                <a:solidFill>
                  <a:srgbClr val="1B2A4A"/>
                </a:solidFill>
                <a:latin typeface="Calibri" pitchFamily="34" charset="0"/>
                <a:ea typeface="Calibri" pitchFamily="34" charset="-122"/>
                <a:cs typeface="Calibri" pitchFamily="34" charset="-120"/>
              </a:rPr>
              <a:t>Q4 Review</a:t>
            </a:r>
            <a:endParaRPr lang="en-US" sz="2000" dirty="0"/>
          </a:p>
        </p:txBody>
      </p:sp>
      <p:sp>
        <p:nvSpPr>
          <p:cNvPr id="31" name="Text 29"/>
          <p:cNvSpPr/>
          <p:nvPr/>
        </p:nvSpPr>
        <p:spPr>
          <a:xfrm>
            <a:off x="489204" y="5545836"/>
            <a:ext cx="11183112" cy="274320"/>
          </a:xfrm>
          <a:prstGeom prst="rect">
            <a:avLst/>
          </a:prstGeom>
          <a:noFill/>
          <a:ln/>
        </p:spPr>
        <p:txBody>
          <a:bodyPr wrap="square" lIns="0" tIns="0" rIns="0" bIns="0" rtlCol="0" anchor="ctr"/>
          <a:lstStyle/>
          <a:p>
            <a:pPr marL="0" indent="0" algn="ctr">
              <a:buNone/>
            </a:pPr>
            <a:r>
              <a:rPr lang="en-US" i="1" dirty="0">
                <a:solidFill>
                  <a:srgbClr val="6B7280"/>
                </a:solidFill>
                <a:latin typeface="Calibri" pitchFamily="34" charset="0"/>
                <a:ea typeface="Calibri" pitchFamily="34" charset="-122"/>
                <a:cs typeface="Calibri" pitchFamily="34" charset="-120"/>
              </a:rPr>
              <a:t>Gaps between checkpoints go unobserved - and with AI, controls can silently drift between them</a:t>
            </a:r>
            <a:endParaRPr lang="en-US" dirty="0"/>
          </a:p>
        </p:txBody>
      </p:sp>
      <p:sp>
        <p:nvSpPr>
          <p:cNvPr id="32" name="Shape 30"/>
          <p:cNvSpPr/>
          <p:nvPr/>
        </p:nvSpPr>
        <p:spPr>
          <a:xfrm>
            <a:off x="502920" y="6108192"/>
            <a:ext cx="11183112" cy="457200"/>
          </a:xfrm>
          <a:prstGeom prst="rect">
            <a:avLst/>
          </a:prstGeom>
          <a:solidFill>
            <a:srgbClr val="F7F8FA"/>
          </a:solidFill>
          <a:ln/>
        </p:spPr>
        <p:txBody>
          <a:bodyPr/>
          <a:lstStyle/>
          <a:p>
            <a:endParaRPr lang="en-US"/>
          </a:p>
        </p:txBody>
      </p:sp>
      <p:sp>
        <p:nvSpPr>
          <p:cNvPr id="33" name="Text 31"/>
          <p:cNvSpPr/>
          <p:nvPr/>
        </p:nvSpPr>
        <p:spPr>
          <a:xfrm>
            <a:off x="731520" y="6108192"/>
            <a:ext cx="10744200" cy="457200"/>
          </a:xfrm>
          <a:prstGeom prst="rect">
            <a:avLst/>
          </a:prstGeom>
          <a:noFill/>
          <a:ln/>
        </p:spPr>
        <p:txBody>
          <a:bodyPr wrap="square" lIns="0" tIns="0" rIns="0" bIns="0" rtlCol="0" anchor="ctr"/>
          <a:lstStyle/>
          <a:p>
            <a:pPr marL="0" indent="0">
              <a:buNone/>
            </a:pPr>
            <a:r>
              <a:rPr lang="en-US" sz="1875" b="1" i="1" dirty="0">
                <a:solidFill>
                  <a:srgbClr val="1B2A4A"/>
                </a:solidFill>
                <a:latin typeface="Cambria" pitchFamily="34" charset="0"/>
                <a:ea typeface="Cambria" pitchFamily="34" charset="-122"/>
                <a:cs typeface="Cambria" pitchFamily="34" charset="-120"/>
              </a:rPr>
              <a:t>Why are continuously changing organizations being assured using periodic snapshots?</a:t>
            </a:r>
            <a:endParaRPr lang="en-US" sz="1875" dirty="0"/>
          </a:p>
        </p:txBody>
      </p:sp>
      <p:sp>
        <p:nvSpPr>
          <p:cNvPr id="34" name="Text 32"/>
          <p:cNvSpPr/>
          <p:nvPr/>
        </p:nvSpPr>
        <p:spPr>
          <a:xfrm>
            <a:off x="11658600" y="320040"/>
            <a:ext cx="457200" cy="274320"/>
          </a:xfrm>
          <a:prstGeom prst="rect">
            <a:avLst/>
          </a:prstGeom>
          <a:noFill/>
          <a:ln/>
        </p:spPr>
        <p:txBody>
          <a:bodyPr wrap="square" lIns="0" tIns="0" rIns="0" bIns="0" rtlCol="0" anchor="ctr"/>
          <a:lstStyle/>
          <a:p>
            <a:pPr marL="0" indent="0" algn="r">
              <a:buNone/>
            </a:pPr>
            <a:r>
              <a:rPr lang="en-US" sz="1125" dirty="0">
                <a:solidFill>
                  <a:srgbClr val="C9CDD6"/>
                </a:solidFill>
                <a:latin typeface="Calibri" pitchFamily="34" charset="0"/>
                <a:ea typeface="Calibri" pitchFamily="34" charset="-122"/>
                <a:cs typeface="Calibri" pitchFamily="34" charset="-120"/>
              </a:rPr>
              <a:t>02</a:t>
            </a:r>
            <a:endParaRPr lang="en-US" sz="1125" dirty="0"/>
          </a:p>
        </p:txBody>
      </p:sp>
    </p:spTree>
    <p:extLst>
      <p:ext uri="{BB962C8B-B14F-4D97-AF65-F5344CB8AC3E}">
        <p14:creationId xmlns:p14="http://schemas.microsoft.com/office/powerpoint/2010/main" val="4129601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buNone/>
            </a:pPr>
            <a:r>
              <a:rPr lang="en-US" sz="1500" b="1" kern="0" spc="200" dirty="0">
                <a:solidFill>
                  <a:srgbClr val="0E6E8C"/>
                </a:solidFill>
                <a:latin typeface="Calibri" pitchFamily="34" charset="0"/>
                <a:ea typeface="Calibri" pitchFamily="34" charset="-122"/>
                <a:cs typeface="Calibri" pitchFamily="34" charset="-120"/>
              </a:rPr>
              <a:t>SELF-ASSESSMENT</a:t>
            </a:r>
            <a:endParaRPr lang="en-US" sz="1500" dirty="0"/>
          </a:p>
        </p:txBody>
      </p:sp>
      <p:sp>
        <p:nvSpPr>
          <p:cNvPr id="3" name="Text 1"/>
          <p:cNvSpPr/>
          <p:nvPr/>
        </p:nvSpPr>
        <p:spPr>
          <a:xfrm>
            <a:off x="502920" y="612648"/>
            <a:ext cx="11155680" cy="868680"/>
          </a:xfrm>
          <a:prstGeom prst="rect">
            <a:avLst/>
          </a:prstGeom>
          <a:noFill/>
          <a:ln/>
        </p:spPr>
        <p:txBody>
          <a:bodyPr wrap="square" lIns="0" tIns="0" rIns="0" bIns="0" rtlCol="0" anchor="t"/>
          <a:lstStyle/>
          <a:p>
            <a:pPr marL="0" indent="0">
              <a:lnSpc>
                <a:spcPct val="102000"/>
              </a:lnSpc>
              <a:buNone/>
            </a:pPr>
            <a:r>
              <a:rPr lang="en-US" sz="3500" b="1" dirty="0">
                <a:solidFill>
                  <a:srgbClr val="1B2A4A"/>
                </a:solidFill>
                <a:latin typeface="Cambria" pitchFamily="34" charset="0"/>
                <a:ea typeface="Cambria" pitchFamily="34" charset="-122"/>
                <a:cs typeface="Cambria" pitchFamily="34" charset="-120"/>
              </a:rPr>
              <a:t>Where is your organization today?</a:t>
            </a:r>
            <a:endParaRPr lang="en-US" sz="3500" dirty="0"/>
          </a:p>
        </p:txBody>
      </p:sp>
      <p:sp>
        <p:nvSpPr>
          <p:cNvPr id="4" name="Shape 2"/>
          <p:cNvSpPr/>
          <p:nvPr/>
        </p:nvSpPr>
        <p:spPr>
          <a:xfrm>
            <a:off x="502920" y="4114800"/>
            <a:ext cx="1691640" cy="777240"/>
          </a:xfrm>
          <a:prstGeom prst="roundRect">
            <a:avLst>
              <a:gd name="adj" fmla="val 7059"/>
            </a:avLst>
          </a:prstGeom>
          <a:solidFill>
            <a:srgbClr val="E7EAF2"/>
          </a:solidFill>
          <a:ln w="12700">
            <a:solidFill>
              <a:srgbClr val="1B2A4A"/>
            </a:solidFill>
            <a:prstDash val="solid"/>
          </a:ln>
        </p:spPr>
        <p:txBody>
          <a:bodyPr/>
          <a:lstStyle/>
          <a:p>
            <a:endParaRPr lang="en-US" sz="2800"/>
          </a:p>
        </p:txBody>
      </p:sp>
      <p:sp>
        <p:nvSpPr>
          <p:cNvPr id="5" name="Text 3"/>
          <p:cNvSpPr/>
          <p:nvPr/>
        </p:nvSpPr>
        <p:spPr>
          <a:xfrm>
            <a:off x="502920" y="4187952"/>
            <a:ext cx="1691640" cy="329184"/>
          </a:xfrm>
          <a:prstGeom prst="rect">
            <a:avLst/>
          </a:prstGeom>
          <a:noFill/>
          <a:ln/>
        </p:spPr>
        <p:txBody>
          <a:bodyPr wrap="square" lIns="0" tIns="0" rIns="0" bIns="0" rtlCol="0" anchor="ctr"/>
          <a:lstStyle/>
          <a:p>
            <a:pPr marL="0" indent="0" algn="ctr">
              <a:buNone/>
            </a:pPr>
            <a:r>
              <a:rPr lang="en-US" sz="3200" b="1" dirty="0">
                <a:solidFill>
                  <a:srgbClr val="1B2A4A"/>
                </a:solidFill>
                <a:latin typeface="Cambria" pitchFamily="34" charset="0"/>
                <a:ea typeface="Cambria" pitchFamily="34" charset="-122"/>
                <a:cs typeface="Cambria" pitchFamily="34" charset="-120"/>
              </a:rPr>
              <a:t>0</a:t>
            </a:r>
            <a:endParaRPr lang="en-US" sz="3200" dirty="0"/>
          </a:p>
        </p:txBody>
      </p:sp>
      <p:sp>
        <p:nvSpPr>
          <p:cNvPr id="6" name="Text 4"/>
          <p:cNvSpPr/>
          <p:nvPr/>
        </p:nvSpPr>
        <p:spPr>
          <a:xfrm>
            <a:off x="548640" y="4536462"/>
            <a:ext cx="1600200" cy="293888"/>
          </a:xfrm>
          <a:prstGeom prst="rect">
            <a:avLst/>
          </a:prstGeom>
          <a:noFill/>
          <a:ln/>
        </p:spPr>
        <p:txBody>
          <a:bodyPr wrap="square" lIns="0" tIns="0" rIns="0" bIns="0" rtlCol="0" anchor="t"/>
          <a:lstStyle/>
          <a:p>
            <a:pPr marL="0" indent="0" algn="ctr">
              <a:buNone/>
            </a:pPr>
            <a:r>
              <a:rPr lang="en-US" sz="1600" b="1" dirty="0">
                <a:solidFill>
                  <a:srgbClr val="1B2A4A"/>
                </a:solidFill>
                <a:latin typeface="Calibri" pitchFamily="34" charset="0"/>
                <a:ea typeface="Calibri" pitchFamily="34" charset="-122"/>
                <a:cs typeface="Calibri" pitchFamily="34" charset="-120"/>
              </a:rPr>
              <a:t>Avoiding AI</a:t>
            </a:r>
            <a:endParaRPr lang="en-US" sz="1600" dirty="0"/>
          </a:p>
        </p:txBody>
      </p:sp>
      <p:sp>
        <p:nvSpPr>
          <p:cNvPr id="7" name="Shape 5"/>
          <p:cNvSpPr/>
          <p:nvPr/>
        </p:nvSpPr>
        <p:spPr>
          <a:xfrm>
            <a:off x="2331720" y="3785616"/>
            <a:ext cx="1691640" cy="1106424"/>
          </a:xfrm>
          <a:prstGeom prst="roundRect">
            <a:avLst>
              <a:gd name="adj" fmla="val 4959"/>
            </a:avLst>
          </a:prstGeom>
          <a:solidFill>
            <a:srgbClr val="F4E3CC"/>
          </a:solidFill>
          <a:ln w="12700">
            <a:solidFill>
              <a:srgbClr val="C97A1E"/>
            </a:solidFill>
            <a:prstDash val="solid"/>
          </a:ln>
        </p:spPr>
        <p:txBody>
          <a:bodyPr/>
          <a:lstStyle/>
          <a:p>
            <a:endParaRPr lang="en-US" sz="2800"/>
          </a:p>
        </p:txBody>
      </p:sp>
      <p:sp>
        <p:nvSpPr>
          <p:cNvPr id="8" name="Text 6"/>
          <p:cNvSpPr/>
          <p:nvPr/>
        </p:nvSpPr>
        <p:spPr>
          <a:xfrm>
            <a:off x="2331720" y="3892052"/>
            <a:ext cx="1691640" cy="329184"/>
          </a:xfrm>
          <a:prstGeom prst="rect">
            <a:avLst/>
          </a:prstGeom>
          <a:noFill/>
          <a:ln/>
        </p:spPr>
        <p:txBody>
          <a:bodyPr wrap="square" lIns="0" tIns="0" rIns="0" bIns="0" rtlCol="0" anchor="ctr"/>
          <a:lstStyle/>
          <a:p>
            <a:pPr marL="0" indent="0" algn="ctr">
              <a:buNone/>
            </a:pPr>
            <a:r>
              <a:rPr lang="en-US" sz="3200" b="1" dirty="0">
                <a:solidFill>
                  <a:srgbClr val="C97A1E"/>
                </a:solidFill>
                <a:latin typeface="Cambria" pitchFamily="34" charset="0"/>
                <a:ea typeface="Cambria" pitchFamily="34" charset="-122"/>
                <a:cs typeface="Cambria" pitchFamily="34" charset="-120"/>
              </a:rPr>
              <a:t>1</a:t>
            </a:r>
            <a:endParaRPr lang="en-US" sz="3200" dirty="0"/>
          </a:p>
        </p:txBody>
      </p:sp>
      <p:sp>
        <p:nvSpPr>
          <p:cNvPr id="9" name="Text 7"/>
          <p:cNvSpPr/>
          <p:nvPr/>
        </p:nvSpPr>
        <p:spPr>
          <a:xfrm>
            <a:off x="2377439" y="4320540"/>
            <a:ext cx="1600200" cy="365760"/>
          </a:xfrm>
          <a:prstGeom prst="rect">
            <a:avLst/>
          </a:prstGeom>
          <a:noFill/>
          <a:ln/>
        </p:spPr>
        <p:txBody>
          <a:bodyPr wrap="square" lIns="0" tIns="0" rIns="0" bIns="0" rtlCol="0" anchor="t"/>
          <a:lstStyle/>
          <a:p>
            <a:pPr marL="0" indent="0" algn="ctr">
              <a:buNone/>
            </a:pPr>
            <a:r>
              <a:rPr lang="en-US" sz="1600" b="1" dirty="0">
                <a:solidFill>
                  <a:srgbClr val="1B2A4A"/>
                </a:solidFill>
                <a:latin typeface="Calibri" pitchFamily="34" charset="0"/>
                <a:ea typeface="Calibri" pitchFamily="34" charset="-122"/>
                <a:cs typeface="Calibri" pitchFamily="34" charset="-120"/>
              </a:rPr>
              <a:t>Individual /</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Shadow AI</a:t>
            </a:r>
            <a:endParaRPr lang="en-US" sz="1600" dirty="0"/>
          </a:p>
        </p:txBody>
      </p:sp>
      <p:sp>
        <p:nvSpPr>
          <p:cNvPr id="10" name="Shape 8"/>
          <p:cNvSpPr/>
          <p:nvPr/>
        </p:nvSpPr>
        <p:spPr>
          <a:xfrm>
            <a:off x="4160520" y="3456432"/>
            <a:ext cx="1691640" cy="1435608"/>
          </a:xfrm>
          <a:prstGeom prst="roundRect">
            <a:avLst>
              <a:gd name="adj" fmla="val 3822"/>
            </a:avLst>
          </a:prstGeom>
          <a:solidFill>
            <a:srgbClr val="E7EAF2"/>
          </a:solidFill>
          <a:ln w="12700">
            <a:solidFill>
              <a:srgbClr val="1B2A4A"/>
            </a:solidFill>
            <a:prstDash val="solid"/>
          </a:ln>
        </p:spPr>
        <p:txBody>
          <a:bodyPr/>
          <a:lstStyle/>
          <a:p>
            <a:endParaRPr lang="en-US" sz="2800"/>
          </a:p>
        </p:txBody>
      </p:sp>
      <p:sp>
        <p:nvSpPr>
          <p:cNvPr id="11" name="Text 9"/>
          <p:cNvSpPr/>
          <p:nvPr/>
        </p:nvSpPr>
        <p:spPr>
          <a:xfrm>
            <a:off x="4160520" y="3589020"/>
            <a:ext cx="1691640" cy="329184"/>
          </a:xfrm>
          <a:prstGeom prst="rect">
            <a:avLst/>
          </a:prstGeom>
          <a:noFill/>
          <a:ln/>
        </p:spPr>
        <p:txBody>
          <a:bodyPr wrap="square" lIns="0" tIns="0" rIns="0" bIns="0" rtlCol="0" anchor="ctr"/>
          <a:lstStyle/>
          <a:p>
            <a:pPr marL="0" indent="0" algn="ctr">
              <a:buNone/>
            </a:pPr>
            <a:r>
              <a:rPr lang="en-US" sz="3200" b="1" dirty="0">
                <a:solidFill>
                  <a:srgbClr val="1B2A4A"/>
                </a:solidFill>
                <a:latin typeface="Cambria" pitchFamily="34" charset="0"/>
                <a:ea typeface="Cambria" pitchFamily="34" charset="-122"/>
                <a:cs typeface="Cambria" pitchFamily="34" charset="-120"/>
              </a:rPr>
              <a:t>2</a:t>
            </a:r>
            <a:endParaRPr lang="en-US" sz="3200" dirty="0"/>
          </a:p>
        </p:txBody>
      </p:sp>
      <p:sp>
        <p:nvSpPr>
          <p:cNvPr id="12" name="Text 10"/>
          <p:cNvSpPr/>
          <p:nvPr/>
        </p:nvSpPr>
        <p:spPr>
          <a:xfrm>
            <a:off x="4206240" y="4471416"/>
            <a:ext cx="1600200" cy="365760"/>
          </a:xfrm>
          <a:prstGeom prst="rect">
            <a:avLst/>
          </a:prstGeom>
          <a:noFill/>
          <a:ln/>
        </p:spPr>
        <p:txBody>
          <a:bodyPr wrap="square" lIns="0" tIns="0" rIns="0" bIns="0" rtlCol="0" anchor="t"/>
          <a:lstStyle/>
          <a:p>
            <a:pPr marL="0" indent="0" algn="ctr">
              <a:buNone/>
            </a:pPr>
            <a:r>
              <a:rPr lang="en-US" sz="1600" b="1" dirty="0">
                <a:solidFill>
                  <a:srgbClr val="1B2A4A"/>
                </a:solidFill>
                <a:latin typeface="Calibri" pitchFamily="34" charset="0"/>
                <a:ea typeface="Calibri" pitchFamily="34" charset="-122"/>
                <a:cs typeface="Calibri" pitchFamily="34" charset="-120"/>
              </a:rPr>
              <a:t>Governed AI</a:t>
            </a:r>
            <a:endParaRPr lang="en-US" sz="1600" dirty="0"/>
          </a:p>
        </p:txBody>
      </p:sp>
      <p:sp>
        <p:nvSpPr>
          <p:cNvPr id="13" name="Shape 11"/>
          <p:cNvSpPr/>
          <p:nvPr/>
        </p:nvSpPr>
        <p:spPr>
          <a:xfrm>
            <a:off x="5989320" y="3127248"/>
            <a:ext cx="1691640" cy="1764792"/>
          </a:xfrm>
          <a:prstGeom prst="roundRect">
            <a:avLst>
              <a:gd name="adj" fmla="val 3243"/>
            </a:avLst>
          </a:prstGeom>
          <a:solidFill>
            <a:srgbClr val="E7EAF2"/>
          </a:solidFill>
          <a:ln w="12700">
            <a:solidFill>
              <a:srgbClr val="1B2A4A"/>
            </a:solidFill>
            <a:prstDash val="solid"/>
          </a:ln>
        </p:spPr>
        <p:txBody>
          <a:bodyPr/>
          <a:lstStyle/>
          <a:p>
            <a:endParaRPr lang="en-US" sz="2800"/>
          </a:p>
        </p:txBody>
      </p:sp>
      <p:sp>
        <p:nvSpPr>
          <p:cNvPr id="14" name="Text 12"/>
          <p:cNvSpPr/>
          <p:nvPr/>
        </p:nvSpPr>
        <p:spPr>
          <a:xfrm>
            <a:off x="5989320" y="3273552"/>
            <a:ext cx="1691640" cy="329184"/>
          </a:xfrm>
          <a:prstGeom prst="rect">
            <a:avLst/>
          </a:prstGeom>
          <a:noFill/>
          <a:ln/>
        </p:spPr>
        <p:txBody>
          <a:bodyPr wrap="square" lIns="0" tIns="0" rIns="0" bIns="0" rtlCol="0" anchor="ctr"/>
          <a:lstStyle/>
          <a:p>
            <a:pPr marL="0" indent="0" algn="ctr">
              <a:buNone/>
            </a:pPr>
            <a:r>
              <a:rPr lang="en-US" sz="3200" b="1" dirty="0">
                <a:solidFill>
                  <a:srgbClr val="1B2A4A"/>
                </a:solidFill>
                <a:latin typeface="Cambria" pitchFamily="34" charset="0"/>
                <a:ea typeface="Cambria" pitchFamily="34" charset="-122"/>
                <a:cs typeface="Cambria" pitchFamily="34" charset="-120"/>
              </a:rPr>
              <a:t>3</a:t>
            </a:r>
            <a:endParaRPr lang="en-US" sz="3200" dirty="0"/>
          </a:p>
        </p:txBody>
      </p:sp>
      <p:sp>
        <p:nvSpPr>
          <p:cNvPr id="15" name="Text 13"/>
          <p:cNvSpPr/>
          <p:nvPr/>
        </p:nvSpPr>
        <p:spPr>
          <a:xfrm>
            <a:off x="6035040" y="4471416"/>
            <a:ext cx="1600200" cy="365760"/>
          </a:xfrm>
          <a:prstGeom prst="rect">
            <a:avLst/>
          </a:prstGeom>
          <a:noFill/>
          <a:ln/>
        </p:spPr>
        <p:txBody>
          <a:bodyPr wrap="square" lIns="0" tIns="0" rIns="0" bIns="0" rtlCol="0" anchor="t"/>
          <a:lstStyle/>
          <a:p>
            <a:pPr marL="0" indent="0" algn="ctr">
              <a:buNone/>
            </a:pPr>
            <a:r>
              <a:rPr lang="en-US" sz="1600" b="1" dirty="0">
                <a:solidFill>
                  <a:srgbClr val="1B2A4A"/>
                </a:solidFill>
                <a:latin typeface="Calibri" pitchFamily="34" charset="0"/>
                <a:ea typeface="Calibri" pitchFamily="34" charset="-122"/>
                <a:cs typeface="Calibri" pitchFamily="34" charset="-120"/>
              </a:rPr>
              <a:t>Embedded AI</a:t>
            </a:r>
            <a:endParaRPr lang="en-US" sz="1600" dirty="0"/>
          </a:p>
        </p:txBody>
      </p:sp>
      <p:sp>
        <p:nvSpPr>
          <p:cNvPr id="16" name="Shape 14"/>
          <p:cNvSpPr/>
          <p:nvPr/>
        </p:nvSpPr>
        <p:spPr>
          <a:xfrm>
            <a:off x="7818120" y="2798064"/>
            <a:ext cx="1691640" cy="2093976"/>
          </a:xfrm>
          <a:prstGeom prst="roundRect">
            <a:avLst>
              <a:gd name="adj" fmla="val 3243"/>
            </a:avLst>
          </a:prstGeom>
          <a:solidFill>
            <a:srgbClr val="D8ECF1"/>
          </a:solidFill>
          <a:ln w="12700">
            <a:solidFill>
              <a:srgbClr val="0E6E8C"/>
            </a:solidFill>
            <a:prstDash val="solid"/>
          </a:ln>
        </p:spPr>
        <p:txBody>
          <a:bodyPr/>
          <a:lstStyle/>
          <a:p>
            <a:endParaRPr lang="en-US" sz="2800"/>
          </a:p>
        </p:txBody>
      </p:sp>
      <p:sp>
        <p:nvSpPr>
          <p:cNvPr id="17" name="Text 15"/>
          <p:cNvSpPr/>
          <p:nvPr/>
        </p:nvSpPr>
        <p:spPr>
          <a:xfrm>
            <a:off x="7818120" y="2962656"/>
            <a:ext cx="1691640" cy="329184"/>
          </a:xfrm>
          <a:prstGeom prst="rect">
            <a:avLst/>
          </a:prstGeom>
          <a:noFill/>
          <a:ln/>
        </p:spPr>
        <p:txBody>
          <a:bodyPr wrap="square" lIns="0" tIns="0" rIns="0" bIns="0" rtlCol="0" anchor="ctr"/>
          <a:lstStyle/>
          <a:p>
            <a:pPr marL="0" indent="0" algn="ctr">
              <a:buNone/>
            </a:pPr>
            <a:r>
              <a:rPr lang="en-US" sz="3200" b="1" dirty="0">
                <a:solidFill>
                  <a:srgbClr val="1B2A4A"/>
                </a:solidFill>
                <a:latin typeface="Cambria" pitchFamily="34" charset="0"/>
                <a:ea typeface="Cambria" pitchFamily="34" charset="-122"/>
                <a:cs typeface="Cambria" pitchFamily="34" charset="-120"/>
              </a:rPr>
              <a:t>4</a:t>
            </a:r>
            <a:endParaRPr lang="en-US" sz="3200" dirty="0"/>
          </a:p>
        </p:txBody>
      </p:sp>
      <p:sp>
        <p:nvSpPr>
          <p:cNvPr id="18" name="Text 16"/>
          <p:cNvSpPr/>
          <p:nvPr/>
        </p:nvSpPr>
        <p:spPr>
          <a:xfrm>
            <a:off x="7863840" y="4471416"/>
            <a:ext cx="1600200" cy="365760"/>
          </a:xfrm>
          <a:prstGeom prst="rect">
            <a:avLst/>
          </a:prstGeom>
          <a:noFill/>
          <a:ln/>
        </p:spPr>
        <p:txBody>
          <a:bodyPr wrap="square" lIns="0" tIns="0" rIns="0" bIns="0" rtlCol="0" anchor="t"/>
          <a:lstStyle/>
          <a:p>
            <a:pPr marL="0" indent="0" algn="ctr">
              <a:buNone/>
            </a:pPr>
            <a:r>
              <a:rPr lang="en-US" sz="1600" b="1" dirty="0">
                <a:solidFill>
                  <a:srgbClr val="1B2A4A"/>
                </a:solidFill>
                <a:latin typeface="Calibri" pitchFamily="34" charset="0"/>
                <a:ea typeface="Calibri" pitchFamily="34" charset="-122"/>
                <a:cs typeface="Calibri" pitchFamily="34" charset="-120"/>
              </a:rPr>
              <a:t>Agentic AI</a:t>
            </a:r>
            <a:endParaRPr lang="en-US" sz="1600" dirty="0"/>
          </a:p>
        </p:txBody>
      </p:sp>
      <p:sp>
        <p:nvSpPr>
          <p:cNvPr id="19" name="Shape 17"/>
          <p:cNvSpPr/>
          <p:nvPr/>
        </p:nvSpPr>
        <p:spPr>
          <a:xfrm>
            <a:off x="9646920" y="2468880"/>
            <a:ext cx="1691640" cy="2423160"/>
          </a:xfrm>
          <a:prstGeom prst="roundRect">
            <a:avLst>
              <a:gd name="adj" fmla="val 3243"/>
            </a:avLst>
          </a:prstGeom>
          <a:solidFill>
            <a:srgbClr val="D8ECF1"/>
          </a:solidFill>
          <a:ln w="12700">
            <a:solidFill>
              <a:srgbClr val="0E6E8C"/>
            </a:solidFill>
            <a:prstDash val="solid"/>
          </a:ln>
        </p:spPr>
        <p:txBody>
          <a:bodyPr/>
          <a:lstStyle/>
          <a:p>
            <a:endParaRPr lang="en-US" sz="2800"/>
          </a:p>
        </p:txBody>
      </p:sp>
      <p:sp>
        <p:nvSpPr>
          <p:cNvPr id="20" name="Text 18"/>
          <p:cNvSpPr/>
          <p:nvPr/>
        </p:nvSpPr>
        <p:spPr>
          <a:xfrm>
            <a:off x="9646920" y="2642616"/>
            <a:ext cx="1691640" cy="329184"/>
          </a:xfrm>
          <a:prstGeom prst="rect">
            <a:avLst/>
          </a:prstGeom>
          <a:noFill/>
          <a:ln/>
        </p:spPr>
        <p:txBody>
          <a:bodyPr wrap="square" lIns="0" tIns="0" rIns="0" bIns="0" rtlCol="0" anchor="ctr"/>
          <a:lstStyle/>
          <a:p>
            <a:pPr marL="0" indent="0" algn="ctr">
              <a:buNone/>
            </a:pPr>
            <a:r>
              <a:rPr lang="en-US" sz="3200" b="1" dirty="0">
                <a:solidFill>
                  <a:srgbClr val="1B2A4A"/>
                </a:solidFill>
                <a:latin typeface="Cambria" pitchFamily="34" charset="0"/>
                <a:ea typeface="Cambria" pitchFamily="34" charset="-122"/>
                <a:cs typeface="Cambria" pitchFamily="34" charset="-120"/>
              </a:rPr>
              <a:t>5</a:t>
            </a:r>
            <a:endParaRPr lang="en-US" sz="3200" dirty="0"/>
          </a:p>
        </p:txBody>
      </p:sp>
      <p:sp>
        <p:nvSpPr>
          <p:cNvPr id="21" name="Text 19"/>
          <p:cNvSpPr/>
          <p:nvPr/>
        </p:nvSpPr>
        <p:spPr>
          <a:xfrm>
            <a:off x="9738360" y="4320540"/>
            <a:ext cx="1600200" cy="365760"/>
          </a:xfrm>
          <a:prstGeom prst="rect">
            <a:avLst/>
          </a:prstGeom>
          <a:noFill/>
          <a:ln/>
        </p:spPr>
        <p:txBody>
          <a:bodyPr wrap="square" lIns="0" tIns="0" rIns="0" bIns="0" rtlCol="0" anchor="t"/>
          <a:lstStyle/>
          <a:p>
            <a:pPr marL="0" indent="0" algn="ctr">
              <a:buNone/>
            </a:pPr>
            <a:r>
              <a:rPr lang="en-US" sz="1600" b="1" dirty="0">
                <a:solidFill>
                  <a:srgbClr val="1B2A4A"/>
                </a:solidFill>
                <a:latin typeface="Calibri" pitchFamily="34" charset="0"/>
                <a:ea typeface="Calibri" pitchFamily="34" charset="-122"/>
                <a:cs typeface="Calibri" pitchFamily="34" charset="-120"/>
              </a:rPr>
              <a:t>Governed Agentic</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Enterprise</a:t>
            </a:r>
            <a:endParaRPr lang="en-US" sz="1600" dirty="0"/>
          </a:p>
        </p:txBody>
      </p:sp>
      <p:sp>
        <p:nvSpPr>
          <p:cNvPr id="22" name="Shape 20"/>
          <p:cNvSpPr/>
          <p:nvPr/>
        </p:nvSpPr>
        <p:spPr>
          <a:xfrm>
            <a:off x="3177540" y="2834640"/>
            <a:ext cx="6724" cy="900684"/>
          </a:xfrm>
          <a:prstGeom prst="line">
            <a:avLst/>
          </a:prstGeom>
          <a:noFill/>
          <a:ln w="12700">
            <a:solidFill>
              <a:srgbClr val="C97A1E"/>
            </a:solidFill>
            <a:prstDash val="sysDash"/>
          </a:ln>
        </p:spPr>
        <p:txBody>
          <a:bodyPr/>
          <a:lstStyle/>
          <a:p>
            <a:endParaRPr lang="en-US" sz="2800"/>
          </a:p>
        </p:txBody>
      </p:sp>
      <p:sp>
        <p:nvSpPr>
          <p:cNvPr id="23" name="Text 21"/>
          <p:cNvSpPr/>
          <p:nvPr/>
        </p:nvSpPr>
        <p:spPr>
          <a:xfrm>
            <a:off x="1143000" y="2148840"/>
            <a:ext cx="3108960" cy="658368"/>
          </a:xfrm>
          <a:prstGeom prst="rect">
            <a:avLst/>
          </a:prstGeom>
          <a:noFill/>
          <a:ln/>
        </p:spPr>
        <p:txBody>
          <a:bodyPr wrap="square" lIns="0" tIns="0" rIns="0" bIns="0" rtlCol="0" anchor="ctr"/>
          <a:lstStyle/>
          <a:p>
            <a:pPr marL="0" indent="0" algn="ctr">
              <a:buNone/>
            </a:pPr>
            <a:r>
              <a:rPr lang="en-US" sz="1600" b="1" i="1" dirty="0">
                <a:solidFill>
                  <a:srgbClr val="C97A1E"/>
                </a:solidFill>
                <a:latin typeface="Calibri" pitchFamily="34" charset="0"/>
                <a:ea typeface="Calibri" pitchFamily="34" charset="-122"/>
                <a:cs typeface="Calibri" pitchFamily="34" charset="-120"/>
              </a:rPr>
              <a:t>More dangerous than it looks - employees may already use AI outside governance</a:t>
            </a:r>
            <a:endParaRPr lang="en-US" sz="1600" b="1" dirty="0"/>
          </a:p>
        </p:txBody>
      </p:sp>
      <p:sp>
        <p:nvSpPr>
          <p:cNvPr id="24" name="Text 22"/>
          <p:cNvSpPr/>
          <p:nvPr/>
        </p:nvSpPr>
        <p:spPr>
          <a:xfrm>
            <a:off x="502920" y="5029200"/>
            <a:ext cx="5486400" cy="256032"/>
          </a:xfrm>
          <a:prstGeom prst="rect">
            <a:avLst/>
          </a:prstGeom>
          <a:noFill/>
          <a:ln/>
        </p:spPr>
        <p:txBody>
          <a:bodyPr wrap="square" lIns="0" tIns="0" rIns="0" bIns="0" rtlCol="0" anchor="ctr"/>
          <a:lstStyle/>
          <a:p>
            <a:pPr marL="0" indent="0">
              <a:buNone/>
            </a:pPr>
            <a:r>
              <a:rPr lang="en-US" b="1" dirty="0">
                <a:solidFill>
                  <a:srgbClr val="6B7280"/>
                </a:solidFill>
                <a:latin typeface="Calibri" pitchFamily="34" charset="0"/>
                <a:ea typeface="Calibri" pitchFamily="34" charset="-122"/>
                <a:cs typeface="Calibri" pitchFamily="34" charset="-120"/>
              </a:rPr>
              <a:t>CAPABILITY  →</a:t>
            </a:r>
            <a:endParaRPr lang="en-US" dirty="0"/>
          </a:p>
        </p:txBody>
      </p:sp>
      <p:sp>
        <p:nvSpPr>
          <p:cNvPr id="25" name="Text 23"/>
          <p:cNvSpPr/>
          <p:nvPr/>
        </p:nvSpPr>
        <p:spPr>
          <a:xfrm>
            <a:off x="548640" y="5504688"/>
            <a:ext cx="2743200" cy="228600"/>
          </a:xfrm>
          <a:prstGeom prst="rect">
            <a:avLst/>
          </a:prstGeom>
          <a:noFill/>
          <a:ln/>
        </p:spPr>
        <p:txBody>
          <a:bodyPr wrap="square" lIns="0" tIns="0" rIns="0" bIns="0" rtlCol="0" anchor="ctr"/>
          <a:lstStyle/>
          <a:p>
            <a:pPr marL="0" indent="0">
              <a:buNone/>
            </a:pPr>
            <a:r>
              <a:rPr lang="en-US" b="1" dirty="0">
                <a:solidFill>
                  <a:srgbClr val="0E6E8C"/>
                </a:solidFill>
                <a:latin typeface="Calibri" pitchFamily="34" charset="0"/>
                <a:ea typeface="Calibri" pitchFamily="34" charset="-122"/>
                <a:cs typeface="Calibri" pitchFamily="34" charset="-120"/>
              </a:rPr>
              <a:t>GOVERNANCE MATURITY</a:t>
            </a:r>
            <a:endParaRPr lang="en-US" dirty="0"/>
          </a:p>
        </p:txBody>
      </p:sp>
      <p:sp>
        <p:nvSpPr>
          <p:cNvPr id="26" name="Shape 24"/>
          <p:cNvSpPr/>
          <p:nvPr/>
        </p:nvSpPr>
        <p:spPr>
          <a:xfrm>
            <a:off x="502920" y="5870448"/>
            <a:ext cx="2507742" cy="384048"/>
          </a:xfrm>
          <a:prstGeom prst="roundRect">
            <a:avLst>
              <a:gd name="adj" fmla="val 16667"/>
            </a:avLst>
          </a:prstGeom>
          <a:solidFill>
            <a:srgbClr val="D8ECF1"/>
          </a:solidFill>
          <a:ln w="12700">
            <a:solidFill>
              <a:srgbClr val="0E6E8C"/>
            </a:solidFill>
            <a:prstDash val="solid"/>
          </a:ln>
        </p:spPr>
        <p:txBody>
          <a:bodyPr/>
          <a:lstStyle/>
          <a:p>
            <a:endParaRPr lang="en-US" sz="2800"/>
          </a:p>
        </p:txBody>
      </p:sp>
      <p:sp>
        <p:nvSpPr>
          <p:cNvPr id="27" name="Text 25"/>
          <p:cNvSpPr/>
          <p:nvPr/>
        </p:nvSpPr>
        <p:spPr>
          <a:xfrm>
            <a:off x="548640" y="5897880"/>
            <a:ext cx="2416302" cy="329184"/>
          </a:xfrm>
          <a:prstGeom prst="rect">
            <a:avLst/>
          </a:prstGeom>
          <a:noFill/>
          <a:ln/>
        </p:spPr>
        <p:txBody>
          <a:bodyPr wrap="square" lIns="0" tIns="0" rIns="0" bIns="0" rtlCol="0" anchor="ctr"/>
          <a:lstStyle/>
          <a:p>
            <a:pPr marL="0" indent="0" algn="ctr">
              <a:buNone/>
            </a:pPr>
            <a:r>
              <a:rPr lang="en-US" b="1" dirty="0">
                <a:solidFill>
                  <a:srgbClr val="1B2A4A"/>
                </a:solidFill>
                <a:latin typeface="Calibri" pitchFamily="34" charset="0"/>
                <a:ea typeface="Calibri" pitchFamily="34" charset="-122"/>
                <a:cs typeface="Calibri" pitchFamily="34" charset="-120"/>
              </a:rPr>
              <a:t>Unmanaged</a:t>
            </a:r>
            <a:endParaRPr lang="en-US" dirty="0"/>
          </a:p>
        </p:txBody>
      </p:sp>
      <p:sp>
        <p:nvSpPr>
          <p:cNvPr id="28" name="Shape 26"/>
          <p:cNvSpPr/>
          <p:nvPr/>
        </p:nvSpPr>
        <p:spPr>
          <a:xfrm>
            <a:off x="3083631" y="5997184"/>
            <a:ext cx="238110" cy="130576"/>
          </a:xfrm>
          <a:prstGeom prst="chevron">
            <a:avLst/>
          </a:prstGeom>
          <a:solidFill>
            <a:srgbClr val="0E6E8C"/>
          </a:solidFill>
          <a:ln/>
        </p:spPr>
        <p:txBody>
          <a:bodyPr/>
          <a:lstStyle/>
          <a:p>
            <a:endParaRPr lang="en-US" sz="2800"/>
          </a:p>
        </p:txBody>
      </p:sp>
      <p:sp>
        <p:nvSpPr>
          <p:cNvPr id="29" name="Shape 27"/>
          <p:cNvSpPr/>
          <p:nvPr/>
        </p:nvSpPr>
        <p:spPr>
          <a:xfrm>
            <a:off x="3394710" y="5870448"/>
            <a:ext cx="2507742" cy="384048"/>
          </a:xfrm>
          <a:prstGeom prst="roundRect">
            <a:avLst>
              <a:gd name="adj" fmla="val 16667"/>
            </a:avLst>
          </a:prstGeom>
          <a:solidFill>
            <a:srgbClr val="D8ECF1"/>
          </a:solidFill>
          <a:ln w="12700">
            <a:solidFill>
              <a:srgbClr val="0E6E8C"/>
            </a:solidFill>
            <a:prstDash val="solid"/>
          </a:ln>
        </p:spPr>
        <p:txBody>
          <a:bodyPr/>
          <a:lstStyle/>
          <a:p>
            <a:endParaRPr lang="en-US" sz="2800"/>
          </a:p>
        </p:txBody>
      </p:sp>
      <p:sp>
        <p:nvSpPr>
          <p:cNvPr id="30" name="Text 28"/>
          <p:cNvSpPr/>
          <p:nvPr/>
        </p:nvSpPr>
        <p:spPr>
          <a:xfrm>
            <a:off x="3440430" y="5897880"/>
            <a:ext cx="2416302" cy="329184"/>
          </a:xfrm>
          <a:prstGeom prst="rect">
            <a:avLst/>
          </a:prstGeom>
          <a:noFill/>
          <a:ln/>
        </p:spPr>
        <p:txBody>
          <a:bodyPr wrap="square" lIns="0" tIns="0" rIns="0" bIns="0" rtlCol="0" anchor="ctr"/>
          <a:lstStyle/>
          <a:p>
            <a:pPr marL="0" indent="0" algn="ctr">
              <a:buNone/>
            </a:pPr>
            <a:r>
              <a:rPr lang="en-US" b="1" dirty="0">
                <a:solidFill>
                  <a:srgbClr val="1B2A4A"/>
                </a:solidFill>
                <a:latin typeface="Calibri" pitchFamily="34" charset="0"/>
                <a:ea typeface="Calibri" pitchFamily="34" charset="-122"/>
                <a:cs typeface="Calibri" pitchFamily="34" charset="-120"/>
              </a:rPr>
              <a:t>Controlled</a:t>
            </a:r>
            <a:endParaRPr lang="en-US" dirty="0"/>
          </a:p>
        </p:txBody>
      </p:sp>
      <p:sp>
        <p:nvSpPr>
          <p:cNvPr id="31" name="Shape 29"/>
          <p:cNvSpPr/>
          <p:nvPr/>
        </p:nvSpPr>
        <p:spPr>
          <a:xfrm>
            <a:off x="5975421" y="5997184"/>
            <a:ext cx="238110" cy="130576"/>
          </a:xfrm>
          <a:prstGeom prst="chevron">
            <a:avLst/>
          </a:prstGeom>
          <a:solidFill>
            <a:srgbClr val="0E6E8C"/>
          </a:solidFill>
          <a:ln/>
        </p:spPr>
        <p:txBody>
          <a:bodyPr/>
          <a:lstStyle/>
          <a:p>
            <a:endParaRPr lang="en-US" sz="2800"/>
          </a:p>
        </p:txBody>
      </p:sp>
      <p:sp>
        <p:nvSpPr>
          <p:cNvPr id="32" name="Shape 30"/>
          <p:cNvSpPr/>
          <p:nvPr/>
        </p:nvSpPr>
        <p:spPr>
          <a:xfrm>
            <a:off x="6286500" y="5870448"/>
            <a:ext cx="2507742" cy="384048"/>
          </a:xfrm>
          <a:prstGeom prst="roundRect">
            <a:avLst>
              <a:gd name="adj" fmla="val 16667"/>
            </a:avLst>
          </a:prstGeom>
          <a:solidFill>
            <a:srgbClr val="D8ECF1"/>
          </a:solidFill>
          <a:ln w="12700">
            <a:solidFill>
              <a:srgbClr val="0E6E8C"/>
            </a:solidFill>
            <a:prstDash val="solid"/>
          </a:ln>
        </p:spPr>
        <p:txBody>
          <a:bodyPr/>
          <a:lstStyle/>
          <a:p>
            <a:endParaRPr lang="en-US" sz="2800"/>
          </a:p>
        </p:txBody>
      </p:sp>
      <p:sp>
        <p:nvSpPr>
          <p:cNvPr id="33" name="Text 31"/>
          <p:cNvSpPr/>
          <p:nvPr/>
        </p:nvSpPr>
        <p:spPr>
          <a:xfrm>
            <a:off x="6332220" y="5897880"/>
            <a:ext cx="2416302" cy="329184"/>
          </a:xfrm>
          <a:prstGeom prst="rect">
            <a:avLst/>
          </a:prstGeom>
          <a:noFill/>
          <a:ln/>
        </p:spPr>
        <p:txBody>
          <a:bodyPr wrap="square" lIns="0" tIns="0" rIns="0" bIns="0" rtlCol="0" anchor="ctr"/>
          <a:lstStyle/>
          <a:p>
            <a:pPr marL="0" indent="0" algn="ctr">
              <a:buNone/>
            </a:pPr>
            <a:r>
              <a:rPr lang="en-US" b="1" dirty="0">
                <a:solidFill>
                  <a:srgbClr val="1B2A4A"/>
                </a:solidFill>
                <a:latin typeface="Calibri" pitchFamily="34" charset="0"/>
                <a:ea typeface="Calibri" pitchFamily="34" charset="-122"/>
                <a:cs typeface="Calibri" pitchFamily="34" charset="-120"/>
              </a:rPr>
              <a:t>Observable</a:t>
            </a:r>
            <a:endParaRPr lang="en-US" dirty="0"/>
          </a:p>
        </p:txBody>
      </p:sp>
      <p:sp>
        <p:nvSpPr>
          <p:cNvPr id="34" name="Shape 32"/>
          <p:cNvSpPr/>
          <p:nvPr/>
        </p:nvSpPr>
        <p:spPr>
          <a:xfrm>
            <a:off x="8867211" y="5997184"/>
            <a:ext cx="238110" cy="130576"/>
          </a:xfrm>
          <a:prstGeom prst="chevron">
            <a:avLst/>
          </a:prstGeom>
          <a:solidFill>
            <a:srgbClr val="0E6E8C"/>
          </a:solidFill>
          <a:ln/>
        </p:spPr>
        <p:txBody>
          <a:bodyPr/>
          <a:lstStyle/>
          <a:p>
            <a:endParaRPr lang="en-US" sz="2800"/>
          </a:p>
        </p:txBody>
      </p:sp>
      <p:sp>
        <p:nvSpPr>
          <p:cNvPr id="35" name="Shape 33"/>
          <p:cNvSpPr/>
          <p:nvPr/>
        </p:nvSpPr>
        <p:spPr>
          <a:xfrm>
            <a:off x="9178290" y="5870448"/>
            <a:ext cx="2507742" cy="384048"/>
          </a:xfrm>
          <a:prstGeom prst="roundRect">
            <a:avLst>
              <a:gd name="adj" fmla="val 16667"/>
            </a:avLst>
          </a:prstGeom>
          <a:solidFill>
            <a:srgbClr val="D8ECF1"/>
          </a:solidFill>
          <a:ln w="12700">
            <a:solidFill>
              <a:srgbClr val="0E6E8C"/>
            </a:solidFill>
            <a:prstDash val="solid"/>
          </a:ln>
        </p:spPr>
        <p:txBody>
          <a:bodyPr/>
          <a:lstStyle/>
          <a:p>
            <a:endParaRPr lang="en-US" sz="2800"/>
          </a:p>
        </p:txBody>
      </p:sp>
      <p:sp>
        <p:nvSpPr>
          <p:cNvPr id="36" name="Text 34"/>
          <p:cNvSpPr/>
          <p:nvPr/>
        </p:nvSpPr>
        <p:spPr>
          <a:xfrm>
            <a:off x="9224010" y="5897880"/>
            <a:ext cx="2416302" cy="329184"/>
          </a:xfrm>
          <a:prstGeom prst="rect">
            <a:avLst/>
          </a:prstGeom>
          <a:noFill/>
          <a:ln/>
        </p:spPr>
        <p:txBody>
          <a:bodyPr wrap="square" lIns="0" tIns="0" rIns="0" bIns="0" rtlCol="0" anchor="ctr"/>
          <a:lstStyle/>
          <a:p>
            <a:pPr marL="0" indent="0" algn="ctr">
              <a:buNone/>
            </a:pPr>
            <a:r>
              <a:rPr lang="en-US" b="1" dirty="0">
                <a:solidFill>
                  <a:srgbClr val="1B2A4A"/>
                </a:solidFill>
                <a:latin typeface="Calibri" pitchFamily="34" charset="0"/>
                <a:ea typeface="Calibri" pitchFamily="34" charset="-122"/>
                <a:cs typeface="Calibri" pitchFamily="34" charset="-120"/>
              </a:rPr>
              <a:t>Auditable</a:t>
            </a:r>
            <a:endParaRPr lang="en-US" dirty="0"/>
          </a:p>
        </p:txBody>
      </p:sp>
      <p:sp>
        <p:nvSpPr>
          <p:cNvPr id="37" name="Text 35"/>
          <p:cNvSpPr/>
          <p:nvPr/>
        </p:nvSpPr>
        <p:spPr>
          <a:xfrm>
            <a:off x="11658600" y="320040"/>
            <a:ext cx="457200" cy="274320"/>
          </a:xfrm>
          <a:prstGeom prst="rect">
            <a:avLst/>
          </a:prstGeom>
          <a:noFill/>
          <a:ln/>
        </p:spPr>
        <p:txBody>
          <a:bodyPr wrap="square" lIns="0" tIns="0" rIns="0" bIns="0" rtlCol="0" anchor="ctr"/>
          <a:lstStyle/>
          <a:p>
            <a:pPr marL="0" indent="0" algn="r">
              <a:buNone/>
            </a:pPr>
            <a:r>
              <a:rPr lang="en-US" sz="1125" dirty="0">
                <a:solidFill>
                  <a:srgbClr val="C9CDD6"/>
                </a:solidFill>
                <a:latin typeface="Calibri" pitchFamily="34" charset="0"/>
                <a:ea typeface="Calibri" pitchFamily="34" charset="-122"/>
                <a:cs typeface="Calibri" pitchFamily="34" charset="-120"/>
              </a:rPr>
              <a:t>03</a:t>
            </a:r>
            <a:endParaRPr lang="en-US" sz="1125" dirty="0"/>
          </a:p>
        </p:txBody>
      </p:sp>
    </p:spTree>
    <p:extLst>
      <p:ext uri="{BB962C8B-B14F-4D97-AF65-F5344CB8AC3E}">
        <p14:creationId xmlns:p14="http://schemas.microsoft.com/office/powerpoint/2010/main" val="4214966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buNone/>
            </a:pPr>
            <a:r>
              <a:rPr lang="en-US" sz="1500" b="1" kern="0" spc="200" dirty="0">
                <a:solidFill>
                  <a:srgbClr val="0E6E8C"/>
                </a:solidFill>
                <a:latin typeface="Calibri" pitchFamily="34" charset="0"/>
                <a:ea typeface="Calibri" pitchFamily="34" charset="-122"/>
                <a:cs typeface="Calibri" pitchFamily="34" charset="-120"/>
              </a:rPr>
              <a:t>MARKET CONTEXT</a:t>
            </a:r>
            <a:endParaRPr lang="en-US" sz="1500" dirty="0"/>
          </a:p>
        </p:txBody>
      </p:sp>
      <p:sp>
        <p:nvSpPr>
          <p:cNvPr id="3" name="Text 1"/>
          <p:cNvSpPr/>
          <p:nvPr/>
        </p:nvSpPr>
        <p:spPr>
          <a:xfrm>
            <a:off x="502920" y="612648"/>
            <a:ext cx="11155680" cy="860074"/>
          </a:xfrm>
          <a:prstGeom prst="rect">
            <a:avLst/>
          </a:prstGeom>
          <a:noFill/>
          <a:ln/>
        </p:spPr>
        <p:txBody>
          <a:bodyPr wrap="square" lIns="0" tIns="0" rIns="0" bIns="0" rtlCol="0" anchor="t"/>
          <a:lstStyle/>
          <a:p>
            <a:pPr marL="0" indent="0">
              <a:lnSpc>
                <a:spcPct val="102000"/>
              </a:lnSpc>
              <a:buNone/>
            </a:pPr>
            <a:r>
              <a:rPr lang="en-US" sz="3250" b="1" dirty="0">
                <a:solidFill>
                  <a:srgbClr val="1B2A4A"/>
                </a:solidFill>
                <a:latin typeface="Cambria" pitchFamily="34" charset="0"/>
                <a:ea typeface="Cambria" pitchFamily="34" charset="-122"/>
                <a:cs typeface="Cambria" pitchFamily="34" charset="-120"/>
              </a:rPr>
              <a:t>AI adoption is moving from assistants to organizational capability</a:t>
            </a:r>
            <a:endParaRPr lang="en-US" sz="3250" dirty="0"/>
          </a:p>
        </p:txBody>
      </p:sp>
      <p:sp>
        <p:nvSpPr>
          <p:cNvPr id="8" name="Shape 6"/>
          <p:cNvSpPr/>
          <p:nvPr/>
        </p:nvSpPr>
        <p:spPr>
          <a:xfrm>
            <a:off x="502920" y="4732020"/>
            <a:ext cx="1737360" cy="685800"/>
          </a:xfrm>
          <a:prstGeom prst="roundRect">
            <a:avLst>
              <a:gd name="adj" fmla="val 8000"/>
            </a:avLst>
          </a:prstGeom>
          <a:solidFill>
            <a:srgbClr val="E7EAF2"/>
          </a:solidFill>
          <a:ln w="12700">
            <a:solidFill>
              <a:srgbClr val="1B2A4A"/>
            </a:solidFill>
            <a:prstDash val="solid"/>
          </a:ln>
        </p:spPr>
        <p:txBody>
          <a:bodyPr/>
          <a:lstStyle/>
          <a:p>
            <a:endParaRPr lang="en-US" sz="2400"/>
          </a:p>
        </p:txBody>
      </p:sp>
      <p:sp>
        <p:nvSpPr>
          <p:cNvPr id="9" name="Text 7"/>
          <p:cNvSpPr/>
          <p:nvPr/>
        </p:nvSpPr>
        <p:spPr>
          <a:xfrm>
            <a:off x="539496" y="4732020"/>
            <a:ext cx="1664208" cy="685800"/>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Personal</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Assistants</a:t>
            </a:r>
            <a:endParaRPr lang="en-US" sz="1600" dirty="0"/>
          </a:p>
        </p:txBody>
      </p:sp>
      <p:sp>
        <p:nvSpPr>
          <p:cNvPr id="10" name="Shape 8"/>
          <p:cNvSpPr/>
          <p:nvPr/>
        </p:nvSpPr>
        <p:spPr>
          <a:xfrm>
            <a:off x="2868930" y="4046220"/>
            <a:ext cx="1737360" cy="685800"/>
          </a:xfrm>
          <a:prstGeom prst="roundRect">
            <a:avLst>
              <a:gd name="adj" fmla="val 8000"/>
            </a:avLst>
          </a:prstGeom>
          <a:solidFill>
            <a:srgbClr val="E7EAF2"/>
          </a:solidFill>
          <a:ln w="12700">
            <a:solidFill>
              <a:srgbClr val="1B2A4A"/>
            </a:solidFill>
            <a:prstDash val="solid"/>
          </a:ln>
        </p:spPr>
        <p:txBody>
          <a:bodyPr/>
          <a:lstStyle/>
          <a:p>
            <a:endParaRPr lang="en-US" sz="2400"/>
          </a:p>
        </p:txBody>
      </p:sp>
      <p:sp>
        <p:nvSpPr>
          <p:cNvPr id="11" name="Text 9"/>
          <p:cNvSpPr/>
          <p:nvPr/>
        </p:nvSpPr>
        <p:spPr>
          <a:xfrm>
            <a:off x="2905506" y="4046220"/>
            <a:ext cx="1664208" cy="685800"/>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Enterprise AI</a:t>
            </a:r>
            <a:endParaRPr lang="en-US" sz="1600" dirty="0"/>
          </a:p>
        </p:txBody>
      </p:sp>
      <p:sp>
        <p:nvSpPr>
          <p:cNvPr id="12" name="Shape 10"/>
          <p:cNvSpPr/>
          <p:nvPr/>
        </p:nvSpPr>
        <p:spPr>
          <a:xfrm>
            <a:off x="5234940" y="3360420"/>
            <a:ext cx="1737360" cy="685800"/>
          </a:xfrm>
          <a:prstGeom prst="roundRect">
            <a:avLst>
              <a:gd name="adj" fmla="val 8000"/>
            </a:avLst>
          </a:prstGeom>
          <a:solidFill>
            <a:srgbClr val="E7EAF2"/>
          </a:solidFill>
          <a:ln w="12700">
            <a:solidFill>
              <a:srgbClr val="1B2A4A"/>
            </a:solidFill>
            <a:prstDash val="solid"/>
          </a:ln>
        </p:spPr>
        <p:txBody>
          <a:bodyPr/>
          <a:lstStyle/>
          <a:p>
            <a:endParaRPr lang="en-US" sz="2400"/>
          </a:p>
        </p:txBody>
      </p:sp>
      <p:sp>
        <p:nvSpPr>
          <p:cNvPr id="13" name="Text 11"/>
          <p:cNvSpPr/>
          <p:nvPr/>
        </p:nvSpPr>
        <p:spPr>
          <a:xfrm>
            <a:off x="5271516" y="3360420"/>
            <a:ext cx="1664208" cy="685800"/>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Embedded AI</a:t>
            </a:r>
            <a:endParaRPr lang="en-US" sz="1600" dirty="0"/>
          </a:p>
        </p:txBody>
      </p:sp>
      <p:sp>
        <p:nvSpPr>
          <p:cNvPr id="14" name="Shape 12"/>
          <p:cNvSpPr/>
          <p:nvPr/>
        </p:nvSpPr>
        <p:spPr>
          <a:xfrm>
            <a:off x="7600950" y="2674620"/>
            <a:ext cx="1737360" cy="685800"/>
          </a:xfrm>
          <a:prstGeom prst="roundRect">
            <a:avLst>
              <a:gd name="adj" fmla="val 8000"/>
            </a:avLst>
          </a:prstGeom>
          <a:solidFill>
            <a:srgbClr val="D8ECF1"/>
          </a:solidFill>
          <a:ln w="12700">
            <a:solidFill>
              <a:srgbClr val="0E6E8C"/>
            </a:solidFill>
            <a:prstDash val="solid"/>
          </a:ln>
        </p:spPr>
        <p:txBody>
          <a:bodyPr/>
          <a:lstStyle/>
          <a:p>
            <a:endParaRPr lang="en-US" sz="2400"/>
          </a:p>
        </p:txBody>
      </p:sp>
      <p:sp>
        <p:nvSpPr>
          <p:cNvPr id="15" name="Text 13"/>
          <p:cNvSpPr/>
          <p:nvPr/>
        </p:nvSpPr>
        <p:spPr>
          <a:xfrm>
            <a:off x="7637526" y="2674620"/>
            <a:ext cx="1664208" cy="685800"/>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Agentic</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Workflows</a:t>
            </a:r>
            <a:endParaRPr lang="en-US" sz="1600" dirty="0"/>
          </a:p>
        </p:txBody>
      </p:sp>
      <p:sp>
        <p:nvSpPr>
          <p:cNvPr id="16" name="Shape 14"/>
          <p:cNvSpPr/>
          <p:nvPr/>
        </p:nvSpPr>
        <p:spPr>
          <a:xfrm>
            <a:off x="9966960" y="1988820"/>
            <a:ext cx="1737360" cy="685800"/>
          </a:xfrm>
          <a:prstGeom prst="roundRect">
            <a:avLst>
              <a:gd name="adj" fmla="val 8000"/>
            </a:avLst>
          </a:prstGeom>
          <a:solidFill>
            <a:srgbClr val="D8ECF1"/>
          </a:solidFill>
          <a:ln w="12700">
            <a:solidFill>
              <a:srgbClr val="0E6E8C"/>
            </a:solidFill>
            <a:prstDash val="solid"/>
          </a:ln>
        </p:spPr>
        <p:txBody>
          <a:bodyPr/>
          <a:lstStyle/>
          <a:p>
            <a:endParaRPr lang="en-US" sz="2400"/>
          </a:p>
        </p:txBody>
      </p:sp>
      <p:sp>
        <p:nvSpPr>
          <p:cNvPr id="17" name="Text 15"/>
          <p:cNvSpPr/>
          <p:nvPr/>
        </p:nvSpPr>
        <p:spPr>
          <a:xfrm>
            <a:off x="10003536" y="1988820"/>
            <a:ext cx="1664208" cy="685800"/>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Governed</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Agents</a:t>
            </a:r>
            <a:endParaRPr lang="en-US" sz="1600" dirty="0"/>
          </a:p>
        </p:txBody>
      </p:sp>
      <p:sp>
        <p:nvSpPr>
          <p:cNvPr id="18" name="Shape 16"/>
          <p:cNvSpPr/>
          <p:nvPr/>
        </p:nvSpPr>
        <p:spPr>
          <a:xfrm>
            <a:off x="5509260" y="4206240"/>
            <a:ext cx="1188720" cy="292608"/>
          </a:xfrm>
          <a:prstGeom prst="roundRect">
            <a:avLst>
              <a:gd name="adj" fmla="val 50000"/>
            </a:avLst>
          </a:prstGeom>
          <a:solidFill>
            <a:srgbClr val="6B7280"/>
          </a:solidFill>
          <a:ln/>
        </p:spPr>
        <p:txBody>
          <a:bodyPr/>
          <a:lstStyle/>
          <a:p>
            <a:endParaRPr lang="en-US" sz="2400"/>
          </a:p>
        </p:txBody>
      </p:sp>
      <p:sp>
        <p:nvSpPr>
          <p:cNvPr id="19" name="Text 17"/>
          <p:cNvSpPr/>
          <p:nvPr/>
        </p:nvSpPr>
        <p:spPr>
          <a:xfrm>
            <a:off x="5509260" y="4206240"/>
            <a:ext cx="1188720"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Mainstream</a:t>
            </a:r>
            <a:endParaRPr lang="en-US" sz="1600" dirty="0"/>
          </a:p>
        </p:txBody>
      </p:sp>
      <p:sp>
        <p:nvSpPr>
          <p:cNvPr id="20" name="Shape 18"/>
          <p:cNvSpPr/>
          <p:nvPr/>
        </p:nvSpPr>
        <p:spPr>
          <a:xfrm>
            <a:off x="7875270" y="2194560"/>
            <a:ext cx="1188720" cy="292608"/>
          </a:xfrm>
          <a:prstGeom prst="roundRect">
            <a:avLst>
              <a:gd name="adj" fmla="val 50000"/>
            </a:avLst>
          </a:prstGeom>
          <a:solidFill>
            <a:srgbClr val="0E6E8C"/>
          </a:solidFill>
          <a:ln/>
        </p:spPr>
        <p:txBody>
          <a:bodyPr/>
          <a:lstStyle/>
          <a:p>
            <a:endParaRPr lang="en-US" sz="2400"/>
          </a:p>
        </p:txBody>
      </p:sp>
      <p:sp>
        <p:nvSpPr>
          <p:cNvPr id="21" name="Text 19"/>
          <p:cNvSpPr/>
          <p:nvPr/>
        </p:nvSpPr>
        <p:spPr>
          <a:xfrm>
            <a:off x="7875270" y="2194560"/>
            <a:ext cx="1188720"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Leaders</a:t>
            </a:r>
            <a:endParaRPr lang="en-US" sz="1600" dirty="0"/>
          </a:p>
        </p:txBody>
      </p:sp>
      <p:sp>
        <p:nvSpPr>
          <p:cNvPr id="22" name="Shape 20"/>
          <p:cNvSpPr/>
          <p:nvPr/>
        </p:nvSpPr>
        <p:spPr>
          <a:xfrm>
            <a:off x="10241280" y="2834640"/>
            <a:ext cx="1188720" cy="292608"/>
          </a:xfrm>
          <a:prstGeom prst="roundRect">
            <a:avLst>
              <a:gd name="adj" fmla="val 50000"/>
            </a:avLst>
          </a:prstGeom>
          <a:solidFill>
            <a:srgbClr val="C97A1E"/>
          </a:solidFill>
          <a:ln/>
        </p:spPr>
        <p:txBody>
          <a:bodyPr/>
          <a:lstStyle/>
          <a:p>
            <a:endParaRPr lang="en-US" sz="2400"/>
          </a:p>
        </p:txBody>
      </p:sp>
      <p:sp>
        <p:nvSpPr>
          <p:cNvPr id="23" name="Text 21"/>
          <p:cNvSpPr/>
          <p:nvPr/>
        </p:nvSpPr>
        <p:spPr>
          <a:xfrm>
            <a:off x="10241280" y="2834640"/>
            <a:ext cx="1188720"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Frontier</a:t>
            </a:r>
            <a:endParaRPr lang="en-US" sz="1600" dirty="0"/>
          </a:p>
        </p:txBody>
      </p:sp>
      <p:sp>
        <p:nvSpPr>
          <p:cNvPr id="24" name="Text 22"/>
          <p:cNvSpPr/>
          <p:nvPr/>
        </p:nvSpPr>
        <p:spPr>
          <a:xfrm>
            <a:off x="8138160" y="1417320"/>
            <a:ext cx="3566160" cy="457200"/>
          </a:xfrm>
          <a:prstGeom prst="rect">
            <a:avLst/>
          </a:prstGeom>
          <a:noFill/>
          <a:ln/>
        </p:spPr>
        <p:txBody>
          <a:bodyPr wrap="square" lIns="0" tIns="0" rIns="0" bIns="0" rtlCol="0" anchor="ctr"/>
          <a:lstStyle/>
          <a:p>
            <a:pPr marL="0" indent="0" algn="r">
              <a:buNone/>
            </a:pPr>
            <a:r>
              <a:rPr lang="en-US" sz="1600" i="1" dirty="0">
                <a:solidFill>
                  <a:srgbClr val="6B7280"/>
                </a:solidFill>
                <a:latin typeface="Calibri" pitchFamily="34" charset="0"/>
                <a:ea typeface="Calibri" pitchFamily="34" charset="-122"/>
                <a:cs typeface="Calibri" pitchFamily="34" charset="-120"/>
              </a:rPr>
              <a:t>Not most organizations - the frontier of adoption, not the average.</a:t>
            </a:r>
            <a:endParaRPr lang="en-US" sz="1600" dirty="0"/>
          </a:p>
        </p:txBody>
      </p:sp>
      <p:sp>
        <p:nvSpPr>
          <p:cNvPr id="25" name="Shape 23"/>
          <p:cNvSpPr/>
          <p:nvPr/>
        </p:nvSpPr>
        <p:spPr>
          <a:xfrm>
            <a:off x="685800" y="5933918"/>
            <a:ext cx="10744200" cy="457200"/>
          </a:xfrm>
          <a:prstGeom prst="rect">
            <a:avLst/>
          </a:prstGeom>
          <a:solidFill>
            <a:srgbClr val="F7F8FA"/>
          </a:solidFill>
          <a:ln/>
        </p:spPr>
        <p:txBody>
          <a:bodyPr/>
          <a:lstStyle/>
          <a:p>
            <a:endParaRPr lang="en-US" sz="2400"/>
          </a:p>
        </p:txBody>
      </p:sp>
      <p:sp>
        <p:nvSpPr>
          <p:cNvPr id="26" name="Text 24"/>
          <p:cNvSpPr/>
          <p:nvPr/>
        </p:nvSpPr>
        <p:spPr>
          <a:xfrm>
            <a:off x="685800" y="5751038"/>
            <a:ext cx="11384280" cy="457200"/>
          </a:xfrm>
          <a:prstGeom prst="rect">
            <a:avLst/>
          </a:prstGeom>
          <a:noFill/>
          <a:ln/>
        </p:spPr>
        <p:txBody>
          <a:bodyPr wrap="square" lIns="0" tIns="0" rIns="0" bIns="0" rtlCol="0" anchor="ctr"/>
          <a:lstStyle/>
          <a:p>
            <a:pPr marL="0" indent="0">
              <a:buNone/>
            </a:pPr>
            <a:r>
              <a:rPr lang="en-US" b="1" i="1" dirty="0">
                <a:solidFill>
                  <a:srgbClr val="1B2A4A"/>
                </a:solidFill>
                <a:latin typeface="Cambria" pitchFamily="34" charset="0"/>
                <a:ea typeface="Cambria" pitchFamily="34" charset="-122"/>
                <a:cs typeface="Cambria" pitchFamily="34" charset="-120"/>
              </a:rPr>
              <a:t>The competitive divide is between organizations experimenting with AI and those operationalizing it.</a:t>
            </a:r>
            <a:endParaRPr lang="en-US" dirty="0"/>
          </a:p>
        </p:txBody>
      </p:sp>
      <p:sp>
        <p:nvSpPr>
          <p:cNvPr id="27" name="Text 25"/>
          <p:cNvSpPr/>
          <p:nvPr/>
        </p:nvSpPr>
        <p:spPr>
          <a:xfrm>
            <a:off x="685800" y="6372830"/>
            <a:ext cx="11183112" cy="292608"/>
          </a:xfrm>
          <a:prstGeom prst="rect">
            <a:avLst/>
          </a:prstGeom>
          <a:noFill/>
          <a:ln/>
        </p:spPr>
        <p:txBody>
          <a:bodyPr wrap="square" lIns="0" tIns="0" rIns="0" bIns="0" rtlCol="0" anchor="ctr"/>
          <a:lstStyle/>
          <a:p>
            <a:pPr marL="0" indent="0">
              <a:lnSpc>
                <a:spcPct val="105000"/>
              </a:lnSpc>
              <a:buNone/>
            </a:pPr>
            <a:r>
              <a:rPr lang="en-US" sz="1100" i="1" dirty="0">
                <a:solidFill>
                  <a:srgbClr val="6B7280"/>
                </a:solidFill>
                <a:latin typeface="Calibri" pitchFamily="34" charset="0"/>
                <a:ea typeface="Calibri" pitchFamily="34" charset="-122"/>
                <a:cs typeface="Calibri" pitchFamily="34" charset="-120"/>
              </a:rPr>
              <a:t>Source: McKinsey, The State of AI 2025 - Agents, Innovation, and Transformation (Nov 2025).</a:t>
            </a:r>
            <a:endParaRPr lang="en-US" sz="1100" dirty="0"/>
          </a:p>
          <a:p>
            <a:pPr marL="0" indent="0">
              <a:lnSpc>
                <a:spcPct val="105000"/>
              </a:lnSpc>
              <a:buNone/>
            </a:pPr>
            <a:r>
              <a:rPr lang="en-US" sz="1100" i="1" dirty="0">
                <a:solidFill>
                  <a:srgbClr val="6B7280"/>
                </a:solidFill>
                <a:latin typeface="Calibri" pitchFamily="34" charset="0"/>
                <a:ea typeface="Calibri" pitchFamily="34" charset="-122"/>
                <a:cs typeface="Calibri" pitchFamily="34" charset="-120"/>
              </a:rPr>
              <a:t>Regulatory note: EU AI Act high-risk obligations for Annex III systems (credit scoring, underwriting) deferred from Aug 2026 to Dec 2027 under the 2026 Digital Omnibus - governance groundwork shouldn't wait.</a:t>
            </a:r>
            <a:endParaRPr lang="en-US" sz="1100" dirty="0"/>
          </a:p>
        </p:txBody>
      </p:sp>
      <p:sp>
        <p:nvSpPr>
          <p:cNvPr id="28" name="Text 26"/>
          <p:cNvSpPr/>
          <p:nvPr/>
        </p:nvSpPr>
        <p:spPr>
          <a:xfrm>
            <a:off x="11658600" y="320040"/>
            <a:ext cx="457200" cy="274320"/>
          </a:xfrm>
          <a:prstGeom prst="rect">
            <a:avLst/>
          </a:prstGeom>
          <a:noFill/>
          <a:ln/>
        </p:spPr>
        <p:txBody>
          <a:bodyPr wrap="square" lIns="0" tIns="0" rIns="0" bIns="0" rtlCol="0" anchor="ctr"/>
          <a:lstStyle/>
          <a:p>
            <a:pPr marL="0" indent="0" algn="r">
              <a:buNone/>
            </a:pPr>
            <a:r>
              <a:rPr lang="en-US" sz="1125" dirty="0">
                <a:solidFill>
                  <a:srgbClr val="C9CDD6"/>
                </a:solidFill>
                <a:latin typeface="Calibri" pitchFamily="34" charset="0"/>
                <a:ea typeface="Calibri" pitchFamily="34" charset="-122"/>
                <a:cs typeface="Calibri" pitchFamily="34" charset="-120"/>
              </a:rPr>
              <a:t>04</a:t>
            </a:r>
            <a:endParaRPr lang="en-US" sz="1125" dirty="0"/>
          </a:p>
        </p:txBody>
      </p:sp>
    </p:spTree>
    <p:extLst>
      <p:ext uri="{BB962C8B-B14F-4D97-AF65-F5344CB8AC3E}">
        <p14:creationId xmlns:p14="http://schemas.microsoft.com/office/powerpoint/2010/main" val="3188756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buNone/>
            </a:pPr>
            <a:r>
              <a:rPr lang="en-US" sz="1500" b="1" kern="0" spc="200" dirty="0">
                <a:solidFill>
                  <a:srgbClr val="0E6E8C"/>
                </a:solidFill>
                <a:latin typeface="Calibri" pitchFamily="34" charset="0"/>
                <a:ea typeface="Calibri" pitchFamily="34" charset="-122"/>
                <a:cs typeface="Calibri" pitchFamily="34" charset="-120"/>
              </a:rPr>
              <a:t>THE FALSE COMFORT OF STANDING STILL</a:t>
            </a:r>
            <a:endParaRPr lang="en-US" sz="1500" dirty="0"/>
          </a:p>
        </p:txBody>
      </p:sp>
      <p:sp>
        <p:nvSpPr>
          <p:cNvPr id="3" name="Text 1"/>
          <p:cNvSpPr/>
          <p:nvPr/>
        </p:nvSpPr>
        <p:spPr>
          <a:xfrm>
            <a:off x="502920" y="612648"/>
            <a:ext cx="11155680" cy="868680"/>
          </a:xfrm>
          <a:prstGeom prst="rect">
            <a:avLst/>
          </a:prstGeom>
          <a:noFill/>
          <a:ln/>
        </p:spPr>
        <p:txBody>
          <a:bodyPr wrap="square" lIns="0" tIns="0" rIns="0" bIns="0" rtlCol="0" anchor="t"/>
          <a:lstStyle/>
          <a:p>
            <a:pPr marL="0" indent="0">
              <a:lnSpc>
                <a:spcPct val="102000"/>
              </a:lnSpc>
              <a:buNone/>
            </a:pPr>
            <a:r>
              <a:rPr lang="en-US" sz="3250" b="1" dirty="0">
                <a:solidFill>
                  <a:srgbClr val="1B2A4A"/>
                </a:solidFill>
                <a:latin typeface="Cambria" pitchFamily="34" charset="0"/>
                <a:ea typeface="Cambria" pitchFamily="34" charset="-122"/>
                <a:cs typeface="Cambria" pitchFamily="34" charset="-120"/>
              </a:rPr>
              <a:t>Not adopting AI does not preserve the status quo</a:t>
            </a:r>
            <a:endParaRPr lang="en-US" sz="3250" dirty="0"/>
          </a:p>
        </p:txBody>
      </p:sp>
      <p:sp>
        <p:nvSpPr>
          <p:cNvPr id="4" name="Shape 2"/>
          <p:cNvSpPr/>
          <p:nvPr/>
        </p:nvSpPr>
        <p:spPr>
          <a:xfrm>
            <a:off x="502920" y="3063240"/>
            <a:ext cx="1417320" cy="731520"/>
          </a:xfrm>
          <a:prstGeom prst="roundRect">
            <a:avLst>
              <a:gd name="adj" fmla="val 7500"/>
            </a:avLst>
          </a:prstGeom>
          <a:solidFill>
            <a:srgbClr val="1B2A4A"/>
          </a:solidFill>
          <a:ln w="12700">
            <a:solidFill>
              <a:srgbClr val="1B2A4A"/>
            </a:solidFill>
            <a:prstDash val="solid"/>
          </a:ln>
        </p:spPr>
        <p:txBody>
          <a:bodyPr/>
          <a:lstStyle/>
          <a:p>
            <a:endParaRPr lang="en-US" sz="2400"/>
          </a:p>
        </p:txBody>
      </p:sp>
      <p:sp>
        <p:nvSpPr>
          <p:cNvPr id="5" name="Text 3"/>
          <p:cNvSpPr/>
          <p:nvPr/>
        </p:nvSpPr>
        <p:spPr>
          <a:xfrm>
            <a:off x="539496" y="3063240"/>
            <a:ext cx="1344168"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TODAY</a:t>
            </a:r>
            <a:endParaRPr lang="en-US" sz="2000" dirty="0"/>
          </a:p>
        </p:txBody>
      </p:sp>
      <p:sp>
        <p:nvSpPr>
          <p:cNvPr id="6" name="Shape 4"/>
          <p:cNvSpPr/>
          <p:nvPr/>
        </p:nvSpPr>
        <p:spPr>
          <a:xfrm>
            <a:off x="1920240" y="3429000"/>
            <a:ext cx="502920" cy="0"/>
          </a:xfrm>
          <a:prstGeom prst="line">
            <a:avLst/>
          </a:prstGeom>
          <a:noFill/>
          <a:ln w="15875">
            <a:solidFill>
              <a:srgbClr val="C9CDD6"/>
            </a:solidFill>
            <a:prstDash val="solid"/>
          </a:ln>
        </p:spPr>
        <p:txBody>
          <a:bodyPr/>
          <a:lstStyle/>
          <a:p>
            <a:endParaRPr lang="en-US" sz="2400"/>
          </a:p>
        </p:txBody>
      </p:sp>
      <p:sp>
        <p:nvSpPr>
          <p:cNvPr id="7" name="Shape 5"/>
          <p:cNvSpPr/>
          <p:nvPr/>
        </p:nvSpPr>
        <p:spPr>
          <a:xfrm>
            <a:off x="2468880" y="1600199"/>
            <a:ext cx="1572768" cy="764771"/>
          </a:xfrm>
          <a:prstGeom prst="roundRect">
            <a:avLst>
              <a:gd name="adj" fmla="val 10000"/>
            </a:avLst>
          </a:prstGeom>
          <a:solidFill>
            <a:srgbClr val="F7F8FA"/>
          </a:solidFill>
          <a:ln w="12700">
            <a:solidFill>
              <a:srgbClr val="C9CDD6"/>
            </a:solidFill>
            <a:prstDash val="solid"/>
          </a:ln>
        </p:spPr>
        <p:txBody>
          <a:bodyPr/>
          <a:lstStyle/>
          <a:p>
            <a:endParaRPr lang="en-US" sz="2400"/>
          </a:p>
        </p:txBody>
      </p:sp>
      <p:sp>
        <p:nvSpPr>
          <p:cNvPr id="8" name="Text 6"/>
          <p:cNvSpPr/>
          <p:nvPr/>
        </p:nvSpPr>
        <p:spPr>
          <a:xfrm>
            <a:off x="2468880" y="1319230"/>
            <a:ext cx="1572768" cy="210312"/>
          </a:xfrm>
          <a:prstGeom prst="rect">
            <a:avLst/>
          </a:prstGeom>
          <a:noFill/>
          <a:ln/>
        </p:spPr>
        <p:txBody>
          <a:bodyPr wrap="square" lIns="0" tIns="0" rIns="0" bIns="0" rtlCol="0" anchor="ctr"/>
          <a:lstStyle/>
          <a:p>
            <a:pPr marL="0" indent="0" algn="ctr">
              <a:buNone/>
            </a:pPr>
            <a:r>
              <a:rPr lang="en-US" sz="1600" b="1" dirty="0">
                <a:solidFill>
                  <a:srgbClr val="6B7280"/>
                </a:solidFill>
                <a:latin typeface="Calibri" pitchFamily="34" charset="0"/>
                <a:ea typeface="Calibri" pitchFamily="34" charset="-122"/>
                <a:cs typeface="Calibri" pitchFamily="34" charset="-120"/>
              </a:rPr>
              <a:t>Path A</a:t>
            </a:r>
            <a:endParaRPr lang="en-US" sz="1600" dirty="0"/>
          </a:p>
        </p:txBody>
      </p:sp>
      <p:sp>
        <p:nvSpPr>
          <p:cNvPr id="9" name="Text 7"/>
          <p:cNvSpPr/>
          <p:nvPr/>
        </p:nvSpPr>
        <p:spPr>
          <a:xfrm>
            <a:off x="2514599" y="1819655"/>
            <a:ext cx="1456267" cy="497101"/>
          </a:xfrm>
          <a:prstGeom prst="rect">
            <a:avLst/>
          </a:prstGeom>
          <a:noFill/>
          <a:ln/>
        </p:spPr>
        <p:txBody>
          <a:bodyPr wrap="square" lIns="0" tIns="0" rIns="0" bIns="0" rtlCol="0" anchor="t"/>
          <a:lstStyle/>
          <a:p>
            <a:pPr marL="0" indent="0" algn="ctr">
              <a:buNone/>
            </a:pPr>
            <a:r>
              <a:rPr lang="en-US" sz="1400" b="1" dirty="0">
                <a:solidFill>
                  <a:srgbClr val="1B2A4A"/>
                </a:solidFill>
                <a:latin typeface="Calibri" pitchFamily="34" charset="0"/>
                <a:ea typeface="Calibri" pitchFamily="34" charset="-122"/>
                <a:cs typeface="Calibri" pitchFamily="34" charset="-120"/>
              </a:rPr>
              <a:t>Do not formally</a:t>
            </a:r>
            <a:endParaRPr lang="en-US" sz="1400" dirty="0"/>
          </a:p>
          <a:p>
            <a:pPr marL="0" indent="0" algn="ctr">
              <a:buNone/>
            </a:pPr>
            <a:r>
              <a:rPr lang="en-US" sz="1400" b="1" dirty="0">
                <a:solidFill>
                  <a:srgbClr val="1B2A4A"/>
                </a:solidFill>
                <a:latin typeface="Calibri" pitchFamily="34" charset="0"/>
                <a:ea typeface="Calibri" pitchFamily="34" charset="-122"/>
                <a:cs typeface="Calibri" pitchFamily="34" charset="-120"/>
              </a:rPr>
              <a:t>adopt AI</a:t>
            </a:r>
            <a:endParaRPr lang="en-US" sz="1400" dirty="0"/>
          </a:p>
        </p:txBody>
      </p:sp>
      <p:sp>
        <p:nvSpPr>
          <p:cNvPr id="10" name="Shape 8"/>
          <p:cNvSpPr/>
          <p:nvPr/>
        </p:nvSpPr>
        <p:spPr>
          <a:xfrm>
            <a:off x="4206240" y="1673352"/>
            <a:ext cx="2212848" cy="585216"/>
          </a:xfrm>
          <a:prstGeom prst="roundRect">
            <a:avLst>
              <a:gd name="adj" fmla="val 9375"/>
            </a:avLst>
          </a:prstGeom>
          <a:solidFill>
            <a:srgbClr val="FFFFFF"/>
          </a:solidFill>
          <a:ln w="12700">
            <a:solidFill>
              <a:srgbClr val="C9CDD6"/>
            </a:solidFill>
            <a:prstDash val="solid"/>
          </a:ln>
        </p:spPr>
        <p:txBody>
          <a:bodyPr/>
          <a:lstStyle/>
          <a:p>
            <a:endParaRPr lang="en-US" sz="2400"/>
          </a:p>
        </p:txBody>
      </p:sp>
      <p:sp>
        <p:nvSpPr>
          <p:cNvPr id="11" name="Text 9"/>
          <p:cNvSpPr/>
          <p:nvPr/>
        </p:nvSpPr>
        <p:spPr>
          <a:xfrm>
            <a:off x="4242816" y="1673352"/>
            <a:ext cx="2139696" cy="585216"/>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Capability debt</a:t>
            </a:r>
            <a:endParaRPr lang="en-US" sz="1400" dirty="0"/>
          </a:p>
        </p:txBody>
      </p:sp>
      <p:sp>
        <p:nvSpPr>
          <p:cNvPr id="12" name="Shape 10"/>
          <p:cNvSpPr/>
          <p:nvPr/>
        </p:nvSpPr>
        <p:spPr>
          <a:xfrm>
            <a:off x="6446520" y="1865376"/>
            <a:ext cx="146304" cy="201168"/>
          </a:xfrm>
          <a:prstGeom prst="chevron">
            <a:avLst/>
          </a:prstGeom>
          <a:solidFill>
            <a:srgbClr val="C9CDD6"/>
          </a:solidFill>
          <a:ln/>
        </p:spPr>
        <p:txBody>
          <a:bodyPr/>
          <a:lstStyle/>
          <a:p>
            <a:endParaRPr lang="en-US" sz="2400"/>
          </a:p>
        </p:txBody>
      </p:sp>
      <p:sp>
        <p:nvSpPr>
          <p:cNvPr id="13" name="Shape 11"/>
          <p:cNvSpPr/>
          <p:nvPr/>
        </p:nvSpPr>
        <p:spPr>
          <a:xfrm>
            <a:off x="6620256" y="1673352"/>
            <a:ext cx="2212848" cy="585216"/>
          </a:xfrm>
          <a:prstGeom prst="roundRect">
            <a:avLst>
              <a:gd name="adj" fmla="val 9375"/>
            </a:avLst>
          </a:prstGeom>
          <a:solidFill>
            <a:srgbClr val="FFFFFF"/>
          </a:solidFill>
          <a:ln w="12700">
            <a:solidFill>
              <a:srgbClr val="C9CDD6"/>
            </a:solidFill>
            <a:prstDash val="solid"/>
          </a:ln>
        </p:spPr>
        <p:txBody>
          <a:bodyPr/>
          <a:lstStyle/>
          <a:p>
            <a:endParaRPr lang="en-US" sz="2400"/>
          </a:p>
        </p:txBody>
      </p:sp>
      <p:sp>
        <p:nvSpPr>
          <p:cNvPr id="14" name="Text 12"/>
          <p:cNvSpPr/>
          <p:nvPr/>
        </p:nvSpPr>
        <p:spPr>
          <a:xfrm>
            <a:off x="6656832" y="1673352"/>
            <a:ext cx="2139696" cy="585216"/>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Skills gap</a:t>
            </a:r>
            <a:endParaRPr lang="en-US" sz="1400" dirty="0"/>
          </a:p>
        </p:txBody>
      </p:sp>
      <p:sp>
        <p:nvSpPr>
          <p:cNvPr id="15" name="Shape 13"/>
          <p:cNvSpPr/>
          <p:nvPr/>
        </p:nvSpPr>
        <p:spPr>
          <a:xfrm>
            <a:off x="8860536" y="1865376"/>
            <a:ext cx="146304" cy="201168"/>
          </a:xfrm>
          <a:prstGeom prst="chevron">
            <a:avLst/>
          </a:prstGeom>
          <a:solidFill>
            <a:srgbClr val="C9CDD6"/>
          </a:solidFill>
          <a:ln/>
        </p:spPr>
        <p:txBody>
          <a:bodyPr/>
          <a:lstStyle/>
          <a:p>
            <a:endParaRPr lang="en-US" sz="2400"/>
          </a:p>
        </p:txBody>
      </p:sp>
      <p:sp>
        <p:nvSpPr>
          <p:cNvPr id="16" name="Shape 14"/>
          <p:cNvSpPr/>
          <p:nvPr/>
        </p:nvSpPr>
        <p:spPr>
          <a:xfrm>
            <a:off x="9034272" y="1673352"/>
            <a:ext cx="2212848" cy="585216"/>
          </a:xfrm>
          <a:prstGeom prst="roundRect">
            <a:avLst>
              <a:gd name="adj" fmla="val 9375"/>
            </a:avLst>
          </a:prstGeom>
          <a:solidFill>
            <a:srgbClr val="FFFFFF"/>
          </a:solidFill>
          <a:ln w="12700">
            <a:solidFill>
              <a:srgbClr val="C9CDD6"/>
            </a:solidFill>
            <a:prstDash val="solid"/>
          </a:ln>
        </p:spPr>
        <p:txBody>
          <a:bodyPr/>
          <a:lstStyle/>
          <a:p>
            <a:endParaRPr lang="en-US" sz="2400"/>
          </a:p>
        </p:txBody>
      </p:sp>
      <p:sp>
        <p:nvSpPr>
          <p:cNvPr id="17" name="Text 15"/>
          <p:cNvSpPr/>
          <p:nvPr/>
        </p:nvSpPr>
        <p:spPr>
          <a:xfrm>
            <a:off x="9070848" y="1673352"/>
            <a:ext cx="2139696" cy="585216"/>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Productivity</a:t>
            </a:r>
            <a:endParaRPr lang="en-US" sz="1400" dirty="0"/>
          </a:p>
          <a:p>
            <a:pPr marL="0" indent="0" algn="ctr">
              <a:buNone/>
            </a:pPr>
            <a:r>
              <a:rPr lang="en-US" sz="1400" b="1" dirty="0">
                <a:solidFill>
                  <a:srgbClr val="1B2A4A"/>
                </a:solidFill>
                <a:latin typeface="Calibri" pitchFamily="34" charset="0"/>
                <a:ea typeface="Calibri" pitchFamily="34" charset="-122"/>
                <a:cs typeface="Calibri" pitchFamily="34" charset="-120"/>
              </a:rPr>
              <a:t>opportunity cost</a:t>
            </a:r>
            <a:endParaRPr lang="en-US" sz="1400" dirty="0"/>
          </a:p>
        </p:txBody>
      </p:sp>
      <p:sp>
        <p:nvSpPr>
          <p:cNvPr id="19" name="Shape 17"/>
          <p:cNvSpPr/>
          <p:nvPr/>
        </p:nvSpPr>
        <p:spPr>
          <a:xfrm>
            <a:off x="2468880" y="3063239"/>
            <a:ext cx="1572768" cy="764771"/>
          </a:xfrm>
          <a:prstGeom prst="roundRect">
            <a:avLst>
              <a:gd name="adj" fmla="val 10000"/>
            </a:avLst>
          </a:prstGeom>
          <a:solidFill>
            <a:srgbClr val="F4E3CC"/>
          </a:solidFill>
          <a:ln w="12700">
            <a:solidFill>
              <a:srgbClr val="C97A1E"/>
            </a:solidFill>
            <a:prstDash val="solid"/>
          </a:ln>
        </p:spPr>
        <p:txBody>
          <a:bodyPr/>
          <a:lstStyle/>
          <a:p>
            <a:endParaRPr lang="en-US" sz="2400"/>
          </a:p>
        </p:txBody>
      </p:sp>
      <p:sp>
        <p:nvSpPr>
          <p:cNvPr id="20" name="Text 18"/>
          <p:cNvSpPr/>
          <p:nvPr/>
        </p:nvSpPr>
        <p:spPr>
          <a:xfrm>
            <a:off x="2423160" y="2804713"/>
            <a:ext cx="1572768" cy="210312"/>
          </a:xfrm>
          <a:prstGeom prst="rect">
            <a:avLst/>
          </a:prstGeom>
          <a:noFill/>
          <a:ln/>
        </p:spPr>
        <p:txBody>
          <a:bodyPr wrap="square" lIns="0" tIns="0" rIns="0" bIns="0" rtlCol="0" anchor="ctr"/>
          <a:lstStyle/>
          <a:p>
            <a:pPr marL="0" indent="0" algn="ctr">
              <a:buNone/>
            </a:pPr>
            <a:r>
              <a:rPr lang="en-US" sz="1600" b="1" dirty="0">
                <a:solidFill>
                  <a:srgbClr val="C97A1E"/>
                </a:solidFill>
                <a:latin typeface="Calibri" pitchFamily="34" charset="0"/>
                <a:ea typeface="Calibri" pitchFamily="34" charset="-122"/>
                <a:cs typeface="Calibri" pitchFamily="34" charset="-120"/>
              </a:rPr>
              <a:t>Path B</a:t>
            </a:r>
            <a:endParaRPr lang="en-US" sz="1600" dirty="0"/>
          </a:p>
        </p:txBody>
      </p:sp>
      <p:sp>
        <p:nvSpPr>
          <p:cNvPr id="21" name="Text 19"/>
          <p:cNvSpPr/>
          <p:nvPr/>
        </p:nvSpPr>
        <p:spPr>
          <a:xfrm>
            <a:off x="2514599" y="3282695"/>
            <a:ext cx="1456267" cy="497101"/>
          </a:xfrm>
          <a:prstGeom prst="rect">
            <a:avLst/>
          </a:prstGeom>
          <a:noFill/>
          <a:ln/>
        </p:spPr>
        <p:txBody>
          <a:bodyPr wrap="square" lIns="0" tIns="0" rIns="0" bIns="0" rtlCol="0" anchor="t"/>
          <a:lstStyle/>
          <a:p>
            <a:pPr marL="0" indent="0" algn="ctr">
              <a:buNone/>
            </a:pPr>
            <a:r>
              <a:rPr lang="en-US" sz="1400" b="1" dirty="0">
                <a:solidFill>
                  <a:srgbClr val="1B2A4A"/>
                </a:solidFill>
                <a:latin typeface="Calibri" pitchFamily="34" charset="0"/>
                <a:ea typeface="Calibri" pitchFamily="34" charset="-122"/>
                <a:cs typeface="Calibri" pitchFamily="34" charset="-120"/>
              </a:rPr>
              <a:t>Employees adopt</a:t>
            </a:r>
            <a:endParaRPr lang="en-US" sz="1400" dirty="0"/>
          </a:p>
          <a:p>
            <a:pPr marL="0" indent="0" algn="ctr">
              <a:buNone/>
            </a:pPr>
            <a:r>
              <a:rPr lang="en-US" sz="1400" b="1" dirty="0">
                <a:solidFill>
                  <a:srgbClr val="1B2A4A"/>
                </a:solidFill>
                <a:latin typeface="Calibri" pitchFamily="34" charset="0"/>
                <a:ea typeface="Calibri" pitchFamily="34" charset="-122"/>
                <a:cs typeface="Calibri" pitchFamily="34" charset="-120"/>
              </a:rPr>
              <a:t>AI themselves</a:t>
            </a:r>
            <a:endParaRPr lang="en-US" sz="1400" dirty="0"/>
          </a:p>
        </p:txBody>
      </p:sp>
      <p:sp>
        <p:nvSpPr>
          <p:cNvPr id="22" name="Shape 20"/>
          <p:cNvSpPr/>
          <p:nvPr/>
        </p:nvSpPr>
        <p:spPr>
          <a:xfrm>
            <a:off x="4206240" y="3136392"/>
            <a:ext cx="1609344" cy="585216"/>
          </a:xfrm>
          <a:prstGeom prst="roundRect">
            <a:avLst>
              <a:gd name="adj" fmla="val 9375"/>
            </a:avLst>
          </a:prstGeom>
          <a:solidFill>
            <a:srgbClr val="FFFFFF"/>
          </a:solidFill>
          <a:ln w="12700">
            <a:solidFill>
              <a:srgbClr val="C97A1E"/>
            </a:solidFill>
            <a:prstDash val="solid"/>
          </a:ln>
        </p:spPr>
        <p:txBody>
          <a:bodyPr/>
          <a:lstStyle/>
          <a:p>
            <a:endParaRPr lang="en-US" sz="2400"/>
          </a:p>
        </p:txBody>
      </p:sp>
      <p:sp>
        <p:nvSpPr>
          <p:cNvPr id="23" name="Text 21"/>
          <p:cNvSpPr/>
          <p:nvPr/>
        </p:nvSpPr>
        <p:spPr>
          <a:xfrm>
            <a:off x="4242816" y="3136392"/>
            <a:ext cx="1536192" cy="585216"/>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Shadow AI</a:t>
            </a:r>
            <a:endParaRPr lang="en-US" sz="1400" dirty="0"/>
          </a:p>
        </p:txBody>
      </p:sp>
      <p:sp>
        <p:nvSpPr>
          <p:cNvPr id="24" name="Shape 22"/>
          <p:cNvSpPr/>
          <p:nvPr/>
        </p:nvSpPr>
        <p:spPr>
          <a:xfrm>
            <a:off x="5843016" y="3328416"/>
            <a:ext cx="146304" cy="201168"/>
          </a:xfrm>
          <a:prstGeom prst="chevron">
            <a:avLst/>
          </a:prstGeom>
          <a:solidFill>
            <a:srgbClr val="C97A1E"/>
          </a:solidFill>
          <a:ln/>
        </p:spPr>
        <p:txBody>
          <a:bodyPr/>
          <a:lstStyle/>
          <a:p>
            <a:endParaRPr lang="en-US" sz="2400"/>
          </a:p>
        </p:txBody>
      </p:sp>
      <p:sp>
        <p:nvSpPr>
          <p:cNvPr id="25" name="Shape 23"/>
          <p:cNvSpPr/>
          <p:nvPr/>
        </p:nvSpPr>
        <p:spPr>
          <a:xfrm>
            <a:off x="6016752" y="3136392"/>
            <a:ext cx="1609344" cy="585216"/>
          </a:xfrm>
          <a:prstGeom prst="roundRect">
            <a:avLst>
              <a:gd name="adj" fmla="val 9375"/>
            </a:avLst>
          </a:prstGeom>
          <a:solidFill>
            <a:srgbClr val="FFFFFF"/>
          </a:solidFill>
          <a:ln w="12700">
            <a:solidFill>
              <a:srgbClr val="C97A1E"/>
            </a:solidFill>
            <a:prstDash val="solid"/>
          </a:ln>
        </p:spPr>
        <p:txBody>
          <a:bodyPr/>
          <a:lstStyle/>
          <a:p>
            <a:endParaRPr lang="en-US" sz="2400"/>
          </a:p>
        </p:txBody>
      </p:sp>
      <p:sp>
        <p:nvSpPr>
          <p:cNvPr id="26" name="Text 24"/>
          <p:cNvSpPr/>
          <p:nvPr/>
        </p:nvSpPr>
        <p:spPr>
          <a:xfrm>
            <a:off x="6053328" y="3136392"/>
            <a:ext cx="1536192" cy="585216"/>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Data governance</a:t>
            </a:r>
            <a:endParaRPr lang="en-US" sz="1400" dirty="0"/>
          </a:p>
          <a:p>
            <a:pPr marL="0" indent="0" algn="ctr">
              <a:buNone/>
            </a:pPr>
            <a:r>
              <a:rPr lang="en-US" sz="1400" b="1" dirty="0">
                <a:solidFill>
                  <a:srgbClr val="1B2A4A"/>
                </a:solidFill>
                <a:latin typeface="Calibri" pitchFamily="34" charset="0"/>
                <a:ea typeface="Calibri" pitchFamily="34" charset="-122"/>
                <a:cs typeface="Calibri" pitchFamily="34" charset="-120"/>
              </a:rPr>
              <a:t>gap</a:t>
            </a:r>
            <a:endParaRPr lang="en-US" sz="1400" dirty="0"/>
          </a:p>
        </p:txBody>
      </p:sp>
      <p:sp>
        <p:nvSpPr>
          <p:cNvPr id="27" name="Shape 25"/>
          <p:cNvSpPr/>
          <p:nvPr/>
        </p:nvSpPr>
        <p:spPr>
          <a:xfrm>
            <a:off x="7653528" y="3328416"/>
            <a:ext cx="146304" cy="201168"/>
          </a:xfrm>
          <a:prstGeom prst="chevron">
            <a:avLst/>
          </a:prstGeom>
          <a:solidFill>
            <a:srgbClr val="C97A1E"/>
          </a:solidFill>
          <a:ln/>
        </p:spPr>
        <p:txBody>
          <a:bodyPr/>
          <a:lstStyle/>
          <a:p>
            <a:endParaRPr lang="en-US" sz="2400"/>
          </a:p>
        </p:txBody>
      </p:sp>
      <p:sp>
        <p:nvSpPr>
          <p:cNvPr id="28" name="Shape 26"/>
          <p:cNvSpPr/>
          <p:nvPr/>
        </p:nvSpPr>
        <p:spPr>
          <a:xfrm>
            <a:off x="7827264" y="3136392"/>
            <a:ext cx="1609344" cy="585216"/>
          </a:xfrm>
          <a:prstGeom prst="roundRect">
            <a:avLst>
              <a:gd name="adj" fmla="val 9375"/>
            </a:avLst>
          </a:prstGeom>
          <a:solidFill>
            <a:srgbClr val="FFFFFF"/>
          </a:solidFill>
          <a:ln w="12700">
            <a:solidFill>
              <a:srgbClr val="C97A1E"/>
            </a:solidFill>
            <a:prstDash val="solid"/>
          </a:ln>
        </p:spPr>
        <p:txBody>
          <a:bodyPr/>
          <a:lstStyle/>
          <a:p>
            <a:endParaRPr lang="en-US" sz="2400"/>
          </a:p>
        </p:txBody>
      </p:sp>
      <p:sp>
        <p:nvSpPr>
          <p:cNvPr id="29" name="Text 27"/>
          <p:cNvSpPr/>
          <p:nvPr/>
        </p:nvSpPr>
        <p:spPr>
          <a:xfrm>
            <a:off x="7863840" y="3136392"/>
            <a:ext cx="1536192" cy="585216"/>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Loss of</a:t>
            </a:r>
            <a:endParaRPr lang="en-US" sz="1400" dirty="0"/>
          </a:p>
          <a:p>
            <a:pPr marL="0" indent="0" algn="ctr">
              <a:buNone/>
            </a:pPr>
            <a:r>
              <a:rPr lang="en-US" sz="1400" b="1" dirty="0">
                <a:solidFill>
                  <a:srgbClr val="1B2A4A"/>
                </a:solidFill>
                <a:latin typeface="Calibri" pitchFamily="34" charset="0"/>
                <a:ea typeface="Calibri" pitchFamily="34" charset="-122"/>
                <a:cs typeface="Calibri" pitchFamily="34" charset="-120"/>
              </a:rPr>
              <a:t>observability</a:t>
            </a:r>
            <a:endParaRPr lang="en-US" sz="1400" dirty="0"/>
          </a:p>
        </p:txBody>
      </p:sp>
      <p:sp>
        <p:nvSpPr>
          <p:cNvPr id="30" name="Shape 28"/>
          <p:cNvSpPr/>
          <p:nvPr/>
        </p:nvSpPr>
        <p:spPr>
          <a:xfrm>
            <a:off x="9464040" y="3328416"/>
            <a:ext cx="146304" cy="201168"/>
          </a:xfrm>
          <a:prstGeom prst="chevron">
            <a:avLst/>
          </a:prstGeom>
          <a:solidFill>
            <a:srgbClr val="C97A1E"/>
          </a:solidFill>
          <a:ln/>
        </p:spPr>
        <p:txBody>
          <a:bodyPr/>
          <a:lstStyle/>
          <a:p>
            <a:endParaRPr lang="en-US" sz="2400"/>
          </a:p>
        </p:txBody>
      </p:sp>
      <p:sp>
        <p:nvSpPr>
          <p:cNvPr id="31" name="Shape 29"/>
          <p:cNvSpPr/>
          <p:nvPr/>
        </p:nvSpPr>
        <p:spPr>
          <a:xfrm>
            <a:off x="9637776" y="3136392"/>
            <a:ext cx="1609344" cy="585216"/>
          </a:xfrm>
          <a:prstGeom prst="roundRect">
            <a:avLst>
              <a:gd name="adj" fmla="val 9375"/>
            </a:avLst>
          </a:prstGeom>
          <a:solidFill>
            <a:srgbClr val="FFFFFF"/>
          </a:solidFill>
          <a:ln w="12700">
            <a:solidFill>
              <a:srgbClr val="C97A1E"/>
            </a:solidFill>
            <a:prstDash val="solid"/>
          </a:ln>
        </p:spPr>
        <p:txBody>
          <a:bodyPr/>
          <a:lstStyle/>
          <a:p>
            <a:endParaRPr lang="en-US" sz="2400"/>
          </a:p>
        </p:txBody>
      </p:sp>
      <p:sp>
        <p:nvSpPr>
          <p:cNvPr id="32" name="Text 30"/>
          <p:cNvSpPr/>
          <p:nvPr/>
        </p:nvSpPr>
        <p:spPr>
          <a:xfrm>
            <a:off x="9674352" y="3136392"/>
            <a:ext cx="1536192" cy="585216"/>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Loss of</a:t>
            </a:r>
            <a:endParaRPr lang="en-US" sz="1400" dirty="0"/>
          </a:p>
          <a:p>
            <a:pPr marL="0" indent="0" algn="ctr">
              <a:buNone/>
            </a:pPr>
            <a:r>
              <a:rPr lang="en-US" sz="1400" b="1" dirty="0">
                <a:solidFill>
                  <a:srgbClr val="1B2A4A"/>
                </a:solidFill>
                <a:latin typeface="Calibri" pitchFamily="34" charset="0"/>
                <a:ea typeface="Calibri" pitchFamily="34" charset="-122"/>
                <a:cs typeface="Calibri" pitchFamily="34" charset="-120"/>
              </a:rPr>
              <a:t>auditability</a:t>
            </a:r>
            <a:endParaRPr lang="en-US" sz="1400" dirty="0"/>
          </a:p>
        </p:txBody>
      </p:sp>
      <p:sp>
        <p:nvSpPr>
          <p:cNvPr id="34" name="Shape 32"/>
          <p:cNvSpPr/>
          <p:nvPr/>
        </p:nvSpPr>
        <p:spPr>
          <a:xfrm>
            <a:off x="2468880" y="4526279"/>
            <a:ext cx="1572768" cy="764771"/>
          </a:xfrm>
          <a:prstGeom prst="roundRect">
            <a:avLst>
              <a:gd name="adj" fmla="val 10000"/>
            </a:avLst>
          </a:prstGeom>
          <a:solidFill>
            <a:srgbClr val="D8ECF1"/>
          </a:solidFill>
          <a:ln w="12700">
            <a:solidFill>
              <a:srgbClr val="0E6E8C"/>
            </a:solidFill>
            <a:prstDash val="solid"/>
          </a:ln>
        </p:spPr>
        <p:txBody>
          <a:bodyPr/>
          <a:lstStyle/>
          <a:p>
            <a:endParaRPr lang="en-US" sz="2400"/>
          </a:p>
        </p:txBody>
      </p:sp>
      <p:sp>
        <p:nvSpPr>
          <p:cNvPr id="35" name="Text 33"/>
          <p:cNvSpPr/>
          <p:nvPr/>
        </p:nvSpPr>
        <p:spPr>
          <a:xfrm>
            <a:off x="2456348" y="4097759"/>
            <a:ext cx="1572768" cy="210312"/>
          </a:xfrm>
          <a:prstGeom prst="rect">
            <a:avLst/>
          </a:prstGeom>
          <a:noFill/>
          <a:ln/>
        </p:spPr>
        <p:txBody>
          <a:bodyPr wrap="square" lIns="0" tIns="0" rIns="0" bIns="0" rtlCol="0" anchor="ctr"/>
          <a:lstStyle/>
          <a:p>
            <a:pPr marL="0" indent="0" algn="ctr">
              <a:buNone/>
            </a:pPr>
            <a:r>
              <a:rPr lang="en-US" sz="1600" b="1" dirty="0">
                <a:solidFill>
                  <a:srgbClr val="0E6E8C"/>
                </a:solidFill>
                <a:latin typeface="Calibri" pitchFamily="34" charset="0"/>
                <a:ea typeface="Calibri" pitchFamily="34" charset="-122"/>
                <a:cs typeface="Calibri" pitchFamily="34" charset="-120"/>
              </a:rPr>
              <a:t>Path C</a:t>
            </a:r>
            <a:endParaRPr lang="en-US" sz="1600" dirty="0"/>
          </a:p>
        </p:txBody>
      </p:sp>
      <p:sp>
        <p:nvSpPr>
          <p:cNvPr id="36" name="Text 34"/>
          <p:cNvSpPr/>
          <p:nvPr/>
        </p:nvSpPr>
        <p:spPr>
          <a:xfrm>
            <a:off x="2514599" y="4745735"/>
            <a:ext cx="1456267" cy="497101"/>
          </a:xfrm>
          <a:prstGeom prst="rect">
            <a:avLst/>
          </a:prstGeom>
          <a:noFill/>
          <a:ln/>
        </p:spPr>
        <p:txBody>
          <a:bodyPr wrap="square" lIns="0" tIns="0" rIns="0" bIns="0" rtlCol="0" anchor="t"/>
          <a:lstStyle/>
          <a:p>
            <a:pPr marL="0" indent="0" algn="ctr">
              <a:buNone/>
            </a:pPr>
            <a:r>
              <a:rPr lang="en-US" sz="1400" b="1" dirty="0">
                <a:solidFill>
                  <a:srgbClr val="1B2A4A"/>
                </a:solidFill>
                <a:latin typeface="Calibri" pitchFamily="34" charset="0"/>
                <a:ea typeface="Calibri" pitchFamily="34" charset="-122"/>
                <a:cs typeface="Calibri" pitchFamily="34" charset="-120"/>
              </a:rPr>
              <a:t>Governed</a:t>
            </a:r>
            <a:endParaRPr lang="en-US" sz="1400" dirty="0"/>
          </a:p>
          <a:p>
            <a:pPr marL="0" indent="0" algn="ctr">
              <a:buNone/>
            </a:pPr>
            <a:r>
              <a:rPr lang="en-US" sz="1400" b="1" dirty="0">
                <a:solidFill>
                  <a:srgbClr val="1B2A4A"/>
                </a:solidFill>
                <a:latin typeface="Calibri" pitchFamily="34" charset="0"/>
                <a:ea typeface="Calibri" pitchFamily="34" charset="-122"/>
                <a:cs typeface="Calibri" pitchFamily="34" charset="-120"/>
              </a:rPr>
              <a:t>organizational AI</a:t>
            </a:r>
            <a:endParaRPr lang="en-US" sz="1400" dirty="0"/>
          </a:p>
        </p:txBody>
      </p:sp>
      <p:sp>
        <p:nvSpPr>
          <p:cNvPr id="37" name="Shape 35"/>
          <p:cNvSpPr/>
          <p:nvPr/>
        </p:nvSpPr>
        <p:spPr>
          <a:xfrm>
            <a:off x="4206240" y="4599432"/>
            <a:ext cx="1609344" cy="585216"/>
          </a:xfrm>
          <a:prstGeom prst="roundRect">
            <a:avLst>
              <a:gd name="adj" fmla="val 9375"/>
            </a:avLst>
          </a:prstGeom>
          <a:solidFill>
            <a:srgbClr val="FFFFFF"/>
          </a:solidFill>
          <a:ln w="12700">
            <a:solidFill>
              <a:srgbClr val="0E6E8C"/>
            </a:solidFill>
            <a:prstDash val="solid"/>
          </a:ln>
        </p:spPr>
        <p:txBody>
          <a:bodyPr/>
          <a:lstStyle/>
          <a:p>
            <a:endParaRPr lang="en-US" sz="2400"/>
          </a:p>
        </p:txBody>
      </p:sp>
      <p:sp>
        <p:nvSpPr>
          <p:cNvPr id="38" name="Text 36"/>
          <p:cNvSpPr/>
          <p:nvPr/>
        </p:nvSpPr>
        <p:spPr>
          <a:xfrm>
            <a:off x="4242816" y="4599432"/>
            <a:ext cx="1536192" cy="585216"/>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Controlled</a:t>
            </a:r>
            <a:endParaRPr lang="en-US" sz="1400" dirty="0"/>
          </a:p>
          <a:p>
            <a:pPr marL="0" indent="0" algn="ctr">
              <a:buNone/>
            </a:pPr>
            <a:r>
              <a:rPr lang="en-US" sz="1400" b="1" dirty="0">
                <a:solidFill>
                  <a:srgbClr val="1B2A4A"/>
                </a:solidFill>
                <a:latin typeface="Calibri" pitchFamily="34" charset="0"/>
                <a:ea typeface="Calibri" pitchFamily="34" charset="-122"/>
                <a:cs typeface="Calibri" pitchFamily="34" charset="-120"/>
              </a:rPr>
              <a:t>capability</a:t>
            </a:r>
            <a:endParaRPr lang="en-US" sz="1400" dirty="0"/>
          </a:p>
        </p:txBody>
      </p:sp>
      <p:sp>
        <p:nvSpPr>
          <p:cNvPr id="39" name="Shape 37"/>
          <p:cNvSpPr/>
          <p:nvPr/>
        </p:nvSpPr>
        <p:spPr>
          <a:xfrm>
            <a:off x="5843016" y="4791456"/>
            <a:ext cx="146304" cy="201168"/>
          </a:xfrm>
          <a:prstGeom prst="chevron">
            <a:avLst/>
          </a:prstGeom>
          <a:solidFill>
            <a:srgbClr val="0E6E8C"/>
          </a:solidFill>
          <a:ln/>
        </p:spPr>
        <p:txBody>
          <a:bodyPr/>
          <a:lstStyle/>
          <a:p>
            <a:endParaRPr lang="en-US" sz="2400"/>
          </a:p>
        </p:txBody>
      </p:sp>
      <p:sp>
        <p:nvSpPr>
          <p:cNvPr id="40" name="Shape 38"/>
          <p:cNvSpPr/>
          <p:nvPr/>
        </p:nvSpPr>
        <p:spPr>
          <a:xfrm>
            <a:off x="6016752" y="4599432"/>
            <a:ext cx="1609344" cy="585216"/>
          </a:xfrm>
          <a:prstGeom prst="roundRect">
            <a:avLst>
              <a:gd name="adj" fmla="val 9375"/>
            </a:avLst>
          </a:prstGeom>
          <a:solidFill>
            <a:srgbClr val="FFFFFF"/>
          </a:solidFill>
          <a:ln w="12700">
            <a:solidFill>
              <a:srgbClr val="0E6E8C"/>
            </a:solidFill>
            <a:prstDash val="solid"/>
          </a:ln>
        </p:spPr>
        <p:txBody>
          <a:bodyPr/>
          <a:lstStyle/>
          <a:p>
            <a:endParaRPr lang="en-US" sz="2400"/>
          </a:p>
        </p:txBody>
      </p:sp>
      <p:sp>
        <p:nvSpPr>
          <p:cNvPr id="41" name="Text 39"/>
          <p:cNvSpPr/>
          <p:nvPr/>
        </p:nvSpPr>
        <p:spPr>
          <a:xfrm>
            <a:off x="6053328" y="4599432"/>
            <a:ext cx="1536192" cy="585216"/>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Visibility</a:t>
            </a:r>
            <a:endParaRPr lang="en-US" sz="1400" dirty="0"/>
          </a:p>
        </p:txBody>
      </p:sp>
      <p:sp>
        <p:nvSpPr>
          <p:cNvPr id="42" name="Shape 40"/>
          <p:cNvSpPr/>
          <p:nvPr/>
        </p:nvSpPr>
        <p:spPr>
          <a:xfrm>
            <a:off x="7653528" y="4791456"/>
            <a:ext cx="146304" cy="201168"/>
          </a:xfrm>
          <a:prstGeom prst="chevron">
            <a:avLst/>
          </a:prstGeom>
          <a:solidFill>
            <a:srgbClr val="0E6E8C"/>
          </a:solidFill>
          <a:ln/>
        </p:spPr>
        <p:txBody>
          <a:bodyPr/>
          <a:lstStyle/>
          <a:p>
            <a:endParaRPr lang="en-US" sz="2400"/>
          </a:p>
        </p:txBody>
      </p:sp>
      <p:sp>
        <p:nvSpPr>
          <p:cNvPr id="43" name="Shape 41"/>
          <p:cNvSpPr/>
          <p:nvPr/>
        </p:nvSpPr>
        <p:spPr>
          <a:xfrm>
            <a:off x="7827264" y="4599432"/>
            <a:ext cx="1609344" cy="585216"/>
          </a:xfrm>
          <a:prstGeom prst="roundRect">
            <a:avLst>
              <a:gd name="adj" fmla="val 9375"/>
            </a:avLst>
          </a:prstGeom>
          <a:solidFill>
            <a:srgbClr val="FFFFFF"/>
          </a:solidFill>
          <a:ln w="12700">
            <a:solidFill>
              <a:srgbClr val="0E6E8C"/>
            </a:solidFill>
            <a:prstDash val="solid"/>
          </a:ln>
        </p:spPr>
        <p:txBody>
          <a:bodyPr/>
          <a:lstStyle/>
          <a:p>
            <a:endParaRPr lang="en-US" sz="2400"/>
          </a:p>
        </p:txBody>
      </p:sp>
      <p:sp>
        <p:nvSpPr>
          <p:cNvPr id="44" name="Text 42"/>
          <p:cNvSpPr/>
          <p:nvPr/>
        </p:nvSpPr>
        <p:spPr>
          <a:xfrm>
            <a:off x="7863840" y="4599432"/>
            <a:ext cx="1536192" cy="585216"/>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Evidence</a:t>
            </a:r>
            <a:endParaRPr lang="en-US" sz="1400" dirty="0"/>
          </a:p>
        </p:txBody>
      </p:sp>
      <p:sp>
        <p:nvSpPr>
          <p:cNvPr id="45" name="Shape 43"/>
          <p:cNvSpPr/>
          <p:nvPr/>
        </p:nvSpPr>
        <p:spPr>
          <a:xfrm>
            <a:off x="9464040" y="4791456"/>
            <a:ext cx="146304" cy="201168"/>
          </a:xfrm>
          <a:prstGeom prst="chevron">
            <a:avLst/>
          </a:prstGeom>
          <a:solidFill>
            <a:srgbClr val="0E6E8C"/>
          </a:solidFill>
          <a:ln/>
        </p:spPr>
        <p:txBody>
          <a:bodyPr/>
          <a:lstStyle/>
          <a:p>
            <a:endParaRPr lang="en-US" sz="2400"/>
          </a:p>
        </p:txBody>
      </p:sp>
      <p:sp>
        <p:nvSpPr>
          <p:cNvPr id="46" name="Shape 44"/>
          <p:cNvSpPr/>
          <p:nvPr/>
        </p:nvSpPr>
        <p:spPr>
          <a:xfrm>
            <a:off x="9637776" y="4599432"/>
            <a:ext cx="1609344" cy="585216"/>
          </a:xfrm>
          <a:prstGeom prst="roundRect">
            <a:avLst>
              <a:gd name="adj" fmla="val 9375"/>
            </a:avLst>
          </a:prstGeom>
          <a:solidFill>
            <a:srgbClr val="FFFFFF"/>
          </a:solidFill>
          <a:ln w="12700">
            <a:solidFill>
              <a:srgbClr val="0E6E8C"/>
            </a:solidFill>
            <a:prstDash val="solid"/>
          </a:ln>
        </p:spPr>
        <p:txBody>
          <a:bodyPr/>
          <a:lstStyle/>
          <a:p>
            <a:endParaRPr lang="en-US" sz="2400"/>
          </a:p>
        </p:txBody>
      </p:sp>
      <p:sp>
        <p:nvSpPr>
          <p:cNvPr id="47" name="Text 45"/>
          <p:cNvSpPr/>
          <p:nvPr/>
        </p:nvSpPr>
        <p:spPr>
          <a:xfrm>
            <a:off x="9674352" y="4599432"/>
            <a:ext cx="1536192" cy="585216"/>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Auditability</a:t>
            </a:r>
            <a:endParaRPr lang="en-US" sz="1400" dirty="0"/>
          </a:p>
        </p:txBody>
      </p:sp>
      <p:sp>
        <p:nvSpPr>
          <p:cNvPr id="48" name="Shape 46"/>
          <p:cNvSpPr/>
          <p:nvPr/>
        </p:nvSpPr>
        <p:spPr>
          <a:xfrm>
            <a:off x="2395727" y="4312643"/>
            <a:ext cx="8975105" cy="1164602"/>
          </a:xfrm>
          <a:prstGeom prst="roundRect">
            <a:avLst>
              <a:gd name="adj" fmla="val 10417"/>
            </a:avLst>
          </a:prstGeom>
          <a:ln w="25400">
            <a:solidFill>
              <a:srgbClr val="0E6E8C"/>
            </a:solidFill>
            <a:prstDash val="solid"/>
          </a:ln>
        </p:spPr>
        <p:txBody>
          <a:bodyPr/>
          <a:lstStyle/>
          <a:p>
            <a:endParaRPr lang="en-US" sz="2400"/>
          </a:p>
        </p:txBody>
      </p:sp>
      <p:sp>
        <p:nvSpPr>
          <p:cNvPr id="49" name="Shape 47"/>
          <p:cNvSpPr/>
          <p:nvPr/>
        </p:nvSpPr>
        <p:spPr>
          <a:xfrm>
            <a:off x="502920" y="6108192"/>
            <a:ext cx="11183112" cy="457200"/>
          </a:xfrm>
          <a:prstGeom prst="rect">
            <a:avLst/>
          </a:prstGeom>
          <a:solidFill>
            <a:srgbClr val="F7F8FA"/>
          </a:solidFill>
          <a:ln/>
        </p:spPr>
        <p:txBody>
          <a:bodyPr/>
          <a:lstStyle/>
          <a:p>
            <a:endParaRPr lang="en-US" sz="2400"/>
          </a:p>
        </p:txBody>
      </p:sp>
      <p:sp>
        <p:nvSpPr>
          <p:cNvPr id="50" name="Text 48"/>
          <p:cNvSpPr/>
          <p:nvPr/>
        </p:nvSpPr>
        <p:spPr>
          <a:xfrm>
            <a:off x="731520" y="6108192"/>
            <a:ext cx="10744200" cy="457200"/>
          </a:xfrm>
          <a:prstGeom prst="rect">
            <a:avLst/>
          </a:prstGeom>
          <a:noFill/>
          <a:ln/>
        </p:spPr>
        <p:txBody>
          <a:bodyPr wrap="square" lIns="0" tIns="0" rIns="0" bIns="0" rtlCol="0" anchor="ctr"/>
          <a:lstStyle/>
          <a:p>
            <a:pPr marL="0" indent="0">
              <a:buNone/>
            </a:pPr>
            <a:r>
              <a:rPr lang="en-US" b="1" i="1" dirty="0">
                <a:solidFill>
                  <a:srgbClr val="1B2A4A"/>
                </a:solidFill>
                <a:latin typeface="Cambria" pitchFamily="34" charset="0"/>
                <a:ea typeface="Cambria" pitchFamily="34" charset="-122"/>
                <a:cs typeface="Cambria" pitchFamily="34" charset="-120"/>
              </a:rPr>
              <a:t>The real choice is not AI versus no AI - it's governed AI versus AI developing outside governance.</a:t>
            </a:r>
            <a:endParaRPr lang="en-US" dirty="0"/>
          </a:p>
        </p:txBody>
      </p:sp>
      <p:sp>
        <p:nvSpPr>
          <p:cNvPr id="51" name="Text 49"/>
          <p:cNvSpPr/>
          <p:nvPr/>
        </p:nvSpPr>
        <p:spPr>
          <a:xfrm>
            <a:off x="11658600" y="320040"/>
            <a:ext cx="457200" cy="274320"/>
          </a:xfrm>
          <a:prstGeom prst="rect">
            <a:avLst/>
          </a:prstGeom>
          <a:noFill/>
          <a:ln/>
        </p:spPr>
        <p:txBody>
          <a:bodyPr wrap="square" lIns="0" tIns="0" rIns="0" bIns="0" rtlCol="0" anchor="ctr"/>
          <a:lstStyle/>
          <a:p>
            <a:pPr marL="0" indent="0" algn="r">
              <a:buNone/>
            </a:pPr>
            <a:r>
              <a:rPr lang="en-US" sz="1125" dirty="0">
                <a:solidFill>
                  <a:srgbClr val="C9CDD6"/>
                </a:solidFill>
                <a:latin typeface="Calibri" pitchFamily="34" charset="0"/>
                <a:ea typeface="Calibri" pitchFamily="34" charset="-122"/>
                <a:cs typeface="Calibri" pitchFamily="34" charset="-120"/>
              </a:rPr>
              <a:t>05</a:t>
            </a:r>
            <a:endParaRPr lang="en-US" sz="1125" dirty="0"/>
          </a:p>
        </p:txBody>
      </p:sp>
    </p:spTree>
    <p:extLst>
      <p:ext uri="{BB962C8B-B14F-4D97-AF65-F5344CB8AC3E}">
        <p14:creationId xmlns:p14="http://schemas.microsoft.com/office/powerpoint/2010/main" val="2105372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buNone/>
            </a:pPr>
            <a:r>
              <a:rPr lang="en-US" sz="1500" b="1" kern="0" spc="200" dirty="0">
                <a:solidFill>
                  <a:srgbClr val="0E6E8C"/>
                </a:solidFill>
                <a:latin typeface="Calibri" pitchFamily="34" charset="0"/>
                <a:ea typeface="Calibri" pitchFamily="34" charset="-122"/>
                <a:cs typeface="Calibri" pitchFamily="34" charset="-120"/>
              </a:rPr>
              <a:t>THE ECONOMICS OF DELAY</a:t>
            </a:r>
            <a:endParaRPr lang="en-US" sz="1500" dirty="0"/>
          </a:p>
        </p:txBody>
      </p:sp>
      <p:sp>
        <p:nvSpPr>
          <p:cNvPr id="3" name="Text 1"/>
          <p:cNvSpPr/>
          <p:nvPr/>
        </p:nvSpPr>
        <p:spPr>
          <a:xfrm>
            <a:off x="502920" y="612648"/>
            <a:ext cx="11155680" cy="868680"/>
          </a:xfrm>
          <a:prstGeom prst="rect">
            <a:avLst/>
          </a:prstGeom>
          <a:noFill/>
          <a:ln/>
        </p:spPr>
        <p:txBody>
          <a:bodyPr wrap="square" lIns="0" tIns="0" rIns="0" bIns="0" rtlCol="0" anchor="t"/>
          <a:lstStyle/>
          <a:p>
            <a:pPr marL="0" indent="0">
              <a:lnSpc>
                <a:spcPct val="102000"/>
              </a:lnSpc>
              <a:buNone/>
            </a:pPr>
            <a:r>
              <a:rPr lang="en-US" sz="3000" b="1" dirty="0">
                <a:solidFill>
                  <a:srgbClr val="1B2A4A"/>
                </a:solidFill>
                <a:latin typeface="Cambria" pitchFamily="34" charset="0"/>
                <a:ea typeface="Cambria" pitchFamily="34" charset="-122"/>
                <a:cs typeface="Cambria" pitchFamily="34" charset="-120"/>
              </a:rPr>
              <a:t>The cost of AI is visible. The cost of not using it is distributed and harder to see.</a:t>
            </a:r>
            <a:endParaRPr lang="en-US" sz="3000" dirty="0"/>
          </a:p>
        </p:txBody>
      </p:sp>
      <p:sp>
        <p:nvSpPr>
          <p:cNvPr id="4" name="Shape 2"/>
          <p:cNvSpPr/>
          <p:nvPr/>
        </p:nvSpPr>
        <p:spPr>
          <a:xfrm>
            <a:off x="502920" y="1691640"/>
            <a:ext cx="5541264" cy="2121408"/>
          </a:xfrm>
          <a:prstGeom prst="roundRect">
            <a:avLst>
              <a:gd name="adj" fmla="val 3448"/>
            </a:avLst>
          </a:prstGeom>
          <a:solidFill>
            <a:srgbClr val="F4E3CC"/>
          </a:solidFill>
          <a:ln w="12700">
            <a:solidFill>
              <a:srgbClr val="C97A1E"/>
            </a:solidFill>
            <a:prstDash val="solid"/>
          </a:ln>
        </p:spPr>
        <p:txBody>
          <a:bodyPr/>
          <a:lstStyle/>
          <a:p>
            <a:endParaRPr lang="en-US"/>
          </a:p>
        </p:txBody>
      </p:sp>
      <p:sp>
        <p:nvSpPr>
          <p:cNvPr id="5" name="Text 3"/>
          <p:cNvSpPr/>
          <p:nvPr/>
        </p:nvSpPr>
        <p:spPr>
          <a:xfrm>
            <a:off x="731520" y="1819656"/>
            <a:ext cx="5120640" cy="292608"/>
          </a:xfrm>
          <a:prstGeom prst="rect">
            <a:avLst/>
          </a:prstGeom>
          <a:noFill/>
          <a:ln/>
        </p:spPr>
        <p:txBody>
          <a:bodyPr wrap="square" lIns="0" tIns="0" rIns="0" bIns="0" rtlCol="0" anchor="ctr"/>
          <a:lstStyle/>
          <a:p>
            <a:pPr marL="0" indent="0">
              <a:buNone/>
            </a:pPr>
            <a:r>
              <a:rPr lang="en-US" sz="1813" b="1" dirty="0">
                <a:solidFill>
                  <a:srgbClr val="1B2A4A"/>
                </a:solidFill>
                <a:latin typeface="Cambria" pitchFamily="34" charset="0"/>
                <a:ea typeface="Cambria" pitchFamily="34" charset="-122"/>
                <a:cs typeface="Cambria" pitchFamily="34" charset="-120"/>
              </a:rPr>
              <a:t>Cyber Loss</a:t>
            </a:r>
            <a:endParaRPr lang="en-US" sz="1813" dirty="0"/>
          </a:p>
        </p:txBody>
      </p:sp>
      <p:sp>
        <p:nvSpPr>
          <p:cNvPr id="6" name="Text 4"/>
          <p:cNvSpPr/>
          <p:nvPr/>
        </p:nvSpPr>
        <p:spPr>
          <a:xfrm>
            <a:off x="731520" y="2112264"/>
            <a:ext cx="2743200" cy="566928"/>
          </a:xfrm>
          <a:prstGeom prst="rect">
            <a:avLst/>
          </a:prstGeom>
          <a:noFill/>
          <a:ln/>
        </p:spPr>
        <p:txBody>
          <a:bodyPr wrap="square" lIns="0" tIns="0" rIns="0" bIns="0" rtlCol="0" anchor="ctr"/>
          <a:lstStyle/>
          <a:p>
            <a:pPr marL="0" indent="0">
              <a:buNone/>
            </a:pPr>
            <a:r>
              <a:rPr lang="en-US" sz="4000" b="1" dirty="0">
                <a:solidFill>
                  <a:srgbClr val="C97A1E"/>
                </a:solidFill>
                <a:latin typeface="Cambria" pitchFamily="34" charset="0"/>
                <a:ea typeface="Cambria" pitchFamily="34" charset="-122"/>
                <a:cs typeface="Cambria" pitchFamily="34" charset="-120"/>
              </a:rPr>
              <a:t>$5.56M</a:t>
            </a:r>
            <a:endParaRPr lang="en-US" sz="4000" dirty="0"/>
          </a:p>
        </p:txBody>
      </p:sp>
      <p:sp>
        <p:nvSpPr>
          <p:cNvPr id="7" name="Text 5"/>
          <p:cNvSpPr/>
          <p:nvPr/>
        </p:nvSpPr>
        <p:spPr>
          <a:xfrm>
            <a:off x="731520" y="2660904"/>
            <a:ext cx="5120640" cy="292608"/>
          </a:xfrm>
          <a:prstGeom prst="rect">
            <a:avLst/>
          </a:prstGeom>
          <a:noFill/>
          <a:ln/>
        </p:spPr>
        <p:txBody>
          <a:bodyPr wrap="square" lIns="0" tIns="0" rIns="0" bIns="0" rtlCol="0" anchor="ctr"/>
          <a:lstStyle/>
          <a:p>
            <a:pPr marL="0" indent="0">
              <a:buNone/>
            </a:pPr>
            <a:r>
              <a:rPr lang="en-US" sz="1600" i="1" dirty="0">
                <a:solidFill>
                  <a:srgbClr val="6B7280"/>
                </a:solidFill>
                <a:latin typeface="Calibri" pitchFamily="34" charset="0"/>
                <a:ea typeface="Calibri" pitchFamily="34" charset="-122"/>
                <a:cs typeface="Calibri" pitchFamily="34" charset="-120"/>
              </a:rPr>
              <a:t>avg. financial-services breach cost</a:t>
            </a:r>
            <a:endParaRPr lang="en-US" sz="1600" dirty="0"/>
          </a:p>
        </p:txBody>
      </p:sp>
      <p:sp>
        <p:nvSpPr>
          <p:cNvPr id="8" name="Text 6"/>
          <p:cNvSpPr/>
          <p:nvPr/>
        </p:nvSpPr>
        <p:spPr>
          <a:xfrm>
            <a:off x="731520" y="2971800"/>
            <a:ext cx="5120640" cy="749808"/>
          </a:xfrm>
          <a:prstGeom prst="rect">
            <a:avLst/>
          </a:prstGeom>
          <a:noFill/>
          <a:ln/>
        </p:spPr>
        <p:txBody>
          <a:bodyPr wrap="square" lIns="0" tIns="0" rIns="0" bIns="0" rtlCol="0" anchor="t"/>
          <a:lstStyle/>
          <a:p>
            <a:pPr marL="0" indent="0">
              <a:buNone/>
            </a:pPr>
            <a:r>
              <a:rPr lang="en-US" sz="1600" dirty="0">
                <a:solidFill>
                  <a:srgbClr val="2B2F38"/>
                </a:solidFill>
                <a:latin typeface="Calibri" pitchFamily="34" charset="0"/>
                <a:ea typeface="Calibri" pitchFamily="34" charset="-122"/>
                <a:cs typeface="Calibri" pitchFamily="34" charset="-120"/>
              </a:rPr>
              <a:t>AI/automation-intensive security programs cut breach cost to $3.62M vs. $5.52M without - and detect breaches ~51 days faster.</a:t>
            </a:r>
            <a:endParaRPr lang="en-US" sz="1600" dirty="0"/>
          </a:p>
        </p:txBody>
      </p:sp>
      <p:sp>
        <p:nvSpPr>
          <p:cNvPr id="9" name="Shape 7"/>
          <p:cNvSpPr/>
          <p:nvPr/>
        </p:nvSpPr>
        <p:spPr>
          <a:xfrm>
            <a:off x="6144768" y="1691640"/>
            <a:ext cx="5541264" cy="2121408"/>
          </a:xfrm>
          <a:prstGeom prst="roundRect">
            <a:avLst>
              <a:gd name="adj" fmla="val 3448"/>
            </a:avLst>
          </a:prstGeom>
          <a:solidFill>
            <a:srgbClr val="F4E3CC"/>
          </a:solidFill>
          <a:ln w="12700">
            <a:solidFill>
              <a:srgbClr val="C97A1E"/>
            </a:solidFill>
            <a:prstDash val="solid"/>
          </a:ln>
        </p:spPr>
        <p:txBody>
          <a:bodyPr/>
          <a:lstStyle/>
          <a:p>
            <a:endParaRPr lang="en-US"/>
          </a:p>
        </p:txBody>
      </p:sp>
      <p:sp>
        <p:nvSpPr>
          <p:cNvPr id="10" name="Text 8"/>
          <p:cNvSpPr/>
          <p:nvPr/>
        </p:nvSpPr>
        <p:spPr>
          <a:xfrm>
            <a:off x="6373368" y="1819656"/>
            <a:ext cx="5120640" cy="292608"/>
          </a:xfrm>
          <a:prstGeom prst="rect">
            <a:avLst/>
          </a:prstGeom>
          <a:noFill/>
          <a:ln/>
        </p:spPr>
        <p:txBody>
          <a:bodyPr wrap="square" lIns="0" tIns="0" rIns="0" bIns="0" rtlCol="0" anchor="ctr"/>
          <a:lstStyle/>
          <a:p>
            <a:pPr marL="0" indent="0">
              <a:buNone/>
            </a:pPr>
            <a:r>
              <a:rPr lang="en-US" sz="1813" b="1" dirty="0">
                <a:solidFill>
                  <a:srgbClr val="1B2A4A"/>
                </a:solidFill>
                <a:latin typeface="Cambria" pitchFamily="34" charset="0"/>
                <a:ea typeface="Cambria" pitchFamily="34" charset="-122"/>
                <a:cs typeface="Cambria" pitchFamily="34" charset="-120"/>
              </a:rPr>
              <a:t>Fraud Loss</a:t>
            </a:r>
            <a:endParaRPr lang="en-US" sz="1813" dirty="0"/>
          </a:p>
        </p:txBody>
      </p:sp>
      <p:sp>
        <p:nvSpPr>
          <p:cNvPr id="11" name="Text 9"/>
          <p:cNvSpPr/>
          <p:nvPr/>
        </p:nvSpPr>
        <p:spPr>
          <a:xfrm>
            <a:off x="6373368" y="2112264"/>
            <a:ext cx="2743200" cy="566928"/>
          </a:xfrm>
          <a:prstGeom prst="rect">
            <a:avLst/>
          </a:prstGeom>
          <a:noFill/>
          <a:ln/>
        </p:spPr>
        <p:txBody>
          <a:bodyPr wrap="square" lIns="0" tIns="0" rIns="0" bIns="0" rtlCol="0" anchor="ctr"/>
          <a:lstStyle/>
          <a:p>
            <a:pPr marL="0" indent="0">
              <a:buNone/>
            </a:pPr>
            <a:r>
              <a:rPr lang="en-US" sz="4000" b="1" dirty="0">
                <a:solidFill>
                  <a:srgbClr val="C97A1E"/>
                </a:solidFill>
                <a:latin typeface="Cambria" pitchFamily="34" charset="0"/>
                <a:ea typeface="Cambria" pitchFamily="34" charset="-122"/>
                <a:cs typeface="Cambria" pitchFamily="34" charset="-120"/>
              </a:rPr>
              <a:t>12 mo.</a:t>
            </a:r>
            <a:endParaRPr lang="en-US" sz="4000" dirty="0"/>
          </a:p>
        </p:txBody>
      </p:sp>
      <p:sp>
        <p:nvSpPr>
          <p:cNvPr id="12" name="Text 10"/>
          <p:cNvSpPr/>
          <p:nvPr/>
        </p:nvSpPr>
        <p:spPr>
          <a:xfrm>
            <a:off x="6373368" y="2660904"/>
            <a:ext cx="5120640" cy="292608"/>
          </a:xfrm>
          <a:prstGeom prst="rect">
            <a:avLst/>
          </a:prstGeom>
          <a:noFill/>
          <a:ln/>
        </p:spPr>
        <p:txBody>
          <a:bodyPr wrap="square" lIns="0" tIns="0" rIns="0" bIns="0" rtlCol="0" anchor="ctr"/>
          <a:lstStyle/>
          <a:p>
            <a:pPr marL="0" indent="0">
              <a:buNone/>
            </a:pPr>
            <a:r>
              <a:rPr lang="en-US" sz="1600" i="1" dirty="0">
                <a:solidFill>
                  <a:srgbClr val="6B7280"/>
                </a:solidFill>
                <a:latin typeface="Calibri" pitchFamily="34" charset="0"/>
                <a:ea typeface="Calibri" pitchFamily="34" charset="-122"/>
                <a:cs typeface="Calibri" pitchFamily="34" charset="-120"/>
              </a:rPr>
              <a:t>median time to detect occupational fraud</a:t>
            </a:r>
            <a:endParaRPr lang="en-US" sz="1600" dirty="0"/>
          </a:p>
        </p:txBody>
      </p:sp>
      <p:sp>
        <p:nvSpPr>
          <p:cNvPr id="13" name="Text 11"/>
          <p:cNvSpPr/>
          <p:nvPr/>
        </p:nvSpPr>
        <p:spPr>
          <a:xfrm>
            <a:off x="6373368" y="2971800"/>
            <a:ext cx="5120640" cy="749808"/>
          </a:xfrm>
          <a:prstGeom prst="rect">
            <a:avLst/>
          </a:prstGeom>
          <a:noFill/>
          <a:ln/>
        </p:spPr>
        <p:txBody>
          <a:bodyPr wrap="square" lIns="0" tIns="0" rIns="0" bIns="0" rtlCol="0" anchor="t"/>
          <a:lstStyle/>
          <a:p>
            <a:pPr marL="0" indent="0">
              <a:buNone/>
            </a:pPr>
            <a:r>
              <a:rPr lang="en-US" sz="1600" dirty="0">
                <a:solidFill>
                  <a:srgbClr val="2B2F38"/>
                </a:solidFill>
                <a:latin typeface="Calibri" pitchFamily="34" charset="0"/>
                <a:ea typeface="Calibri" pitchFamily="34" charset="-122"/>
                <a:cs typeface="Calibri" pitchFamily="34" charset="-120"/>
              </a:rPr>
              <a:t>Typical organizations lose ~5% of annual revenue to fraud; median case loss $145,000, growing the longer detection is delayed.</a:t>
            </a:r>
            <a:endParaRPr lang="en-US" sz="1600" dirty="0"/>
          </a:p>
        </p:txBody>
      </p:sp>
      <p:sp>
        <p:nvSpPr>
          <p:cNvPr id="14" name="Shape 12"/>
          <p:cNvSpPr/>
          <p:nvPr/>
        </p:nvSpPr>
        <p:spPr>
          <a:xfrm>
            <a:off x="502920" y="3977640"/>
            <a:ext cx="5541264" cy="2121408"/>
          </a:xfrm>
          <a:prstGeom prst="roundRect">
            <a:avLst>
              <a:gd name="adj" fmla="val 3448"/>
            </a:avLst>
          </a:prstGeom>
          <a:solidFill>
            <a:srgbClr val="E7EAF2"/>
          </a:solidFill>
          <a:ln w="12700">
            <a:solidFill>
              <a:srgbClr val="1B2A4A"/>
            </a:solidFill>
            <a:prstDash val="solid"/>
          </a:ln>
        </p:spPr>
        <p:txBody>
          <a:bodyPr/>
          <a:lstStyle/>
          <a:p>
            <a:endParaRPr lang="en-US"/>
          </a:p>
        </p:txBody>
      </p:sp>
      <p:sp>
        <p:nvSpPr>
          <p:cNvPr id="15" name="Text 13"/>
          <p:cNvSpPr/>
          <p:nvPr/>
        </p:nvSpPr>
        <p:spPr>
          <a:xfrm>
            <a:off x="731520" y="4105656"/>
            <a:ext cx="5120640" cy="292608"/>
          </a:xfrm>
          <a:prstGeom prst="rect">
            <a:avLst/>
          </a:prstGeom>
          <a:noFill/>
          <a:ln/>
        </p:spPr>
        <p:txBody>
          <a:bodyPr wrap="square" lIns="0" tIns="0" rIns="0" bIns="0" rtlCol="0" anchor="ctr"/>
          <a:lstStyle/>
          <a:p>
            <a:pPr marL="0" indent="0">
              <a:buNone/>
            </a:pPr>
            <a:r>
              <a:rPr lang="en-US" sz="1813" b="1" dirty="0">
                <a:solidFill>
                  <a:srgbClr val="1B2A4A"/>
                </a:solidFill>
                <a:latin typeface="Cambria" pitchFamily="34" charset="0"/>
                <a:ea typeface="Cambria" pitchFamily="34" charset="-122"/>
                <a:cs typeface="Cambria" pitchFamily="34" charset="-120"/>
              </a:rPr>
              <a:t>Capability Debt</a:t>
            </a:r>
            <a:endParaRPr lang="en-US" sz="1813" dirty="0"/>
          </a:p>
        </p:txBody>
      </p:sp>
      <p:sp>
        <p:nvSpPr>
          <p:cNvPr id="16" name="Text 14"/>
          <p:cNvSpPr/>
          <p:nvPr/>
        </p:nvSpPr>
        <p:spPr>
          <a:xfrm>
            <a:off x="731520" y="4398264"/>
            <a:ext cx="2743200" cy="566928"/>
          </a:xfrm>
          <a:prstGeom prst="rect">
            <a:avLst/>
          </a:prstGeom>
          <a:noFill/>
          <a:ln/>
        </p:spPr>
        <p:txBody>
          <a:bodyPr wrap="square" lIns="0" tIns="0" rIns="0" bIns="0" rtlCol="0" anchor="ctr"/>
          <a:lstStyle/>
          <a:p>
            <a:pPr marL="0" indent="0">
              <a:buNone/>
            </a:pPr>
            <a:r>
              <a:rPr lang="en-US" sz="4000" b="1" dirty="0">
                <a:solidFill>
                  <a:srgbClr val="1B2A4A"/>
                </a:solidFill>
                <a:latin typeface="Cambria" pitchFamily="34" charset="0"/>
                <a:ea typeface="Cambria" pitchFamily="34" charset="-122"/>
                <a:cs typeface="Cambria" pitchFamily="34" charset="-120"/>
              </a:rPr>
              <a:t>&lt;10%</a:t>
            </a:r>
            <a:endParaRPr lang="en-US" sz="4000" dirty="0"/>
          </a:p>
        </p:txBody>
      </p:sp>
      <p:sp>
        <p:nvSpPr>
          <p:cNvPr id="17" name="Text 15"/>
          <p:cNvSpPr/>
          <p:nvPr/>
        </p:nvSpPr>
        <p:spPr>
          <a:xfrm>
            <a:off x="731520" y="4946904"/>
            <a:ext cx="5120640" cy="292608"/>
          </a:xfrm>
          <a:prstGeom prst="rect">
            <a:avLst/>
          </a:prstGeom>
          <a:noFill/>
          <a:ln/>
        </p:spPr>
        <p:txBody>
          <a:bodyPr wrap="square" lIns="0" tIns="0" rIns="0" bIns="0" rtlCol="0" anchor="ctr"/>
          <a:lstStyle/>
          <a:p>
            <a:pPr marL="0" indent="0">
              <a:buNone/>
            </a:pPr>
            <a:r>
              <a:rPr lang="en-US" sz="1600" i="1" dirty="0">
                <a:solidFill>
                  <a:srgbClr val="6B7280"/>
                </a:solidFill>
                <a:latin typeface="Calibri" pitchFamily="34" charset="0"/>
                <a:ea typeface="Calibri" pitchFamily="34" charset="-122"/>
                <a:cs typeface="Calibri" pitchFamily="34" charset="-120"/>
              </a:rPr>
              <a:t>of organizations at enterprise-wide agent deployment</a:t>
            </a:r>
            <a:endParaRPr lang="en-US" sz="1600" dirty="0"/>
          </a:p>
        </p:txBody>
      </p:sp>
      <p:sp>
        <p:nvSpPr>
          <p:cNvPr id="18" name="Text 16"/>
          <p:cNvSpPr/>
          <p:nvPr/>
        </p:nvSpPr>
        <p:spPr>
          <a:xfrm>
            <a:off x="731520" y="5257800"/>
            <a:ext cx="5120640" cy="749808"/>
          </a:xfrm>
          <a:prstGeom prst="rect">
            <a:avLst/>
          </a:prstGeom>
          <a:noFill/>
          <a:ln/>
        </p:spPr>
        <p:txBody>
          <a:bodyPr wrap="square" lIns="0" tIns="0" rIns="0" bIns="0" rtlCol="0" anchor="t"/>
          <a:lstStyle/>
          <a:p>
            <a:pPr marL="0" indent="0">
              <a:buNone/>
            </a:pPr>
            <a:r>
              <a:rPr lang="en-US" sz="1600" dirty="0">
                <a:solidFill>
                  <a:srgbClr val="2B2F38"/>
                </a:solidFill>
                <a:latin typeface="Calibri" pitchFamily="34" charset="0"/>
                <a:ea typeface="Calibri" pitchFamily="34" charset="-122"/>
                <a:cs typeface="Calibri" pitchFamily="34" charset="-120"/>
              </a:rPr>
              <a:t>Most organizations are still piloting AI capability while a minority operationalize it - the gap compounds each quarter.</a:t>
            </a:r>
            <a:endParaRPr lang="en-US" sz="1600" dirty="0"/>
          </a:p>
        </p:txBody>
      </p:sp>
      <p:sp>
        <p:nvSpPr>
          <p:cNvPr id="19" name="Shape 17"/>
          <p:cNvSpPr/>
          <p:nvPr/>
        </p:nvSpPr>
        <p:spPr>
          <a:xfrm>
            <a:off x="6144768" y="3977640"/>
            <a:ext cx="5541264" cy="2121408"/>
          </a:xfrm>
          <a:prstGeom prst="roundRect">
            <a:avLst>
              <a:gd name="adj" fmla="val 3448"/>
            </a:avLst>
          </a:prstGeom>
          <a:solidFill>
            <a:srgbClr val="E7EAF2"/>
          </a:solidFill>
          <a:ln w="12700">
            <a:solidFill>
              <a:srgbClr val="1B2A4A"/>
            </a:solidFill>
            <a:prstDash val="solid"/>
          </a:ln>
        </p:spPr>
        <p:txBody>
          <a:bodyPr/>
          <a:lstStyle/>
          <a:p>
            <a:endParaRPr lang="en-US" sz="2400"/>
          </a:p>
        </p:txBody>
      </p:sp>
      <p:sp>
        <p:nvSpPr>
          <p:cNvPr id="20" name="Text 18"/>
          <p:cNvSpPr/>
          <p:nvPr/>
        </p:nvSpPr>
        <p:spPr>
          <a:xfrm>
            <a:off x="6373368" y="4105656"/>
            <a:ext cx="5120640" cy="292608"/>
          </a:xfrm>
          <a:prstGeom prst="rect">
            <a:avLst/>
          </a:prstGeom>
          <a:noFill/>
          <a:ln/>
        </p:spPr>
        <p:txBody>
          <a:bodyPr wrap="square" lIns="0" tIns="0" rIns="0" bIns="0" rtlCol="0" anchor="ctr"/>
          <a:lstStyle/>
          <a:p>
            <a:pPr marL="0" indent="0">
              <a:buNone/>
            </a:pPr>
            <a:r>
              <a:rPr lang="en-US" sz="1813" b="1" dirty="0">
                <a:solidFill>
                  <a:srgbClr val="1B2A4A"/>
                </a:solidFill>
                <a:latin typeface="Cambria" pitchFamily="34" charset="0"/>
                <a:ea typeface="Cambria" pitchFamily="34" charset="-122"/>
                <a:cs typeface="Cambria" pitchFamily="34" charset="-120"/>
              </a:rPr>
              <a:t>Shadow AI</a:t>
            </a:r>
            <a:endParaRPr lang="en-US" sz="1813" dirty="0"/>
          </a:p>
        </p:txBody>
      </p:sp>
      <p:sp>
        <p:nvSpPr>
          <p:cNvPr id="21" name="Text 19"/>
          <p:cNvSpPr/>
          <p:nvPr/>
        </p:nvSpPr>
        <p:spPr>
          <a:xfrm>
            <a:off x="6373368" y="4398264"/>
            <a:ext cx="2743200" cy="566928"/>
          </a:xfrm>
          <a:prstGeom prst="rect">
            <a:avLst/>
          </a:prstGeom>
          <a:noFill/>
          <a:ln/>
        </p:spPr>
        <p:txBody>
          <a:bodyPr wrap="square" lIns="0" tIns="0" rIns="0" bIns="0" rtlCol="0" anchor="ctr"/>
          <a:lstStyle/>
          <a:p>
            <a:pPr marL="0" indent="0">
              <a:buNone/>
            </a:pPr>
            <a:r>
              <a:rPr lang="en-US" sz="4000" b="1" dirty="0">
                <a:solidFill>
                  <a:srgbClr val="1B2A4A"/>
                </a:solidFill>
                <a:latin typeface="Cambria" pitchFamily="34" charset="0"/>
                <a:ea typeface="Cambria" pitchFamily="34" charset="-122"/>
                <a:cs typeface="Cambria" pitchFamily="34" charset="-120"/>
              </a:rPr>
              <a:t>+$670K</a:t>
            </a:r>
            <a:endParaRPr lang="en-US" sz="4000" dirty="0"/>
          </a:p>
        </p:txBody>
      </p:sp>
      <p:sp>
        <p:nvSpPr>
          <p:cNvPr id="22" name="Text 20"/>
          <p:cNvSpPr/>
          <p:nvPr/>
        </p:nvSpPr>
        <p:spPr>
          <a:xfrm>
            <a:off x="6373368" y="4946904"/>
            <a:ext cx="5120640" cy="292608"/>
          </a:xfrm>
          <a:prstGeom prst="rect">
            <a:avLst/>
          </a:prstGeom>
          <a:noFill/>
          <a:ln/>
        </p:spPr>
        <p:txBody>
          <a:bodyPr wrap="square" lIns="0" tIns="0" rIns="0" bIns="0" rtlCol="0" anchor="ctr"/>
          <a:lstStyle/>
          <a:p>
            <a:pPr marL="0" indent="0">
              <a:buNone/>
            </a:pPr>
            <a:r>
              <a:rPr lang="en-US" sz="1600" i="1" dirty="0">
                <a:solidFill>
                  <a:srgbClr val="6B7280"/>
                </a:solidFill>
                <a:latin typeface="Calibri" pitchFamily="34" charset="0"/>
                <a:ea typeface="Calibri" pitchFamily="34" charset="-122"/>
                <a:cs typeface="Calibri" pitchFamily="34" charset="-120"/>
              </a:rPr>
              <a:t>avg. cost premium on breaches involving shadow AI</a:t>
            </a:r>
            <a:endParaRPr lang="en-US" sz="1600" dirty="0"/>
          </a:p>
        </p:txBody>
      </p:sp>
      <p:sp>
        <p:nvSpPr>
          <p:cNvPr id="23" name="Text 21"/>
          <p:cNvSpPr/>
          <p:nvPr/>
        </p:nvSpPr>
        <p:spPr>
          <a:xfrm>
            <a:off x="6373368" y="5257800"/>
            <a:ext cx="5120640" cy="749808"/>
          </a:xfrm>
          <a:prstGeom prst="rect">
            <a:avLst/>
          </a:prstGeom>
          <a:noFill/>
          <a:ln/>
        </p:spPr>
        <p:txBody>
          <a:bodyPr wrap="square" lIns="0" tIns="0" rIns="0" bIns="0" rtlCol="0" anchor="t"/>
          <a:lstStyle/>
          <a:p>
            <a:pPr marL="0" indent="0">
              <a:buNone/>
            </a:pPr>
            <a:r>
              <a:rPr lang="en-US" sz="1600" dirty="0">
                <a:solidFill>
                  <a:srgbClr val="2B2F38"/>
                </a:solidFill>
                <a:latin typeface="Calibri" pitchFamily="34" charset="0"/>
                <a:ea typeface="Calibri" pitchFamily="34" charset="-122"/>
                <a:cs typeface="Calibri" pitchFamily="34" charset="-120"/>
              </a:rPr>
              <a:t>Unsanctioned AI use creates data exposure and audit blind spots that surface only after an incident.</a:t>
            </a:r>
            <a:endParaRPr lang="en-US" sz="1600" dirty="0"/>
          </a:p>
        </p:txBody>
      </p:sp>
      <p:sp>
        <p:nvSpPr>
          <p:cNvPr id="24" name="Shape 22"/>
          <p:cNvSpPr/>
          <p:nvPr/>
        </p:nvSpPr>
        <p:spPr>
          <a:xfrm>
            <a:off x="502920" y="6181613"/>
            <a:ext cx="11183112" cy="457200"/>
          </a:xfrm>
          <a:prstGeom prst="rect">
            <a:avLst/>
          </a:prstGeom>
          <a:solidFill>
            <a:srgbClr val="F7F8FA"/>
          </a:solidFill>
          <a:ln/>
        </p:spPr>
        <p:txBody>
          <a:bodyPr/>
          <a:lstStyle/>
          <a:p>
            <a:endParaRPr lang="en-US"/>
          </a:p>
        </p:txBody>
      </p:sp>
      <p:sp>
        <p:nvSpPr>
          <p:cNvPr id="25" name="Text 23"/>
          <p:cNvSpPr/>
          <p:nvPr/>
        </p:nvSpPr>
        <p:spPr>
          <a:xfrm>
            <a:off x="502920" y="6200170"/>
            <a:ext cx="10744200" cy="457200"/>
          </a:xfrm>
          <a:prstGeom prst="rect">
            <a:avLst/>
          </a:prstGeom>
          <a:noFill/>
          <a:ln/>
        </p:spPr>
        <p:txBody>
          <a:bodyPr wrap="square" lIns="0" tIns="0" rIns="0" bIns="0" rtlCol="0" anchor="ctr"/>
          <a:lstStyle/>
          <a:p>
            <a:pPr marL="0" indent="0">
              <a:buNone/>
            </a:pPr>
            <a:r>
              <a:rPr lang="en-US" sz="1875" b="1" i="1" dirty="0">
                <a:solidFill>
                  <a:srgbClr val="1B2A4A"/>
                </a:solidFill>
                <a:latin typeface="Cambria" pitchFamily="34" charset="0"/>
                <a:ea typeface="Cambria" pitchFamily="34" charset="-122"/>
                <a:cs typeface="Cambria" pitchFamily="34" charset="-120"/>
              </a:rPr>
              <a:t>The economics of resilience are often the economics of time.</a:t>
            </a:r>
            <a:endParaRPr lang="en-US" sz="1875" dirty="0"/>
          </a:p>
        </p:txBody>
      </p:sp>
      <p:sp>
        <p:nvSpPr>
          <p:cNvPr id="26" name="Text 24"/>
          <p:cNvSpPr/>
          <p:nvPr/>
        </p:nvSpPr>
        <p:spPr>
          <a:xfrm>
            <a:off x="502920" y="6620256"/>
            <a:ext cx="10881360" cy="201168"/>
          </a:xfrm>
          <a:prstGeom prst="rect">
            <a:avLst/>
          </a:prstGeom>
          <a:noFill/>
          <a:ln/>
        </p:spPr>
        <p:txBody>
          <a:bodyPr wrap="square" lIns="0" tIns="0" rIns="0" bIns="0" rtlCol="0" anchor="ctr"/>
          <a:lstStyle/>
          <a:p>
            <a:pPr marL="0" indent="0">
              <a:buNone/>
            </a:pPr>
            <a:r>
              <a:rPr lang="en-US" sz="1063" i="1" dirty="0">
                <a:solidFill>
                  <a:srgbClr val="6B7280"/>
                </a:solidFill>
                <a:latin typeface="Calibri" pitchFamily="34" charset="0"/>
                <a:ea typeface="Calibri" pitchFamily="34" charset="-122"/>
                <a:cs typeface="Calibri" pitchFamily="34" charset="-120"/>
              </a:rPr>
              <a:t>Sources: IBM Cost of a Data Breach Report 2025; ACFE Occupational Fraud 2024: A Report to the Nations; McKinsey State of AI 2025. Figures are correlational, not causal.</a:t>
            </a:r>
            <a:endParaRPr lang="en-US" sz="1063" dirty="0"/>
          </a:p>
        </p:txBody>
      </p:sp>
      <p:sp>
        <p:nvSpPr>
          <p:cNvPr id="27" name="Text 25"/>
          <p:cNvSpPr/>
          <p:nvPr/>
        </p:nvSpPr>
        <p:spPr>
          <a:xfrm>
            <a:off x="11658600" y="320040"/>
            <a:ext cx="457200" cy="274320"/>
          </a:xfrm>
          <a:prstGeom prst="rect">
            <a:avLst/>
          </a:prstGeom>
          <a:noFill/>
          <a:ln/>
        </p:spPr>
        <p:txBody>
          <a:bodyPr wrap="square" lIns="0" tIns="0" rIns="0" bIns="0" rtlCol="0" anchor="ctr"/>
          <a:lstStyle/>
          <a:p>
            <a:pPr marL="0" indent="0" algn="r">
              <a:buNone/>
            </a:pPr>
            <a:r>
              <a:rPr lang="en-US" sz="1125" dirty="0">
                <a:solidFill>
                  <a:srgbClr val="C9CDD6"/>
                </a:solidFill>
                <a:latin typeface="Calibri" pitchFamily="34" charset="0"/>
                <a:ea typeface="Calibri" pitchFamily="34" charset="-122"/>
                <a:cs typeface="Calibri" pitchFamily="34" charset="-120"/>
              </a:rPr>
              <a:t>06</a:t>
            </a:r>
            <a:endParaRPr lang="en-US" sz="1125" dirty="0"/>
          </a:p>
        </p:txBody>
      </p:sp>
    </p:spTree>
    <p:extLst>
      <p:ext uri="{BB962C8B-B14F-4D97-AF65-F5344CB8AC3E}">
        <p14:creationId xmlns:p14="http://schemas.microsoft.com/office/powerpoint/2010/main" val="4129346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buNone/>
            </a:pPr>
            <a:r>
              <a:rPr lang="en-US" sz="1500" b="1" kern="0" spc="200" dirty="0">
                <a:solidFill>
                  <a:srgbClr val="0E6E8C"/>
                </a:solidFill>
                <a:latin typeface="Calibri" pitchFamily="34" charset="0"/>
                <a:ea typeface="Calibri" pitchFamily="34" charset="-122"/>
                <a:cs typeface="Calibri" pitchFamily="34" charset="-120"/>
              </a:rPr>
              <a:t>A PRECEDENT</a:t>
            </a:r>
            <a:endParaRPr lang="en-US" sz="1500" dirty="0"/>
          </a:p>
        </p:txBody>
      </p:sp>
      <p:sp>
        <p:nvSpPr>
          <p:cNvPr id="3" name="Text 1"/>
          <p:cNvSpPr/>
          <p:nvPr/>
        </p:nvSpPr>
        <p:spPr>
          <a:xfrm>
            <a:off x="502920" y="612648"/>
            <a:ext cx="11155680" cy="868680"/>
          </a:xfrm>
          <a:prstGeom prst="rect">
            <a:avLst/>
          </a:prstGeom>
          <a:noFill/>
          <a:ln/>
        </p:spPr>
        <p:txBody>
          <a:bodyPr wrap="square" lIns="0" tIns="0" rIns="0" bIns="0" rtlCol="0" anchor="t"/>
          <a:lstStyle/>
          <a:p>
            <a:pPr marL="0" indent="0">
              <a:lnSpc>
                <a:spcPct val="102000"/>
              </a:lnSpc>
              <a:buNone/>
            </a:pPr>
            <a:r>
              <a:rPr lang="en-US" sz="3125" b="1" dirty="0">
                <a:solidFill>
                  <a:srgbClr val="1B2A4A"/>
                </a:solidFill>
                <a:latin typeface="Cambria" pitchFamily="34" charset="0"/>
                <a:ea typeface="Cambria" pitchFamily="34" charset="-122"/>
                <a:cs typeface="Cambria" pitchFamily="34" charset="-120"/>
              </a:rPr>
              <a:t>Cybersecurity already moved from periodic inspection toward continuous monitoring</a:t>
            </a:r>
            <a:endParaRPr lang="en-US" sz="3125" dirty="0"/>
          </a:p>
        </p:txBody>
      </p:sp>
      <p:sp>
        <p:nvSpPr>
          <p:cNvPr id="4" name="Shape 2"/>
          <p:cNvSpPr/>
          <p:nvPr/>
        </p:nvSpPr>
        <p:spPr>
          <a:xfrm>
            <a:off x="502920" y="1965960"/>
            <a:ext cx="1929384" cy="914400"/>
          </a:xfrm>
          <a:prstGeom prst="roundRect">
            <a:avLst>
              <a:gd name="adj" fmla="val 7000"/>
            </a:avLst>
          </a:prstGeom>
          <a:solidFill>
            <a:srgbClr val="E7EAF2"/>
          </a:solidFill>
          <a:ln w="12700">
            <a:solidFill>
              <a:srgbClr val="1B2A4A"/>
            </a:solidFill>
            <a:prstDash val="solid"/>
          </a:ln>
        </p:spPr>
        <p:txBody>
          <a:bodyPr/>
          <a:lstStyle/>
          <a:p>
            <a:endParaRPr lang="en-US" sz="2400"/>
          </a:p>
        </p:txBody>
      </p:sp>
      <p:sp>
        <p:nvSpPr>
          <p:cNvPr id="5" name="Text 3"/>
          <p:cNvSpPr/>
          <p:nvPr/>
        </p:nvSpPr>
        <p:spPr>
          <a:xfrm>
            <a:off x="548640" y="1993392"/>
            <a:ext cx="1837944" cy="859536"/>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Periodic Log</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Review</a:t>
            </a:r>
            <a:endParaRPr lang="en-US" sz="1600" dirty="0"/>
          </a:p>
        </p:txBody>
      </p:sp>
      <p:sp>
        <p:nvSpPr>
          <p:cNvPr id="6" name="Shape 4"/>
          <p:cNvSpPr/>
          <p:nvPr/>
        </p:nvSpPr>
        <p:spPr>
          <a:xfrm>
            <a:off x="2505273" y="2267712"/>
            <a:ext cx="238110" cy="310896"/>
          </a:xfrm>
          <a:prstGeom prst="chevron">
            <a:avLst/>
          </a:prstGeom>
          <a:solidFill>
            <a:srgbClr val="C9CDD6"/>
          </a:solidFill>
          <a:ln/>
        </p:spPr>
        <p:txBody>
          <a:bodyPr/>
          <a:lstStyle/>
          <a:p>
            <a:endParaRPr lang="en-US" sz="2400"/>
          </a:p>
        </p:txBody>
      </p:sp>
      <p:sp>
        <p:nvSpPr>
          <p:cNvPr id="7" name="Shape 5"/>
          <p:cNvSpPr/>
          <p:nvPr/>
        </p:nvSpPr>
        <p:spPr>
          <a:xfrm>
            <a:off x="2816352" y="1965960"/>
            <a:ext cx="1929384" cy="914400"/>
          </a:xfrm>
          <a:prstGeom prst="roundRect">
            <a:avLst>
              <a:gd name="adj" fmla="val 7000"/>
            </a:avLst>
          </a:prstGeom>
          <a:solidFill>
            <a:srgbClr val="E7EAF2"/>
          </a:solidFill>
          <a:ln w="12700">
            <a:solidFill>
              <a:srgbClr val="1B2A4A"/>
            </a:solidFill>
            <a:prstDash val="solid"/>
          </a:ln>
        </p:spPr>
        <p:txBody>
          <a:bodyPr/>
          <a:lstStyle/>
          <a:p>
            <a:endParaRPr lang="en-US" sz="2400"/>
          </a:p>
        </p:txBody>
      </p:sp>
      <p:sp>
        <p:nvSpPr>
          <p:cNvPr id="8" name="Text 6"/>
          <p:cNvSpPr/>
          <p:nvPr/>
        </p:nvSpPr>
        <p:spPr>
          <a:xfrm>
            <a:off x="2862072" y="1993392"/>
            <a:ext cx="1837944" cy="859536"/>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Centralized</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Monitoring</a:t>
            </a:r>
            <a:endParaRPr lang="en-US" sz="1600" dirty="0"/>
          </a:p>
        </p:txBody>
      </p:sp>
      <p:sp>
        <p:nvSpPr>
          <p:cNvPr id="9" name="Shape 7"/>
          <p:cNvSpPr/>
          <p:nvPr/>
        </p:nvSpPr>
        <p:spPr>
          <a:xfrm>
            <a:off x="4818705" y="2267712"/>
            <a:ext cx="238110" cy="310896"/>
          </a:xfrm>
          <a:prstGeom prst="chevron">
            <a:avLst/>
          </a:prstGeom>
          <a:solidFill>
            <a:srgbClr val="C9CDD6"/>
          </a:solidFill>
          <a:ln/>
        </p:spPr>
        <p:txBody>
          <a:bodyPr/>
          <a:lstStyle/>
          <a:p>
            <a:endParaRPr lang="en-US" sz="2400"/>
          </a:p>
        </p:txBody>
      </p:sp>
      <p:sp>
        <p:nvSpPr>
          <p:cNvPr id="10" name="Shape 8"/>
          <p:cNvSpPr/>
          <p:nvPr/>
        </p:nvSpPr>
        <p:spPr>
          <a:xfrm>
            <a:off x="5129784" y="1965960"/>
            <a:ext cx="1929384" cy="914400"/>
          </a:xfrm>
          <a:prstGeom prst="roundRect">
            <a:avLst>
              <a:gd name="adj" fmla="val 7000"/>
            </a:avLst>
          </a:prstGeom>
          <a:solidFill>
            <a:srgbClr val="E7EAF2"/>
          </a:solidFill>
          <a:ln w="12700">
            <a:solidFill>
              <a:srgbClr val="1B2A4A"/>
            </a:solidFill>
            <a:prstDash val="solid"/>
          </a:ln>
        </p:spPr>
        <p:txBody>
          <a:bodyPr/>
          <a:lstStyle/>
          <a:p>
            <a:endParaRPr lang="en-US" sz="2400"/>
          </a:p>
        </p:txBody>
      </p:sp>
      <p:sp>
        <p:nvSpPr>
          <p:cNvPr id="11" name="Text 9"/>
          <p:cNvSpPr/>
          <p:nvPr/>
        </p:nvSpPr>
        <p:spPr>
          <a:xfrm>
            <a:off x="5175504" y="1993392"/>
            <a:ext cx="1837944" cy="859536"/>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Security</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Operations</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Centre</a:t>
            </a:r>
            <a:endParaRPr lang="en-US" sz="1600" dirty="0"/>
          </a:p>
        </p:txBody>
      </p:sp>
      <p:sp>
        <p:nvSpPr>
          <p:cNvPr id="12" name="Shape 10"/>
          <p:cNvSpPr/>
          <p:nvPr/>
        </p:nvSpPr>
        <p:spPr>
          <a:xfrm>
            <a:off x="7132137" y="2267712"/>
            <a:ext cx="238110" cy="310896"/>
          </a:xfrm>
          <a:prstGeom prst="chevron">
            <a:avLst/>
          </a:prstGeom>
          <a:solidFill>
            <a:srgbClr val="C9CDD6"/>
          </a:solidFill>
          <a:ln/>
        </p:spPr>
        <p:txBody>
          <a:bodyPr/>
          <a:lstStyle/>
          <a:p>
            <a:endParaRPr lang="en-US" sz="2400"/>
          </a:p>
        </p:txBody>
      </p:sp>
      <p:sp>
        <p:nvSpPr>
          <p:cNvPr id="13" name="Shape 11"/>
          <p:cNvSpPr/>
          <p:nvPr/>
        </p:nvSpPr>
        <p:spPr>
          <a:xfrm>
            <a:off x="7443216" y="1965960"/>
            <a:ext cx="1929384" cy="914400"/>
          </a:xfrm>
          <a:prstGeom prst="roundRect">
            <a:avLst>
              <a:gd name="adj" fmla="val 7000"/>
            </a:avLst>
          </a:prstGeom>
          <a:solidFill>
            <a:srgbClr val="E7EAF2"/>
          </a:solidFill>
          <a:ln w="12700">
            <a:solidFill>
              <a:srgbClr val="1B2A4A"/>
            </a:solidFill>
            <a:prstDash val="solid"/>
          </a:ln>
        </p:spPr>
        <p:txBody>
          <a:bodyPr/>
          <a:lstStyle/>
          <a:p>
            <a:endParaRPr lang="en-US" sz="2400"/>
          </a:p>
        </p:txBody>
      </p:sp>
      <p:sp>
        <p:nvSpPr>
          <p:cNvPr id="14" name="Text 12"/>
          <p:cNvSpPr/>
          <p:nvPr/>
        </p:nvSpPr>
        <p:spPr>
          <a:xfrm>
            <a:off x="7488936" y="1993392"/>
            <a:ext cx="1837944" cy="859536"/>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Detection</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Engineering</a:t>
            </a:r>
            <a:endParaRPr lang="en-US" sz="1600" dirty="0"/>
          </a:p>
        </p:txBody>
      </p:sp>
      <p:sp>
        <p:nvSpPr>
          <p:cNvPr id="15" name="Shape 13"/>
          <p:cNvSpPr/>
          <p:nvPr/>
        </p:nvSpPr>
        <p:spPr>
          <a:xfrm>
            <a:off x="9445569" y="2267712"/>
            <a:ext cx="238110" cy="310896"/>
          </a:xfrm>
          <a:prstGeom prst="chevron">
            <a:avLst/>
          </a:prstGeom>
          <a:solidFill>
            <a:srgbClr val="C9CDD6"/>
          </a:solidFill>
          <a:ln/>
        </p:spPr>
        <p:txBody>
          <a:bodyPr/>
          <a:lstStyle/>
          <a:p>
            <a:endParaRPr lang="en-US" sz="2400"/>
          </a:p>
        </p:txBody>
      </p:sp>
      <p:sp>
        <p:nvSpPr>
          <p:cNvPr id="16" name="Shape 14"/>
          <p:cNvSpPr/>
          <p:nvPr/>
        </p:nvSpPr>
        <p:spPr>
          <a:xfrm>
            <a:off x="9756648" y="1965960"/>
            <a:ext cx="1929384" cy="914400"/>
          </a:xfrm>
          <a:prstGeom prst="roundRect">
            <a:avLst>
              <a:gd name="adj" fmla="val 7000"/>
            </a:avLst>
          </a:prstGeom>
          <a:solidFill>
            <a:srgbClr val="E7EAF2"/>
          </a:solidFill>
          <a:ln w="12700">
            <a:solidFill>
              <a:srgbClr val="1B2A4A"/>
            </a:solidFill>
            <a:prstDash val="solid"/>
          </a:ln>
        </p:spPr>
        <p:txBody>
          <a:bodyPr/>
          <a:lstStyle/>
          <a:p>
            <a:endParaRPr lang="en-US" sz="2400"/>
          </a:p>
        </p:txBody>
      </p:sp>
      <p:sp>
        <p:nvSpPr>
          <p:cNvPr id="17" name="Text 15"/>
          <p:cNvSpPr/>
          <p:nvPr/>
        </p:nvSpPr>
        <p:spPr>
          <a:xfrm>
            <a:off x="9802368" y="1993392"/>
            <a:ext cx="1837944" cy="859536"/>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Agentic SOC</a:t>
            </a:r>
            <a:endParaRPr lang="en-US" sz="1600" dirty="0"/>
          </a:p>
        </p:txBody>
      </p:sp>
      <p:sp>
        <p:nvSpPr>
          <p:cNvPr id="18" name="Text 16"/>
          <p:cNvSpPr/>
          <p:nvPr/>
        </p:nvSpPr>
        <p:spPr>
          <a:xfrm>
            <a:off x="502920" y="3063240"/>
            <a:ext cx="11183112" cy="256032"/>
          </a:xfrm>
          <a:prstGeom prst="rect">
            <a:avLst/>
          </a:prstGeom>
          <a:noFill/>
          <a:ln/>
        </p:spPr>
        <p:txBody>
          <a:bodyPr wrap="square" lIns="0" tIns="0" rIns="0" bIns="0" rtlCol="0" anchor="ctr"/>
          <a:lstStyle/>
          <a:p>
            <a:pPr marL="0" indent="0" algn="ctr">
              <a:buNone/>
            </a:pPr>
            <a:r>
              <a:rPr lang="en-US" sz="1600" b="1" dirty="0">
                <a:solidFill>
                  <a:srgbClr val="6B7280"/>
                </a:solidFill>
                <a:latin typeface="Calibri" pitchFamily="34" charset="0"/>
                <a:ea typeface="Calibri" pitchFamily="34" charset="-122"/>
                <a:cs typeface="Calibri" pitchFamily="34" charset="-120"/>
              </a:rPr>
              <a:t>WHAT CHANGED ↓</a:t>
            </a:r>
            <a:endParaRPr lang="en-US" sz="1600" dirty="0"/>
          </a:p>
        </p:txBody>
      </p:sp>
      <p:sp>
        <p:nvSpPr>
          <p:cNvPr id="19" name="Shape 17"/>
          <p:cNvSpPr/>
          <p:nvPr/>
        </p:nvSpPr>
        <p:spPr>
          <a:xfrm>
            <a:off x="502920" y="3429000"/>
            <a:ext cx="1929384" cy="914400"/>
          </a:xfrm>
          <a:prstGeom prst="roundRect">
            <a:avLst>
              <a:gd name="adj" fmla="val 7000"/>
            </a:avLst>
          </a:prstGeom>
          <a:solidFill>
            <a:srgbClr val="D8ECF1"/>
          </a:solidFill>
          <a:ln w="12700">
            <a:solidFill>
              <a:srgbClr val="0E6E8C"/>
            </a:solidFill>
            <a:prstDash val="solid"/>
          </a:ln>
        </p:spPr>
        <p:txBody>
          <a:bodyPr/>
          <a:lstStyle/>
          <a:p>
            <a:endParaRPr lang="en-US" sz="2400"/>
          </a:p>
        </p:txBody>
      </p:sp>
      <p:sp>
        <p:nvSpPr>
          <p:cNvPr id="20" name="Text 18"/>
          <p:cNvSpPr/>
          <p:nvPr/>
        </p:nvSpPr>
        <p:spPr>
          <a:xfrm>
            <a:off x="548640" y="3456432"/>
            <a:ext cx="1837944" cy="859536"/>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Manual</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Review</a:t>
            </a:r>
            <a:endParaRPr lang="en-US" sz="1600" dirty="0"/>
          </a:p>
        </p:txBody>
      </p:sp>
      <p:sp>
        <p:nvSpPr>
          <p:cNvPr id="21" name="Shape 19"/>
          <p:cNvSpPr/>
          <p:nvPr/>
        </p:nvSpPr>
        <p:spPr>
          <a:xfrm>
            <a:off x="2505273" y="3730752"/>
            <a:ext cx="238110" cy="310896"/>
          </a:xfrm>
          <a:prstGeom prst="chevron">
            <a:avLst/>
          </a:prstGeom>
          <a:solidFill>
            <a:srgbClr val="C9CDD6"/>
          </a:solidFill>
          <a:ln/>
        </p:spPr>
        <p:txBody>
          <a:bodyPr/>
          <a:lstStyle/>
          <a:p>
            <a:endParaRPr lang="en-US" sz="2400"/>
          </a:p>
        </p:txBody>
      </p:sp>
      <p:sp>
        <p:nvSpPr>
          <p:cNvPr id="22" name="Shape 20"/>
          <p:cNvSpPr/>
          <p:nvPr/>
        </p:nvSpPr>
        <p:spPr>
          <a:xfrm>
            <a:off x="2816352" y="3429000"/>
            <a:ext cx="1929384" cy="914400"/>
          </a:xfrm>
          <a:prstGeom prst="roundRect">
            <a:avLst>
              <a:gd name="adj" fmla="val 7000"/>
            </a:avLst>
          </a:prstGeom>
          <a:solidFill>
            <a:srgbClr val="D8ECF1"/>
          </a:solidFill>
          <a:ln w="12700">
            <a:solidFill>
              <a:srgbClr val="0E6E8C"/>
            </a:solidFill>
            <a:prstDash val="solid"/>
          </a:ln>
        </p:spPr>
        <p:txBody>
          <a:bodyPr/>
          <a:lstStyle/>
          <a:p>
            <a:endParaRPr lang="en-US" sz="2400"/>
          </a:p>
        </p:txBody>
      </p:sp>
      <p:sp>
        <p:nvSpPr>
          <p:cNvPr id="23" name="Text 21"/>
          <p:cNvSpPr/>
          <p:nvPr/>
        </p:nvSpPr>
        <p:spPr>
          <a:xfrm>
            <a:off x="2862072" y="3456432"/>
            <a:ext cx="1837944" cy="859536"/>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Continuous</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Signals</a:t>
            </a:r>
            <a:endParaRPr lang="en-US" sz="1600" dirty="0"/>
          </a:p>
        </p:txBody>
      </p:sp>
      <p:sp>
        <p:nvSpPr>
          <p:cNvPr id="24" name="Shape 22"/>
          <p:cNvSpPr/>
          <p:nvPr/>
        </p:nvSpPr>
        <p:spPr>
          <a:xfrm>
            <a:off x="4818705" y="3730752"/>
            <a:ext cx="238110" cy="310896"/>
          </a:xfrm>
          <a:prstGeom prst="chevron">
            <a:avLst/>
          </a:prstGeom>
          <a:solidFill>
            <a:srgbClr val="C9CDD6"/>
          </a:solidFill>
          <a:ln/>
        </p:spPr>
        <p:txBody>
          <a:bodyPr/>
          <a:lstStyle/>
          <a:p>
            <a:endParaRPr lang="en-US" sz="2400"/>
          </a:p>
        </p:txBody>
      </p:sp>
      <p:sp>
        <p:nvSpPr>
          <p:cNvPr id="25" name="Shape 23"/>
          <p:cNvSpPr/>
          <p:nvPr/>
        </p:nvSpPr>
        <p:spPr>
          <a:xfrm>
            <a:off x="5129784" y="3429000"/>
            <a:ext cx="1929384" cy="914400"/>
          </a:xfrm>
          <a:prstGeom prst="roundRect">
            <a:avLst>
              <a:gd name="adj" fmla="val 7000"/>
            </a:avLst>
          </a:prstGeom>
          <a:solidFill>
            <a:srgbClr val="D8ECF1"/>
          </a:solidFill>
          <a:ln w="12700">
            <a:solidFill>
              <a:srgbClr val="0E6E8C"/>
            </a:solidFill>
            <a:prstDash val="solid"/>
          </a:ln>
        </p:spPr>
        <p:txBody>
          <a:bodyPr/>
          <a:lstStyle/>
          <a:p>
            <a:endParaRPr lang="en-US" sz="2400"/>
          </a:p>
        </p:txBody>
      </p:sp>
      <p:sp>
        <p:nvSpPr>
          <p:cNvPr id="26" name="Text 24"/>
          <p:cNvSpPr/>
          <p:nvPr/>
        </p:nvSpPr>
        <p:spPr>
          <a:xfrm>
            <a:off x="5175504" y="3456432"/>
            <a:ext cx="1837944" cy="859536"/>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Continuous</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Detection</a:t>
            </a:r>
            <a:endParaRPr lang="en-US" sz="1600" dirty="0"/>
          </a:p>
        </p:txBody>
      </p:sp>
      <p:sp>
        <p:nvSpPr>
          <p:cNvPr id="27" name="Shape 25"/>
          <p:cNvSpPr/>
          <p:nvPr/>
        </p:nvSpPr>
        <p:spPr>
          <a:xfrm>
            <a:off x="7132137" y="3730752"/>
            <a:ext cx="238110" cy="310896"/>
          </a:xfrm>
          <a:prstGeom prst="chevron">
            <a:avLst/>
          </a:prstGeom>
          <a:solidFill>
            <a:srgbClr val="C9CDD6"/>
          </a:solidFill>
          <a:ln/>
        </p:spPr>
        <p:txBody>
          <a:bodyPr/>
          <a:lstStyle/>
          <a:p>
            <a:endParaRPr lang="en-US" sz="2400"/>
          </a:p>
        </p:txBody>
      </p:sp>
      <p:sp>
        <p:nvSpPr>
          <p:cNvPr id="28" name="Shape 26"/>
          <p:cNvSpPr/>
          <p:nvPr/>
        </p:nvSpPr>
        <p:spPr>
          <a:xfrm>
            <a:off x="7443216" y="3429000"/>
            <a:ext cx="1929384" cy="914400"/>
          </a:xfrm>
          <a:prstGeom prst="roundRect">
            <a:avLst>
              <a:gd name="adj" fmla="val 7000"/>
            </a:avLst>
          </a:prstGeom>
          <a:solidFill>
            <a:srgbClr val="D8ECF1"/>
          </a:solidFill>
          <a:ln w="12700">
            <a:solidFill>
              <a:srgbClr val="0E6E8C"/>
            </a:solidFill>
            <a:prstDash val="solid"/>
          </a:ln>
        </p:spPr>
        <p:txBody>
          <a:bodyPr/>
          <a:lstStyle/>
          <a:p>
            <a:endParaRPr lang="en-US" sz="2400"/>
          </a:p>
        </p:txBody>
      </p:sp>
      <p:sp>
        <p:nvSpPr>
          <p:cNvPr id="29" name="Text 27"/>
          <p:cNvSpPr/>
          <p:nvPr/>
        </p:nvSpPr>
        <p:spPr>
          <a:xfrm>
            <a:off x="7488936" y="3456432"/>
            <a:ext cx="1837944" cy="859536"/>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Engineered</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Detection</a:t>
            </a:r>
            <a:endParaRPr lang="en-US" sz="1600" dirty="0"/>
          </a:p>
        </p:txBody>
      </p:sp>
      <p:sp>
        <p:nvSpPr>
          <p:cNvPr id="30" name="Shape 28"/>
          <p:cNvSpPr/>
          <p:nvPr/>
        </p:nvSpPr>
        <p:spPr>
          <a:xfrm>
            <a:off x="9445569" y="3730752"/>
            <a:ext cx="238110" cy="310896"/>
          </a:xfrm>
          <a:prstGeom prst="chevron">
            <a:avLst/>
          </a:prstGeom>
          <a:solidFill>
            <a:srgbClr val="C9CDD6"/>
          </a:solidFill>
          <a:ln/>
        </p:spPr>
        <p:txBody>
          <a:bodyPr/>
          <a:lstStyle/>
          <a:p>
            <a:endParaRPr lang="en-US" sz="2400"/>
          </a:p>
        </p:txBody>
      </p:sp>
      <p:sp>
        <p:nvSpPr>
          <p:cNvPr id="31" name="Shape 29"/>
          <p:cNvSpPr/>
          <p:nvPr/>
        </p:nvSpPr>
        <p:spPr>
          <a:xfrm>
            <a:off x="9756648" y="3429000"/>
            <a:ext cx="1929384" cy="914400"/>
          </a:xfrm>
          <a:prstGeom prst="roundRect">
            <a:avLst>
              <a:gd name="adj" fmla="val 7000"/>
            </a:avLst>
          </a:prstGeom>
          <a:solidFill>
            <a:srgbClr val="D8ECF1"/>
          </a:solidFill>
          <a:ln w="12700">
            <a:solidFill>
              <a:srgbClr val="0E6E8C"/>
            </a:solidFill>
            <a:prstDash val="solid"/>
          </a:ln>
        </p:spPr>
        <p:txBody>
          <a:bodyPr/>
          <a:lstStyle/>
          <a:p>
            <a:endParaRPr lang="en-US" sz="2400"/>
          </a:p>
        </p:txBody>
      </p:sp>
      <p:sp>
        <p:nvSpPr>
          <p:cNvPr id="32" name="Text 30"/>
          <p:cNvSpPr/>
          <p:nvPr/>
        </p:nvSpPr>
        <p:spPr>
          <a:xfrm>
            <a:off x="9802368" y="3456432"/>
            <a:ext cx="1837944" cy="859536"/>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Continuous</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Investigation</a:t>
            </a:r>
            <a:endParaRPr lang="en-US" sz="1600" dirty="0"/>
          </a:p>
        </p:txBody>
      </p:sp>
      <p:sp>
        <p:nvSpPr>
          <p:cNvPr id="33" name="Shape 31"/>
          <p:cNvSpPr/>
          <p:nvPr/>
        </p:nvSpPr>
        <p:spPr>
          <a:xfrm>
            <a:off x="502920" y="4663440"/>
            <a:ext cx="11183112" cy="1234440"/>
          </a:xfrm>
          <a:prstGeom prst="roundRect">
            <a:avLst>
              <a:gd name="adj" fmla="val 5926"/>
            </a:avLst>
          </a:prstGeom>
          <a:solidFill>
            <a:srgbClr val="F7F8FA"/>
          </a:solidFill>
          <a:ln/>
        </p:spPr>
        <p:txBody>
          <a:bodyPr/>
          <a:lstStyle/>
          <a:p>
            <a:endParaRPr lang="en-US" sz="2400"/>
          </a:p>
        </p:txBody>
      </p:sp>
      <p:sp>
        <p:nvSpPr>
          <p:cNvPr id="34" name="Text 32"/>
          <p:cNvSpPr/>
          <p:nvPr/>
        </p:nvSpPr>
        <p:spPr>
          <a:xfrm>
            <a:off x="731520" y="4773168"/>
            <a:ext cx="10744200" cy="1005840"/>
          </a:xfrm>
          <a:prstGeom prst="rect">
            <a:avLst/>
          </a:prstGeom>
          <a:noFill/>
          <a:ln/>
        </p:spPr>
        <p:txBody>
          <a:bodyPr wrap="square" lIns="0" tIns="0" rIns="0" bIns="0" rtlCol="0" anchor="ctr"/>
          <a:lstStyle/>
          <a:p>
            <a:pPr marL="0" indent="0">
              <a:buNone/>
            </a:pPr>
            <a:r>
              <a:rPr lang="en-US" i="1" dirty="0">
                <a:solidFill>
                  <a:srgbClr val="2B2F38"/>
                </a:solidFill>
                <a:latin typeface="Calibri" pitchFamily="34" charset="0"/>
                <a:ea typeface="Calibri" pitchFamily="34" charset="-122"/>
                <a:cs typeface="Calibri" pitchFamily="34" charset="-120"/>
              </a:rPr>
              <a:t>The SOC is not Internal Audit - it's an analogy: a discipline that moved from periodic inspection to continuous detection without abandoning judgment, escalation, or accountability.</a:t>
            </a:r>
            <a:endParaRPr lang="en-US" dirty="0"/>
          </a:p>
        </p:txBody>
      </p:sp>
      <p:sp>
        <p:nvSpPr>
          <p:cNvPr id="35" name="Shape 33"/>
          <p:cNvSpPr/>
          <p:nvPr/>
        </p:nvSpPr>
        <p:spPr>
          <a:xfrm>
            <a:off x="502920" y="6108192"/>
            <a:ext cx="11183112" cy="457200"/>
          </a:xfrm>
          <a:prstGeom prst="rect">
            <a:avLst/>
          </a:prstGeom>
          <a:solidFill>
            <a:srgbClr val="F7F8FA"/>
          </a:solidFill>
          <a:ln/>
        </p:spPr>
        <p:txBody>
          <a:bodyPr/>
          <a:lstStyle/>
          <a:p>
            <a:endParaRPr lang="en-US"/>
          </a:p>
        </p:txBody>
      </p:sp>
      <p:sp>
        <p:nvSpPr>
          <p:cNvPr id="36" name="Text 34"/>
          <p:cNvSpPr/>
          <p:nvPr/>
        </p:nvSpPr>
        <p:spPr>
          <a:xfrm>
            <a:off x="731520" y="6108192"/>
            <a:ext cx="10744200" cy="457200"/>
          </a:xfrm>
          <a:prstGeom prst="rect">
            <a:avLst/>
          </a:prstGeom>
          <a:noFill/>
          <a:ln/>
        </p:spPr>
        <p:txBody>
          <a:bodyPr wrap="square" lIns="0" tIns="0" rIns="0" bIns="0" rtlCol="0" anchor="ctr"/>
          <a:lstStyle/>
          <a:p>
            <a:pPr marL="0" indent="0">
              <a:buNone/>
            </a:pPr>
            <a:r>
              <a:rPr lang="en-US" sz="1875" b="1" i="1" dirty="0">
                <a:solidFill>
                  <a:srgbClr val="1B2A4A"/>
                </a:solidFill>
                <a:latin typeface="Cambria" pitchFamily="34" charset="0"/>
                <a:ea typeface="Cambria" pitchFamily="34" charset="-122"/>
                <a:cs typeface="Cambria" pitchFamily="34" charset="-120"/>
              </a:rPr>
              <a:t>Security became continuous because the risk became continuous.</a:t>
            </a:r>
            <a:endParaRPr lang="en-US" sz="1875" dirty="0"/>
          </a:p>
        </p:txBody>
      </p:sp>
      <p:sp>
        <p:nvSpPr>
          <p:cNvPr id="37" name="Text 35"/>
          <p:cNvSpPr/>
          <p:nvPr/>
        </p:nvSpPr>
        <p:spPr>
          <a:xfrm>
            <a:off x="11658600" y="320040"/>
            <a:ext cx="457200" cy="274320"/>
          </a:xfrm>
          <a:prstGeom prst="rect">
            <a:avLst/>
          </a:prstGeom>
          <a:noFill/>
          <a:ln/>
        </p:spPr>
        <p:txBody>
          <a:bodyPr wrap="square" lIns="0" tIns="0" rIns="0" bIns="0" rtlCol="0" anchor="ctr"/>
          <a:lstStyle/>
          <a:p>
            <a:pPr marL="0" indent="0" algn="r">
              <a:buNone/>
            </a:pPr>
            <a:r>
              <a:rPr lang="en-US" sz="1125" dirty="0">
                <a:solidFill>
                  <a:srgbClr val="C9CDD6"/>
                </a:solidFill>
                <a:latin typeface="Calibri" pitchFamily="34" charset="0"/>
                <a:ea typeface="Calibri" pitchFamily="34" charset="-122"/>
                <a:cs typeface="Calibri" pitchFamily="34" charset="-120"/>
              </a:rPr>
              <a:t>07</a:t>
            </a:r>
            <a:endParaRPr lang="en-US" sz="1125" dirty="0"/>
          </a:p>
        </p:txBody>
      </p:sp>
    </p:spTree>
    <p:extLst>
      <p:ext uri="{BB962C8B-B14F-4D97-AF65-F5344CB8AC3E}">
        <p14:creationId xmlns:p14="http://schemas.microsoft.com/office/powerpoint/2010/main" val="1567839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buNone/>
            </a:pPr>
            <a:r>
              <a:rPr lang="en-US" sz="1500" b="1" kern="0" spc="200" dirty="0">
                <a:solidFill>
                  <a:srgbClr val="0E6E8C"/>
                </a:solidFill>
                <a:latin typeface="Calibri" pitchFamily="34" charset="0"/>
                <a:ea typeface="Calibri" pitchFamily="34" charset="-122"/>
                <a:cs typeface="Calibri" pitchFamily="34" charset="-120"/>
              </a:rPr>
              <a:t>THE CORE IDEA</a:t>
            </a:r>
            <a:endParaRPr lang="en-US" sz="1500" dirty="0"/>
          </a:p>
        </p:txBody>
      </p:sp>
      <p:sp>
        <p:nvSpPr>
          <p:cNvPr id="3" name="Text 1"/>
          <p:cNvSpPr/>
          <p:nvPr/>
        </p:nvSpPr>
        <p:spPr>
          <a:xfrm>
            <a:off x="457200" y="708660"/>
            <a:ext cx="11155680" cy="649224"/>
          </a:xfrm>
          <a:prstGeom prst="rect">
            <a:avLst/>
          </a:prstGeom>
          <a:noFill/>
          <a:ln/>
        </p:spPr>
        <p:txBody>
          <a:bodyPr wrap="square" lIns="0" tIns="0" rIns="0" bIns="0" rtlCol="0" anchor="t"/>
          <a:lstStyle/>
          <a:p>
            <a:pPr marL="0" indent="0">
              <a:lnSpc>
                <a:spcPct val="102000"/>
              </a:lnSpc>
              <a:buNone/>
            </a:pPr>
            <a:r>
              <a:rPr lang="en-US" sz="3375" b="1" dirty="0">
                <a:solidFill>
                  <a:srgbClr val="1B2A4A"/>
                </a:solidFill>
                <a:latin typeface="Cambria" pitchFamily="34" charset="0"/>
                <a:ea typeface="Cambria" pitchFamily="34" charset="-122"/>
                <a:cs typeface="Cambria" pitchFamily="34" charset="-120"/>
              </a:rPr>
              <a:t>What if we engineered detections for control failure?</a:t>
            </a:r>
            <a:endParaRPr lang="en-US" sz="3375" dirty="0"/>
          </a:p>
        </p:txBody>
      </p:sp>
      <p:sp>
        <p:nvSpPr>
          <p:cNvPr id="4" name="Shape 2"/>
          <p:cNvSpPr/>
          <p:nvPr/>
        </p:nvSpPr>
        <p:spPr>
          <a:xfrm>
            <a:off x="502920" y="1691640"/>
            <a:ext cx="1055402" cy="960120"/>
          </a:xfrm>
          <a:prstGeom prst="roundRect">
            <a:avLst>
              <a:gd name="adj" fmla="val 6667"/>
            </a:avLst>
          </a:prstGeom>
          <a:solidFill>
            <a:srgbClr val="E7EAF2"/>
          </a:solidFill>
          <a:ln w="12700">
            <a:solidFill>
              <a:srgbClr val="1B2A4A"/>
            </a:solidFill>
            <a:prstDash val="solid"/>
          </a:ln>
        </p:spPr>
        <p:txBody>
          <a:bodyPr/>
          <a:lstStyle/>
          <a:p>
            <a:endParaRPr lang="en-US" sz="2400"/>
          </a:p>
        </p:txBody>
      </p:sp>
      <p:sp>
        <p:nvSpPr>
          <p:cNvPr id="5" name="Text 3"/>
          <p:cNvSpPr/>
          <p:nvPr/>
        </p:nvSpPr>
        <p:spPr>
          <a:xfrm>
            <a:off x="548640" y="1719072"/>
            <a:ext cx="955567" cy="905256"/>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Audit</a:t>
            </a:r>
            <a:endParaRPr lang="en-US" sz="1400" dirty="0"/>
          </a:p>
          <a:p>
            <a:pPr marL="0" indent="0" algn="ctr">
              <a:buNone/>
            </a:pPr>
            <a:r>
              <a:rPr lang="en-US" sz="1400" b="1" dirty="0">
                <a:solidFill>
                  <a:srgbClr val="1B2A4A"/>
                </a:solidFill>
                <a:latin typeface="Calibri" pitchFamily="34" charset="0"/>
                <a:ea typeface="Calibri" pitchFamily="34" charset="-122"/>
                <a:cs typeface="Calibri" pitchFamily="34" charset="-120"/>
              </a:rPr>
              <a:t>Objective</a:t>
            </a:r>
            <a:endParaRPr lang="en-US" sz="1400" dirty="0"/>
          </a:p>
        </p:txBody>
      </p:sp>
      <p:sp>
        <p:nvSpPr>
          <p:cNvPr id="6" name="Shape 4"/>
          <p:cNvSpPr/>
          <p:nvPr/>
        </p:nvSpPr>
        <p:spPr>
          <a:xfrm>
            <a:off x="1504319" y="2008480"/>
            <a:ext cx="123796" cy="326441"/>
          </a:xfrm>
          <a:prstGeom prst="chevron">
            <a:avLst/>
          </a:prstGeom>
          <a:solidFill>
            <a:srgbClr val="C9CDD6"/>
          </a:solidFill>
          <a:ln/>
        </p:spPr>
        <p:txBody>
          <a:bodyPr/>
          <a:lstStyle/>
          <a:p>
            <a:endParaRPr lang="en-US" sz="2400"/>
          </a:p>
        </p:txBody>
      </p:sp>
      <p:sp>
        <p:nvSpPr>
          <p:cNvPr id="7" name="Shape 5"/>
          <p:cNvSpPr/>
          <p:nvPr/>
        </p:nvSpPr>
        <p:spPr>
          <a:xfrm>
            <a:off x="1652451" y="1691640"/>
            <a:ext cx="1055402" cy="960120"/>
          </a:xfrm>
          <a:prstGeom prst="roundRect">
            <a:avLst>
              <a:gd name="adj" fmla="val 6667"/>
            </a:avLst>
          </a:prstGeom>
          <a:solidFill>
            <a:srgbClr val="E7EAF2"/>
          </a:solidFill>
          <a:ln w="12700">
            <a:solidFill>
              <a:srgbClr val="1B2A4A"/>
            </a:solidFill>
            <a:prstDash val="solid"/>
          </a:ln>
        </p:spPr>
        <p:txBody>
          <a:bodyPr/>
          <a:lstStyle/>
          <a:p>
            <a:endParaRPr lang="en-US" sz="2400"/>
          </a:p>
        </p:txBody>
      </p:sp>
      <p:sp>
        <p:nvSpPr>
          <p:cNvPr id="8" name="Text 6"/>
          <p:cNvSpPr/>
          <p:nvPr/>
        </p:nvSpPr>
        <p:spPr>
          <a:xfrm>
            <a:off x="1698171" y="1719072"/>
            <a:ext cx="955567" cy="905256"/>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Control-Failure</a:t>
            </a:r>
            <a:endParaRPr lang="en-US" sz="1400" dirty="0"/>
          </a:p>
          <a:p>
            <a:pPr marL="0" indent="0" algn="ctr">
              <a:buNone/>
            </a:pPr>
            <a:r>
              <a:rPr lang="en-US" sz="1400" b="1" dirty="0">
                <a:solidFill>
                  <a:srgbClr val="1B2A4A"/>
                </a:solidFill>
                <a:latin typeface="Calibri" pitchFamily="34" charset="0"/>
                <a:ea typeface="Calibri" pitchFamily="34" charset="-122"/>
                <a:cs typeface="Calibri" pitchFamily="34" charset="-120"/>
              </a:rPr>
              <a:t>Hypothesis</a:t>
            </a:r>
            <a:endParaRPr lang="en-US" sz="1400" dirty="0"/>
          </a:p>
        </p:txBody>
      </p:sp>
      <p:sp>
        <p:nvSpPr>
          <p:cNvPr id="9" name="Shape 7"/>
          <p:cNvSpPr/>
          <p:nvPr/>
        </p:nvSpPr>
        <p:spPr>
          <a:xfrm>
            <a:off x="2653850" y="2008480"/>
            <a:ext cx="123796" cy="326441"/>
          </a:xfrm>
          <a:prstGeom prst="chevron">
            <a:avLst/>
          </a:prstGeom>
          <a:solidFill>
            <a:srgbClr val="C9CDD6"/>
          </a:solidFill>
          <a:ln/>
        </p:spPr>
        <p:txBody>
          <a:bodyPr/>
          <a:lstStyle/>
          <a:p>
            <a:endParaRPr lang="en-US" sz="2400"/>
          </a:p>
        </p:txBody>
      </p:sp>
      <p:sp>
        <p:nvSpPr>
          <p:cNvPr id="10" name="Shape 8"/>
          <p:cNvSpPr/>
          <p:nvPr/>
        </p:nvSpPr>
        <p:spPr>
          <a:xfrm>
            <a:off x="2801983" y="1691640"/>
            <a:ext cx="1055402" cy="960120"/>
          </a:xfrm>
          <a:prstGeom prst="roundRect">
            <a:avLst>
              <a:gd name="adj" fmla="val 6667"/>
            </a:avLst>
          </a:prstGeom>
          <a:solidFill>
            <a:srgbClr val="E7EAF2"/>
          </a:solidFill>
          <a:ln w="12700">
            <a:solidFill>
              <a:srgbClr val="1B2A4A"/>
            </a:solidFill>
            <a:prstDash val="solid"/>
          </a:ln>
        </p:spPr>
        <p:txBody>
          <a:bodyPr/>
          <a:lstStyle/>
          <a:p>
            <a:endParaRPr lang="en-US" sz="2400"/>
          </a:p>
        </p:txBody>
      </p:sp>
      <p:sp>
        <p:nvSpPr>
          <p:cNvPr id="11" name="Text 9"/>
          <p:cNvSpPr/>
          <p:nvPr/>
        </p:nvSpPr>
        <p:spPr>
          <a:xfrm>
            <a:off x="2847703" y="1719072"/>
            <a:ext cx="955567" cy="905256"/>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Observable</a:t>
            </a:r>
            <a:endParaRPr lang="en-US" sz="1400" dirty="0"/>
          </a:p>
          <a:p>
            <a:pPr marL="0" indent="0" algn="ctr">
              <a:buNone/>
            </a:pPr>
            <a:r>
              <a:rPr lang="en-US" sz="1400" b="1" dirty="0">
                <a:solidFill>
                  <a:srgbClr val="1B2A4A"/>
                </a:solidFill>
                <a:latin typeface="Calibri" pitchFamily="34" charset="0"/>
                <a:ea typeface="Calibri" pitchFamily="34" charset="-122"/>
                <a:cs typeface="Calibri" pitchFamily="34" charset="-120"/>
              </a:rPr>
              <a:t>Evidence /</a:t>
            </a:r>
            <a:endParaRPr lang="en-US" sz="1400" dirty="0"/>
          </a:p>
          <a:p>
            <a:pPr marL="0" indent="0" algn="ctr">
              <a:buNone/>
            </a:pPr>
            <a:r>
              <a:rPr lang="en-US" sz="1400" b="1" dirty="0">
                <a:solidFill>
                  <a:srgbClr val="1B2A4A"/>
                </a:solidFill>
                <a:latin typeface="Calibri" pitchFamily="34" charset="0"/>
                <a:ea typeface="Calibri" pitchFamily="34" charset="-122"/>
                <a:cs typeface="Calibri" pitchFamily="34" charset="-120"/>
              </a:rPr>
              <a:t>Telemetry</a:t>
            </a:r>
            <a:endParaRPr lang="en-US" sz="1400" dirty="0"/>
          </a:p>
        </p:txBody>
      </p:sp>
      <p:sp>
        <p:nvSpPr>
          <p:cNvPr id="12" name="Shape 10"/>
          <p:cNvSpPr/>
          <p:nvPr/>
        </p:nvSpPr>
        <p:spPr>
          <a:xfrm>
            <a:off x="3803381" y="2008480"/>
            <a:ext cx="123796" cy="326441"/>
          </a:xfrm>
          <a:prstGeom prst="chevron">
            <a:avLst/>
          </a:prstGeom>
          <a:solidFill>
            <a:srgbClr val="C9CDD6"/>
          </a:solidFill>
          <a:ln/>
        </p:spPr>
        <p:txBody>
          <a:bodyPr/>
          <a:lstStyle/>
          <a:p>
            <a:endParaRPr lang="en-US" sz="2400"/>
          </a:p>
        </p:txBody>
      </p:sp>
      <p:sp>
        <p:nvSpPr>
          <p:cNvPr id="13" name="Shape 11"/>
          <p:cNvSpPr/>
          <p:nvPr/>
        </p:nvSpPr>
        <p:spPr>
          <a:xfrm>
            <a:off x="3951514" y="1691640"/>
            <a:ext cx="1055402" cy="960120"/>
          </a:xfrm>
          <a:prstGeom prst="roundRect">
            <a:avLst>
              <a:gd name="adj" fmla="val 6667"/>
            </a:avLst>
          </a:prstGeom>
          <a:solidFill>
            <a:srgbClr val="E7EAF2"/>
          </a:solidFill>
          <a:ln w="12700">
            <a:solidFill>
              <a:srgbClr val="1B2A4A"/>
            </a:solidFill>
            <a:prstDash val="solid"/>
          </a:ln>
        </p:spPr>
        <p:txBody>
          <a:bodyPr/>
          <a:lstStyle/>
          <a:p>
            <a:endParaRPr lang="en-US" sz="2400"/>
          </a:p>
        </p:txBody>
      </p:sp>
      <p:sp>
        <p:nvSpPr>
          <p:cNvPr id="14" name="Text 12"/>
          <p:cNvSpPr/>
          <p:nvPr/>
        </p:nvSpPr>
        <p:spPr>
          <a:xfrm>
            <a:off x="3997234" y="1719072"/>
            <a:ext cx="955567" cy="905256"/>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Detection</a:t>
            </a:r>
            <a:endParaRPr lang="en-US" sz="1400" dirty="0"/>
          </a:p>
          <a:p>
            <a:pPr marL="0" indent="0" algn="ctr">
              <a:buNone/>
            </a:pPr>
            <a:r>
              <a:rPr lang="en-US" sz="1400" b="1" dirty="0">
                <a:solidFill>
                  <a:srgbClr val="1B2A4A"/>
                </a:solidFill>
                <a:latin typeface="Calibri" pitchFamily="34" charset="0"/>
                <a:ea typeface="Calibri" pitchFamily="34" charset="-122"/>
                <a:cs typeface="Calibri" pitchFamily="34" charset="-120"/>
              </a:rPr>
              <a:t>Logic</a:t>
            </a:r>
            <a:endParaRPr lang="en-US" sz="1400" dirty="0"/>
          </a:p>
        </p:txBody>
      </p:sp>
      <p:sp>
        <p:nvSpPr>
          <p:cNvPr id="15" name="Shape 13"/>
          <p:cNvSpPr/>
          <p:nvPr/>
        </p:nvSpPr>
        <p:spPr>
          <a:xfrm>
            <a:off x="4952913" y="2008480"/>
            <a:ext cx="123796" cy="326441"/>
          </a:xfrm>
          <a:prstGeom prst="chevron">
            <a:avLst/>
          </a:prstGeom>
          <a:solidFill>
            <a:srgbClr val="C9CDD6"/>
          </a:solidFill>
          <a:ln/>
        </p:spPr>
        <p:txBody>
          <a:bodyPr/>
          <a:lstStyle/>
          <a:p>
            <a:endParaRPr lang="en-US" sz="2400"/>
          </a:p>
        </p:txBody>
      </p:sp>
      <p:sp>
        <p:nvSpPr>
          <p:cNvPr id="16" name="Shape 14"/>
          <p:cNvSpPr/>
          <p:nvPr/>
        </p:nvSpPr>
        <p:spPr>
          <a:xfrm>
            <a:off x="5101046" y="1691640"/>
            <a:ext cx="1055402" cy="960120"/>
          </a:xfrm>
          <a:prstGeom prst="roundRect">
            <a:avLst>
              <a:gd name="adj" fmla="val 6667"/>
            </a:avLst>
          </a:prstGeom>
          <a:solidFill>
            <a:srgbClr val="E7EAF2"/>
          </a:solidFill>
          <a:ln w="12700">
            <a:solidFill>
              <a:srgbClr val="1B2A4A"/>
            </a:solidFill>
            <a:prstDash val="solid"/>
          </a:ln>
        </p:spPr>
        <p:txBody>
          <a:bodyPr/>
          <a:lstStyle/>
          <a:p>
            <a:endParaRPr lang="en-US" sz="2400"/>
          </a:p>
        </p:txBody>
      </p:sp>
      <p:sp>
        <p:nvSpPr>
          <p:cNvPr id="17" name="Text 15"/>
          <p:cNvSpPr/>
          <p:nvPr/>
        </p:nvSpPr>
        <p:spPr>
          <a:xfrm>
            <a:off x="5146766" y="1719072"/>
            <a:ext cx="955567" cy="905256"/>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Exception</a:t>
            </a:r>
            <a:endParaRPr lang="en-US" sz="1400" dirty="0"/>
          </a:p>
        </p:txBody>
      </p:sp>
      <p:sp>
        <p:nvSpPr>
          <p:cNvPr id="18" name="Shape 16"/>
          <p:cNvSpPr/>
          <p:nvPr/>
        </p:nvSpPr>
        <p:spPr>
          <a:xfrm>
            <a:off x="6102444" y="2008480"/>
            <a:ext cx="123796" cy="326441"/>
          </a:xfrm>
          <a:prstGeom prst="chevron">
            <a:avLst/>
          </a:prstGeom>
          <a:solidFill>
            <a:srgbClr val="C9CDD6"/>
          </a:solidFill>
          <a:ln/>
        </p:spPr>
        <p:txBody>
          <a:bodyPr/>
          <a:lstStyle/>
          <a:p>
            <a:endParaRPr lang="en-US" sz="2400"/>
          </a:p>
        </p:txBody>
      </p:sp>
      <p:sp>
        <p:nvSpPr>
          <p:cNvPr id="19" name="Shape 17"/>
          <p:cNvSpPr/>
          <p:nvPr/>
        </p:nvSpPr>
        <p:spPr>
          <a:xfrm>
            <a:off x="6250577" y="1691640"/>
            <a:ext cx="1055402" cy="960120"/>
          </a:xfrm>
          <a:prstGeom prst="roundRect">
            <a:avLst>
              <a:gd name="adj" fmla="val 6667"/>
            </a:avLst>
          </a:prstGeom>
          <a:solidFill>
            <a:srgbClr val="E7EAF2"/>
          </a:solidFill>
          <a:ln w="12700">
            <a:solidFill>
              <a:srgbClr val="1B2A4A"/>
            </a:solidFill>
            <a:prstDash val="solid"/>
          </a:ln>
        </p:spPr>
        <p:txBody>
          <a:bodyPr/>
          <a:lstStyle/>
          <a:p>
            <a:endParaRPr lang="en-US" sz="2400"/>
          </a:p>
        </p:txBody>
      </p:sp>
      <p:sp>
        <p:nvSpPr>
          <p:cNvPr id="20" name="Text 18"/>
          <p:cNvSpPr/>
          <p:nvPr/>
        </p:nvSpPr>
        <p:spPr>
          <a:xfrm>
            <a:off x="6296297" y="1719072"/>
            <a:ext cx="955567" cy="905256"/>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Investigation</a:t>
            </a:r>
            <a:endParaRPr lang="en-US" sz="1400" dirty="0"/>
          </a:p>
        </p:txBody>
      </p:sp>
      <p:sp>
        <p:nvSpPr>
          <p:cNvPr id="21" name="Shape 19"/>
          <p:cNvSpPr/>
          <p:nvPr/>
        </p:nvSpPr>
        <p:spPr>
          <a:xfrm>
            <a:off x="7251976" y="2008480"/>
            <a:ext cx="123796" cy="326441"/>
          </a:xfrm>
          <a:prstGeom prst="chevron">
            <a:avLst/>
          </a:prstGeom>
          <a:solidFill>
            <a:srgbClr val="C9CDD6"/>
          </a:solidFill>
          <a:ln/>
        </p:spPr>
        <p:txBody>
          <a:bodyPr/>
          <a:lstStyle/>
          <a:p>
            <a:endParaRPr lang="en-US" sz="2400"/>
          </a:p>
        </p:txBody>
      </p:sp>
      <p:sp>
        <p:nvSpPr>
          <p:cNvPr id="22" name="Shape 20"/>
          <p:cNvSpPr/>
          <p:nvPr/>
        </p:nvSpPr>
        <p:spPr>
          <a:xfrm>
            <a:off x="7400109" y="1691640"/>
            <a:ext cx="1055402" cy="960120"/>
          </a:xfrm>
          <a:prstGeom prst="roundRect">
            <a:avLst>
              <a:gd name="adj" fmla="val 6667"/>
            </a:avLst>
          </a:prstGeom>
          <a:solidFill>
            <a:srgbClr val="E7EAF2"/>
          </a:solidFill>
          <a:ln w="12700">
            <a:solidFill>
              <a:srgbClr val="1B2A4A"/>
            </a:solidFill>
            <a:prstDash val="solid"/>
          </a:ln>
        </p:spPr>
        <p:txBody>
          <a:bodyPr/>
          <a:lstStyle/>
          <a:p>
            <a:endParaRPr lang="en-US" sz="2400"/>
          </a:p>
        </p:txBody>
      </p:sp>
      <p:sp>
        <p:nvSpPr>
          <p:cNvPr id="23" name="Text 21"/>
          <p:cNvSpPr/>
          <p:nvPr/>
        </p:nvSpPr>
        <p:spPr>
          <a:xfrm>
            <a:off x="7445829" y="1719072"/>
            <a:ext cx="955567" cy="905256"/>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Assurance</a:t>
            </a:r>
            <a:endParaRPr lang="en-US" sz="1400" dirty="0"/>
          </a:p>
        </p:txBody>
      </p:sp>
      <p:sp>
        <p:nvSpPr>
          <p:cNvPr id="24" name="Shape 22"/>
          <p:cNvSpPr/>
          <p:nvPr/>
        </p:nvSpPr>
        <p:spPr>
          <a:xfrm>
            <a:off x="8641080" y="1691640"/>
            <a:ext cx="3044952" cy="960120"/>
          </a:xfrm>
          <a:prstGeom prst="roundRect">
            <a:avLst>
              <a:gd name="adj" fmla="val 7619"/>
            </a:avLst>
          </a:prstGeom>
          <a:solidFill>
            <a:srgbClr val="D8ECF1"/>
          </a:solidFill>
          <a:ln w="12700">
            <a:solidFill>
              <a:srgbClr val="0E6E8C"/>
            </a:solidFill>
            <a:prstDash val="solid"/>
          </a:ln>
        </p:spPr>
        <p:txBody>
          <a:bodyPr/>
          <a:lstStyle/>
          <a:p>
            <a:endParaRPr lang="en-US" sz="3600"/>
          </a:p>
        </p:txBody>
      </p:sp>
      <p:sp>
        <p:nvSpPr>
          <p:cNvPr id="25" name="Text 23"/>
          <p:cNvSpPr/>
          <p:nvPr/>
        </p:nvSpPr>
        <p:spPr>
          <a:xfrm>
            <a:off x="8778240" y="1764792"/>
            <a:ext cx="2834640" cy="201168"/>
          </a:xfrm>
          <a:prstGeom prst="rect">
            <a:avLst/>
          </a:prstGeom>
          <a:noFill/>
          <a:ln/>
        </p:spPr>
        <p:txBody>
          <a:bodyPr wrap="square" lIns="0" tIns="0" rIns="0" bIns="0" rtlCol="0" anchor="ctr"/>
          <a:lstStyle/>
          <a:p>
            <a:pPr marL="0" indent="0">
              <a:buNone/>
            </a:pPr>
            <a:r>
              <a:rPr lang="en-US" sz="1200" b="1" dirty="0">
                <a:solidFill>
                  <a:srgbClr val="0E6E8C"/>
                </a:solidFill>
                <a:latin typeface="Calibri" pitchFamily="34" charset="0"/>
                <a:ea typeface="Calibri" pitchFamily="34" charset="-122"/>
                <a:cs typeface="Calibri" pitchFamily="34" charset="-120"/>
              </a:rPr>
              <a:t>CYBERSECURITY ANALOGY</a:t>
            </a:r>
            <a:endParaRPr lang="en-US" sz="1200" dirty="0"/>
          </a:p>
        </p:txBody>
      </p:sp>
      <p:sp>
        <p:nvSpPr>
          <p:cNvPr id="26" name="Text 24"/>
          <p:cNvSpPr/>
          <p:nvPr/>
        </p:nvSpPr>
        <p:spPr>
          <a:xfrm>
            <a:off x="8778240" y="1975104"/>
            <a:ext cx="2834640" cy="621792"/>
          </a:xfrm>
          <a:prstGeom prst="rect">
            <a:avLst/>
          </a:prstGeom>
          <a:noFill/>
          <a:ln/>
        </p:spPr>
        <p:txBody>
          <a:bodyPr wrap="square" lIns="0" tIns="0" rIns="0" bIns="0" rtlCol="0" anchor="t"/>
          <a:lstStyle/>
          <a:p>
            <a:pPr marL="0" indent="0">
              <a:buNone/>
            </a:pPr>
            <a:r>
              <a:rPr lang="en-US" sz="1400" dirty="0">
                <a:solidFill>
                  <a:srgbClr val="1B2A4A"/>
                </a:solidFill>
                <a:latin typeface="Calibri" pitchFamily="34" charset="0"/>
                <a:ea typeface="Calibri" pitchFamily="34" charset="-122"/>
                <a:cs typeface="Calibri" pitchFamily="34" charset="-120"/>
              </a:rPr>
              <a:t>Threat Hypothesis → Detection → Alert → Investigation</a:t>
            </a:r>
            <a:endParaRPr lang="en-US" sz="1400" dirty="0"/>
          </a:p>
        </p:txBody>
      </p:sp>
      <p:sp>
        <p:nvSpPr>
          <p:cNvPr id="27" name="Shape 25"/>
          <p:cNvSpPr/>
          <p:nvPr/>
        </p:nvSpPr>
        <p:spPr>
          <a:xfrm>
            <a:off x="8641080" y="2834640"/>
            <a:ext cx="3044952" cy="777240"/>
          </a:xfrm>
          <a:prstGeom prst="roundRect">
            <a:avLst>
              <a:gd name="adj" fmla="val 9412"/>
            </a:avLst>
          </a:prstGeom>
          <a:solidFill>
            <a:srgbClr val="D8ECF1"/>
          </a:solidFill>
          <a:ln w="12700">
            <a:solidFill>
              <a:srgbClr val="0E6E8C"/>
            </a:solidFill>
            <a:prstDash val="solid"/>
          </a:ln>
        </p:spPr>
        <p:txBody>
          <a:bodyPr/>
          <a:lstStyle/>
          <a:p>
            <a:endParaRPr lang="en-US" sz="3600"/>
          </a:p>
        </p:txBody>
      </p:sp>
      <p:sp>
        <p:nvSpPr>
          <p:cNvPr id="28" name="Text 26"/>
          <p:cNvSpPr/>
          <p:nvPr/>
        </p:nvSpPr>
        <p:spPr>
          <a:xfrm>
            <a:off x="8778240" y="2907792"/>
            <a:ext cx="2834640" cy="201168"/>
          </a:xfrm>
          <a:prstGeom prst="rect">
            <a:avLst/>
          </a:prstGeom>
          <a:noFill/>
          <a:ln/>
        </p:spPr>
        <p:txBody>
          <a:bodyPr wrap="square" lIns="0" tIns="0" rIns="0" bIns="0" rtlCol="0" anchor="ctr"/>
          <a:lstStyle/>
          <a:p>
            <a:pPr marL="0" indent="0">
              <a:buNone/>
            </a:pPr>
            <a:r>
              <a:rPr lang="en-US" sz="1200" b="1" dirty="0">
                <a:solidFill>
                  <a:srgbClr val="0E6E8C"/>
                </a:solidFill>
                <a:latin typeface="Calibri" pitchFamily="34" charset="0"/>
                <a:ea typeface="Calibri" pitchFamily="34" charset="-122"/>
                <a:cs typeface="Calibri" pitchFamily="34" charset="-120"/>
              </a:rPr>
              <a:t>APPLIED TO AUDIT</a:t>
            </a:r>
            <a:endParaRPr lang="en-US" sz="1200" dirty="0"/>
          </a:p>
        </p:txBody>
      </p:sp>
      <p:sp>
        <p:nvSpPr>
          <p:cNvPr id="29" name="Text 27"/>
          <p:cNvSpPr/>
          <p:nvPr/>
        </p:nvSpPr>
        <p:spPr>
          <a:xfrm>
            <a:off x="8778240" y="3108960"/>
            <a:ext cx="2834640" cy="457200"/>
          </a:xfrm>
          <a:prstGeom prst="rect">
            <a:avLst/>
          </a:prstGeom>
          <a:noFill/>
          <a:ln/>
        </p:spPr>
        <p:txBody>
          <a:bodyPr wrap="square" lIns="0" tIns="0" rIns="0" bIns="0" rtlCol="0" anchor="t"/>
          <a:lstStyle/>
          <a:p>
            <a:pPr marL="0" indent="0">
              <a:buNone/>
            </a:pPr>
            <a:r>
              <a:rPr lang="en-US" sz="1400" dirty="0">
                <a:solidFill>
                  <a:srgbClr val="1B2A4A"/>
                </a:solidFill>
                <a:latin typeface="Calibri" pitchFamily="34" charset="0"/>
                <a:ea typeface="Calibri" pitchFamily="34" charset="-122"/>
                <a:cs typeface="Calibri" pitchFamily="34" charset="-120"/>
              </a:rPr>
              <a:t>Control Hypothesis → Detection → Exception → Investigation</a:t>
            </a:r>
            <a:endParaRPr lang="en-US" sz="1400" dirty="0"/>
          </a:p>
        </p:txBody>
      </p:sp>
      <p:sp>
        <p:nvSpPr>
          <p:cNvPr id="30" name="Text 28"/>
          <p:cNvSpPr/>
          <p:nvPr/>
        </p:nvSpPr>
        <p:spPr>
          <a:xfrm>
            <a:off x="8663940" y="3639312"/>
            <a:ext cx="3022092" cy="310896"/>
          </a:xfrm>
          <a:prstGeom prst="rect">
            <a:avLst/>
          </a:prstGeom>
          <a:noFill/>
          <a:ln/>
        </p:spPr>
        <p:txBody>
          <a:bodyPr wrap="square" lIns="0" tIns="0" rIns="0" bIns="0" rtlCol="0" anchor="t"/>
          <a:lstStyle/>
          <a:p>
            <a:pPr marL="0" indent="0">
              <a:buNone/>
            </a:pPr>
            <a:r>
              <a:rPr lang="en-US" sz="1100" i="1" dirty="0">
                <a:solidFill>
                  <a:srgbClr val="C97A1E"/>
                </a:solidFill>
                <a:latin typeface="Calibri" pitchFamily="34" charset="0"/>
                <a:ea typeface="Calibri" pitchFamily="34" charset="-122"/>
                <a:cs typeface="Calibri" pitchFamily="34" charset="-120"/>
              </a:rPr>
              <a:t>Caveat: evidence </a:t>
            </a:r>
            <a:r>
              <a:rPr lang="en-US" sz="1400" i="1" dirty="0">
                <a:solidFill>
                  <a:srgbClr val="C97A1E"/>
                </a:solidFill>
                <a:latin typeface="Calibri" pitchFamily="34" charset="0"/>
                <a:ea typeface="Calibri" pitchFamily="34" charset="-122"/>
                <a:cs typeface="Calibri" pitchFamily="34" charset="-120"/>
              </a:rPr>
              <a:t>the</a:t>
            </a:r>
            <a:r>
              <a:rPr lang="en-US" sz="1100" i="1" dirty="0">
                <a:solidFill>
                  <a:srgbClr val="C97A1E"/>
                </a:solidFill>
                <a:latin typeface="Calibri" pitchFamily="34" charset="0"/>
                <a:ea typeface="Calibri" pitchFamily="34" charset="-122"/>
                <a:cs typeface="Calibri" pitchFamily="34" charset="-120"/>
              </a:rPr>
              <a:t> agent generates about itself isn’t independent - pair automated logs with independent verification.</a:t>
            </a:r>
            <a:endParaRPr lang="en-US" sz="1100" dirty="0"/>
          </a:p>
        </p:txBody>
      </p:sp>
      <p:sp>
        <p:nvSpPr>
          <p:cNvPr id="31" name="Shape 29"/>
          <p:cNvSpPr/>
          <p:nvPr/>
        </p:nvSpPr>
        <p:spPr>
          <a:xfrm>
            <a:off x="502920" y="4273449"/>
            <a:ext cx="11183112" cy="1414120"/>
          </a:xfrm>
          <a:prstGeom prst="roundRect">
            <a:avLst>
              <a:gd name="adj" fmla="val 3902"/>
            </a:avLst>
          </a:prstGeom>
          <a:solidFill>
            <a:srgbClr val="F7F8FA"/>
          </a:solidFill>
          <a:ln w="9525">
            <a:solidFill>
              <a:srgbClr val="C9CDD6"/>
            </a:solidFill>
            <a:prstDash val="solid"/>
          </a:ln>
        </p:spPr>
        <p:txBody>
          <a:bodyPr/>
          <a:lstStyle/>
          <a:p>
            <a:endParaRPr lang="en-US"/>
          </a:p>
        </p:txBody>
      </p:sp>
      <p:sp>
        <p:nvSpPr>
          <p:cNvPr id="32" name="Text 30"/>
          <p:cNvSpPr/>
          <p:nvPr/>
        </p:nvSpPr>
        <p:spPr>
          <a:xfrm>
            <a:off x="777240" y="4340199"/>
            <a:ext cx="10607040" cy="292608"/>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EXAMPLE  -  “Privileged access should be approved and time-bound”</a:t>
            </a:r>
            <a:endParaRPr lang="en-US" sz="1600" dirty="0"/>
          </a:p>
        </p:txBody>
      </p:sp>
      <p:sp>
        <p:nvSpPr>
          <p:cNvPr id="33" name="Shape 31"/>
          <p:cNvSpPr/>
          <p:nvPr/>
        </p:nvSpPr>
        <p:spPr>
          <a:xfrm>
            <a:off x="777240" y="4751679"/>
            <a:ext cx="2446020" cy="745480"/>
          </a:xfrm>
          <a:prstGeom prst="roundRect">
            <a:avLst>
              <a:gd name="adj" fmla="val 5385"/>
            </a:avLst>
          </a:prstGeom>
          <a:solidFill>
            <a:srgbClr val="FFFFFF"/>
          </a:solidFill>
          <a:ln w="12700">
            <a:solidFill>
              <a:srgbClr val="C97A1E"/>
            </a:solidFill>
            <a:prstDash val="solid"/>
          </a:ln>
        </p:spPr>
        <p:txBody>
          <a:bodyPr/>
          <a:lstStyle/>
          <a:p>
            <a:endParaRPr lang="en-US" sz="2400"/>
          </a:p>
        </p:txBody>
      </p:sp>
      <p:sp>
        <p:nvSpPr>
          <p:cNvPr id="34" name="Text 32"/>
          <p:cNvSpPr/>
          <p:nvPr/>
        </p:nvSpPr>
        <p:spPr>
          <a:xfrm>
            <a:off x="822960" y="4553712"/>
            <a:ext cx="2354580" cy="1133856"/>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Access granted</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before approval</a:t>
            </a:r>
            <a:endParaRPr lang="en-US" sz="1600" dirty="0"/>
          </a:p>
        </p:txBody>
      </p:sp>
      <p:sp>
        <p:nvSpPr>
          <p:cNvPr id="35" name="Shape 33"/>
          <p:cNvSpPr/>
          <p:nvPr/>
        </p:nvSpPr>
        <p:spPr>
          <a:xfrm>
            <a:off x="3275381" y="4918558"/>
            <a:ext cx="170078" cy="404165"/>
          </a:xfrm>
          <a:prstGeom prst="chevron">
            <a:avLst/>
          </a:prstGeom>
          <a:solidFill>
            <a:srgbClr val="C9CDD6"/>
          </a:solidFill>
          <a:ln/>
        </p:spPr>
        <p:txBody>
          <a:bodyPr/>
          <a:lstStyle/>
          <a:p>
            <a:endParaRPr lang="en-US" sz="2400"/>
          </a:p>
        </p:txBody>
      </p:sp>
      <p:sp>
        <p:nvSpPr>
          <p:cNvPr id="36" name="Shape 34"/>
          <p:cNvSpPr/>
          <p:nvPr/>
        </p:nvSpPr>
        <p:spPr>
          <a:xfrm>
            <a:off x="3497580" y="4751679"/>
            <a:ext cx="2446020" cy="745480"/>
          </a:xfrm>
          <a:prstGeom prst="roundRect">
            <a:avLst>
              <a:gd name="adj" fmla="val 5385"/>
            </a:avLst>
          </a:prstGeom>
          <a:solidFill>
            <a:srgbClr val="FFFFFF"/>
          </a:solidFill>
          <a:ln w="12700">
            <a:solidFill>
              <a:srgbClr val="C97A1E"/>
            </a:solidFill>
            <a:prstDash val="solid"/>
          </a:ln>
        </p:spPr>
        <p:txBody>
          <a:bodyPr/>
          <a:lstStyle/>
          <a:p>
            <a:endParaRPr lang="en-US" sz="3200"/>
          </a:p>
        </p:txBody>
      </p:sp>
      <p:sp>
        <p:nvSpPr>
          <p:cNvPr id="37" name="Text 35"/>
          <p:cNvSpPr/>
          <p:nvPr/>
        </p:nvSpPr>
        <p:spPr>
          <a:xfrm>
            <a:off x="3543300" y="4553712"/>
            <a:ext cx="2354580" cy="1133856"/>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Access remains</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after expiry</a:t>
            </a:r>
            <a:endParaRPr lang="en-US" sz="1600" dirty="0"/>
          </a:p>
        </p:txBody>
      </p:sp>
      <p:sp>
        <p:nvSpPr>
          <p:cNvPr id="38" name="Shape 36"/>
          <p:cNvSpPr/>
          <p:nvPr/>
        </p:nvSpPr>
        <p:spPr>
          <a:xfrm>
            <a:off x="5995721" y="4918558"/>
            <a:ext cx="170078" cy="404165"/>
          </a:xfrm>
          <a:prstGeom prst="chevron">
            <a:avLst/>
          </a:prstGeom>
          <a:solidFill>
            <a:srgbClr val="C9CDD6"/>
          </a:solidFill>
          <a:ln/>
        </p:spPr>
        <p:txBody>
          <a:bodyPr/>
          <a:lstStyle/>
          <a:p>
            <a:endParaRPr lang="en-US" sz="2400"/>
          </a:p>
        </p:txBody>
      </p:sp>
      <p:sp>
        <p:nvSpPr>
          <p:cNvPr id="39" name="Shape 37"/>
          <p:cNvSpPr/>
          <p:nvPr/>
        </p:nvSpPr>
        <p:spPr>
          <a:xfrm>
            <a:off x="6217920" y="4751679"/>
            <a:ext cx="2446020" cy="745480"/>
          </a:xfrm>
          <a:prstGeom prst="roundRect">
            <a:avLst>
              <a:gd name="adj" fmla="val 5385"/>
            </a:avLst>
          </a:prstGeom>
          <a:solidFill>
            <a:srgbClr val="FFFFFF"/>
          </a:solidFill>
          <a:ln w="12700">
            <a:solidFill>
              <a:srgbClr val="C97A1E"/>
            </a:solidFill>
            <a:prstDash val="solid"/>
          </a:ln>
        </p:spPr>
        <p:txBody>
          <a:bodyPr/>
          <a:lstStyle/>
          <a:p>
            <a:endParaRPr lang="en-US" sz="2400"/>
          </a:p>
        </p:txBody>
      </p:sp>
      <p:sp>
        <p:nvSpPr>
          <p:cNvPr id="40" name="Text 38"/>
          <p:cNvSpPr/>
          <p:nvPr/>
        </p:nvSpPr>
        <p:spPr>
          <a:xfrm>
            <a:off x="6263640" y="4553712"/>
            <a:ext cx="2354580" cy="1133856"/>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Terminated employee</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still has access</a:t>
            </a:r>
            <a:endParaRPr lang="en-US" sz="1600" dirty="0"/>
          </a:p>
        </p:txBody>
      </p:sp>
      <p:sp>
        <p:nvSpPr>
          <p:cNvPr id="41" name="Shape 39"/>
          <p:cNvSpPr/>
          <p:nvPr/>
        </p:nvSpPr>
        <p:spPr>
          <a:xfrm>
            <a:off x="8716061" y="4918558"/>
            <a:ext cx="170078" cy="404165"/>
          </a:xfrm>
          <a:prstGeom prst="chevron">
            <a:avLst/>
          </a:prstGeom>
          <a:solidFill>
            <a:srgbClr val="C9CDD6"/>
          </a:solidFill>
          <a:ln/>
        </p:spPr>
        <p:txBody>
          <a:bodyPr/>
          <a:lstStyle/>
          <a:p>
            <a:endParaRPr lang="en-US" sz="2400"/>
          </a:p>
        </p:txBody>
      </p:sp>
      <p:sp>
        <p:nvSpPr>
          <p:cNvPr id="42" name="Shape 40"/>
          <p:cNvSpPr/>
          <p:nvPr/>
        </p:nvSpPr>
        <p:spPr>
          <a:xfrm>
            <a:off x="8938260" y="4751679"/>
            <a:ext cx="2446020" cy="745480"/>
          </a:xfrm>
          <a:prstGeom prst="roundRect">
            <a:avLst>
              <a:gd name="adj" fmla="val 5385"/>
            </a:avLst>
          </a:prstGeom>
          <a:solidFill>
            <a:srgbClr val="FFFFFF"/>
          </a:solidFill>
          <a:ln w="12700">
            <a:solidFill>
              <a:srgbClr val="C97A1E"/>
            </a:solidFill>
            <a:prstDash val="solid"/>
          </a:ln>
        </p:spPr>
        <p:txBody>
          <a:bodyPr/>
          <a:lstStyle/>
          <a:p>
            <a:endParaRPr lang="en-US" sz="2400"/>
          </a:p>
        </p:txBody>
      </p:sp>
      <p:sp>
        <p:nvSpPr>
          <p:cNvPr id="43" name="Text 41"/>
          <p:cNvSpPr/>
          <p:nvPr/>
        </p:nvSpPr>
        <p:spPr>
          <a:xfrm>
            <a:off x="8983980" y="4553712"/>
            <a:ext cx="2354580" cy="1133856"/>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Emergency access</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never reviewed</a:t>
            </a:r>
            <a:endParaRPr lang="en-US" sz="1600" dirty="0"/>
          </a:p>
        </p:txBody>
      </p:sp>
      <p:sp>
        <p:nvSpPr>
          <p:cNvPr id="44" name="Shape 42"/>
          <p:cNvSpPr/>
          <p:nvPr/>
        </p:nvSpPr>
        <p:spPr>
          <a:xfrm>
            <a:off x="502920" y="6309360"/>
            <a:ext cx="11183112" cy="457200"/>
          </a:xfrm>
          <a:prstGeom prst="rect">
            <a:avLst/>
          </a:prstGeom>
          <a:solidFill>
            <a:srgbClr val="F7F8FA"/>
          </a:solidFill>
          <a:ln/>
        </p:spPr>
        <p:txBody>
          <a:bodyPr/>
          <a:lstStyle/>
          <a:p>
            <a:endParaRPr lang="en-US"/>
          </a:p>
        </p:txBody>
      </p:sp>
      <p:sp>
        <p:nvSpPr>
          <p:cNvPr id="45" name="Text 43"/>
          <p:cNvSpPr/>
          <p:nvPr/>
        </p:nvSpPr>
        <p:spPr>
          <a:xfrm>
            <a:off x="731520" y="6309360"/>
            <a:ext cx="10744200" cy="457200"/>
          </a:xfrm>
          <a:prstGeom prst="rect">
            <a:avLst/>
          </a:prstGeom>
          <a:noFill/>
          <a:ln/>
        </p:spPr>
        <p:txBody>
          <a:bodyPr wrap="square" lIns="0" tIns="0" rIns="0" bIns="0" rtlCol="0" anchor="ctr"/>
          <a:lstStyle/>
          <a:p>
            <a:pPr marL="0" indent="0">
              <a:buNone/>
            </a:pPr>
            <a:r>
              <a:rPr lang="en-US" sz="1875" b="1" i="1" dirty="0">
                <a:solidFill>
                  <a:srgbClr val="1B2A4A"/>
                </a:solidFill>
                <a:latin typeface="Cambria" pitchFamily="34" charset="0"/>
                <a:ea typeface="Cambria" pitchFamily="34" charset="-122"/>
                <a:cs typeface="Cambria" pitchFamily="34" charset="-120"/>
              </a:rPr>
              <a:t>Cybersecurity engineers detections for threats. Audit can engineer detections for control failure.</a:t>
            </a:r>
            <a:endParaRPr lang="en-US" sz="1875" dirty="0"/>
          </a:p>
        </p:txBody>
      </p:sp>
      <p:sp>
        <p:nvSpPr>
          <p:cNvPr id="46" name="Text 44"/>
          <p:cNvSpPr/>
          <p:nvPr/>
        </p:nvSpPr>
        <p:spPr>
          <a:xfrm>
            <a:off x="11658600" y="320040"/>
            <a:ext cx="457200" cy="274320"/>
          </a:xfrm>
          <a:prstGeom prst="rect">
            <a:avLst/>
          </a:prstGeom>
          <a:noFill/>
          <a:ln/>
        </p:spPr>
        <p:txBody>
          <a:bodyPr wrap="square" lIns="0" tIns="0" rIns="0" bIns="0" rtlCol="0" anchor="ctr"/>
          <a:lstStyle/>
          <a:p>
            <a:pPr marL="0" indent="0" algn="r">
              <a:buNone/>
            </a:pPr>
            <a:r>
              <a:rPr lang="en-US" sz="1125" dirty="0">
                <a:solidFill>
                  <a:srgbClr val="C9CDD6"/>
                </a:solidFill>
                <a:latin typeface="Calibri" pitchFamily="34" charset="0"/>
                <a:ea typeface="Calibri" pitchFamily="34" charset="-122"/>
                <a:cs typeface="Calibri" pitchFamily="34" charset="-120"/>
              </a:rPr>
              <a:t>08</a:t>
            </a:r>
            <a:endParaRPr lang="en-US" sz="1125" dirty="0"/>
          </a:p>
        </p:txBody>
      </p:sp>
    </p:spTree>
    <p:extLst>
      <p:ext uri="{BB962C8B-B14F-4D97-AF65-F5344CB8AC3E}">
        <p14:creationId xmlns:p14="http://schemas.microsoft.com/office/powerpoint/2010/main" val="1676304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buNone/>
            </a:pPr>
            <a:r>
              <a:rPr lang="en-US" sz="1500" b="1" kern="0" spc="200" dirty="0">
                <a:solidFill>
                  <a:srgbClr val="0E6E8C"/>
                </a:solidFill>
                <a:latin typeface="Calibri" pitchFamily="34" charset="0"/>
                <a:ea typeface="Calibri" pitchFamily="34" charset="-122"/>
                <a:cs typeface="Calibri" pitchFamily="34" charset="-120"/>
              </a:rPr>
              <a:t>WHAT CHANGES</a:t>
            </a:r>
            <a:endParaRPr lang="en-US" sz="1500" dirty="0"/>
          </a:p>
        </p:txBody>
      </p:sp>
      <p:sp>
        <p:nvSpPr>
          <p:cNvPr id="3" name="Text 1"/>
          <p:cNvSpPr/>
          <p:nvPr/>
        </p:nvSpPr>
        <p:spPr>
          <a:xfrm>
            <a:off x="502920" y="612648"/>
            <a:ext cx="11155680" cy="868680"/>
          </a:xfrm>
          <a:prstGeom prst="rect">
            <a:avLst/>
          </a:prstGeom>
          <a:noFill/>
          <a:ln/>
        </p:spPr>
        <p:txBody>
          <a:bodyPr wrap="square" lIns="0" tIns="0" rIns="0" bIns="0" rtlCol="0" anchor="t"/>
          <a:lstStyle/>
          <a:p>
            <a:pPr marL="0" indent="0">
              <a:lnSpc>
                <a:spcPct val="102000"/>
              </a:lnSpc>
              <a:buNone/>
            </a:pPr>
            <a:r>
              <a:rPr lang="en-US" sz="3125" b="1" dirty="0">
                <a:solidFill>
                  <a:srgbClr val="1B2A4A"/>
                </a:solidFill>
                <a:latin typeface="Cambria" pitchFamily="34" charset="0"/>
                <a:ea typeface="Cambria" pitchFamily="34" charset="-122"/>
                <a:cs typeface="Cambria" pitchFamily="34" charset="-120"/>
              </a:rPr>
              <a:t>Traditional AI answers questions. Agentic AI can pursue bounded objectives.</a:t>
            </a:r>
            <a:endParaRPr lang="en-US" sz="3125" dirty="0"/>
          </a:p>
        </p:txBody>
      </p:sp>
      <p:sp>
        <p:nvSpPr>
          <p:cNvPr id="4" name="Shape 2"/>
          <p:cNvSpPr/>
          <p:nvPr/>
        </p:nvSpPr>
        <p:spPr>
          <a:xfrm>
            <a:off x="1600200" y="1783080"/>
            <a:ext cx="4389120" cy="4389120"/>
          </a:xfrm>
          <a:prstGeom prst="ellipse">
            <a:avLst/>
          </a:prstGeom>
          <a:ln w="15875">
            <a:solidFill>
              <a:srgbClr val="C9CDD6"/>
            </a:solidFill>
            <a:prstDash val="dash"/>
          </a:ln>
        </p:spPr>
        <p:txBody>
          <a:bodyPr/>
          <a:lstStyle/>
          <a:p>
            <a:endParaRPr lang="en-US"/>
          </a:p>
        </p:txBody>
      </p:sp>
      <p:sp>
        <p:nvSpPr>
          <p:cNvPr id="5" name="Text 3"/>
          <p:cNvSpPr/>
          <p:nvPr/>
        </p:nvSpPr>
        <p:spPr>
          <a:xfrm>
            <a:off x="86868" y="1906524"/>
            <a:ext cx="2743200" cy="274320"/>
          </a:xfrm>
          <a:prstGeom prst="rect">
            <a:avLst/>
          </a:prstGeom>
          <a:noFill/>
          <a:ln/>
        </p:spPr>
        <p:txBody>
          <a:bodyPr wrap="square" lIns="0" tIns="0" rIns="0" bIns="0" rtlCol="0" anchor="ctr"/>
          <a:lstStyle/>
          <a:p>
            <a:pPr marL="0" indent="0" algn="ctr">
              <a:buNone/>
            </a:pPr>
            <a:r>
              <a:rPr lang="en-US" sz="1188" b="1" dirty="0">
                <a:solidFill>
                  <a:srgbClr val="6B7280"/>
                </a:solidFill>
                <a:latin typeface="Calibri" pitchFamily="34" charset="0"/>
                <a:ea typeface="Calibri" pitchFamily="34" charset="-122"/>
                <a:cs typeface="Calibri" pitchFamily="34" charset="-120"/>
              </a:rPr>
              <a:t>HUMAN / POLICY BOUNDARY</a:t>
            </a:r>
            <a:endParaRPr lang="en-US" sz="1188" dirty="0"/>
          </a:p>
        </p:txBody>
      </p:sp>
      <p:sp>
        <p:nvSpPr>
          <p:cNvPr id="6" name="Shape 4"/>
          <p:cNvSpPr/>
          <p:nvPr/>
        </p:nvSpPr>
        <p:spPr>
          <a:xfrm>
            <a:off x="3086100" y="2002536"/>
            <a:ext cx="1417320" cy="566928"/>
          </a:xfrm>
          <a:prstGeom prst="roundRect">
            <a:avLst>
              <a:gd name="adj" fmla="val 9677"/>
            </a:avLst>
          </a:prstGeom>
          <a:solidFill>
            <a:srgbClr val="D8ECF1"/>
          </a:solidFill>
          <a:ln w="12700">
            <a:solidFill>
              <a:srgbClr val="0E6E8C"/>
            </a:solidFill>
            <a:prstDash val="solid"/>
          </a:ln>
        </p:spPr>
        <p:txBody>
          <a:bodyPr/>
          <a:lstStyle/>
          <a:p>
            <a:endParaRPr lang="en-US"/>
          </a:p>
        </p:txBody>
      </p:sp>
      <p:sp>
        <p:nvSpPr>
          <p:cNvPr id="7" name="Text 5"/>
          <p:cNvSpPr/>
          <p:nvPr/>
        </p:nvSpPr>
        <p:spPr>
          <a:xfrm>
            <a:off x="3122676" y="2002536"/>
            <a:ext cx="1344168" cy="566928"/>
          </a:xfrm>
          <a:prstGeom prst="rect">
            <a:avLst/>
          </a:prstGeom>
          <a:noFill/>
          <a:ln/>
        </p:spPr>
        <p:txBody>
          <a:bodyPr wrap="square" lIns="0" tIns="0" rIns="0" bIns="0" rtlCol="0" anchor="ctr"/>
          <a:lstStyle/>
          <a:p>
            <a:pPr marL="0" indent="0" algn="ctr">
              <a:buNone/>
            </a:pPr>
            <a:r>
              <a:rPr lang="en-US" sz="1375" b="1" dirty="0">
                <a:solidFill>
                  <a:srgbClr val="1B2A4A"/>
                </a:solidFill>
                <a:latin typeface="Calibri" pitchFamily="34" charset="0"/>
                <a:ea typeface="Calibri" pitchFamily="34" charset="-122"/>
                <a:cs typeface="Calibri" pitchFamily="34" charset="-120"/>
              </a:rPr>
              <a:t>Observe</a:t>
            </a:r>
            <a:endParaRPr lang="en-US" sz="1375" dirty="0"/>
          </a:p>
        </p:txBody>
      </p:sp>
      <p:sp>
        <p:nvSpPr>
          <p:cNvPr id="8" name="Shape 6"/>
          <p:cNvSpPr/>
          <p:nvPr/>
        </p:nvSpPr>
        <p:spPr>
          <a:xfrm>
            <a:off x="4551103" y="2848356"/>
            <a:ext cx="1417320" cy="566928"/>
          </a:xfrm>
          <a:prstGeom prst="roundRect">
            <a:avLst>
              <a:gd name="adj" fmla="val 9677"/>
            </a:avLst>
          </a:prstGeom>
          <a:solidFill>
            <a:srgbClr val="D8ECF1"/>
          </a:solidFill>
          <a:ln w="12700">
            <a:solidFill>
              <a:srgbClr val="0E6E8C"/>
            </a:solidFill>
            <a:prstDash val="solid"/>
          </a:ln>
        </p:spPr>
        <p:txBody>
          <a:bodyPr/>
          <a:lstStyle/>
          <a:p>
            <a:endParaRPr lang="en-US"/>
          </a:p>
        </p:txBody>
      </p:sp>
      <p:sp>
        <p:nvSpPr>
          <p:cNvPr id="9" name="Text 7"/>
          <p:cNvSpPr/>
          <p:nvPr/>
        </p:nvSpPr>
        <p:spPr>
          <a:xfrm>
            <a:off x="4587679" y="2848356"/>
            <a:ext cx="1344168" cy="566928"/>
          </a:xfrm>
          <a:prstGeom prst="rect">
            <a:avLst/>
          </a:prstGeom>
          <a:noFill/>
          <a:ln/>
        </p:spPr>
        <p:txBody>
          <a:bodyPr wrap="square" lIns="0" tIns="0" rIns="0" bIns="0" rtlCol="0" anchor="ctr"/>
          <a:lstStyle/>
          <a:p>
            <a:pPr marL="0" indent="0" algn="ctr">
              <a:buNone/>
            </a:pPr>
            <a:r>
              <a:rPr lang="en-US" sz="1375" b="1" dirty="0">
                <a:solidFill>
                  <a:srgbClr val="1B2A4A"/>
                </a:solidFill>
                <a:latin typeface="Calibri" pitchFamily="34" charset="0"/>
                <a:ea typeface="Calibri" pitchFamily="34" charset="-122"/>
                <a:cs typeface="Calibri" pitchFamily="34" charset="-120"/>
              </a:rPr>
              <a:t>Investigate</a:t>
            </a:r>
            <a:endParaRPr lang="en-US" sz="1375" dirty="0"/>
          </a:p>
        </p:txBody>
      </p:sp>
      <p:sp>
        <p:nvSpPr>
          <p:cNvPr id="10" name="Shape 8"/>
          <p:cNvSpPr/>
          <p:nvPr/>
        </p:nvSpPr>
        <p:spPr>
          <a:xfrm>
            <a:off x="4551103" y="4539996"/>
            <a:ext cx="1417320" cy="566928"/>
          </a:xfrm>
          <a:prstGeom prst="roundRect">
            <a:avLst>
              <a:gd name="adj" fmla="val 9677"/>
            </a:avLst>
          </a:prstGeom>
          <a:solidFill>
            <a:srgbClr val="D8ECF1"/>
          </a:solidFill>
          <a:ln w="12700">
            <a:solidFill>
              <a:srgbClr val="0E6E8C"/>
            </a:solidFill>
            <a:prstDash val="solid"/>
          </a:ln>
        </p:spPr>
        <p:txBody>
          <a:bodyPr/>
          <a:lstStyle/>
          <a:p>
            <a:endParaRPr lang="en-US"/>
          </a:p>
        </p:txBody>
      </p:sp>
      <p:sp>
        <p:nvSpPr>
          <p:cNvPr id="11" name="Text 9"/>
          <p:cNvSpPr/>
          <p:nvPr/>
        </p:nvSpPr>
        <p:spPr>
          <a:xfrm>
            <a:off x="4587679" y="4539996"/>
            <a:ext cx="1344168" cy="566928"/>
          </a:xfrm>
          <a:prstGeom prst="rect">
            <a:avLst/>
          </a:prstGeom>
          <a:noFill/>
          <a:ln/>
        </p:spPr>
        <p:txBody>
          <a:bodyPr wrap="square" lIns="0" tIns="0" rIns="0" bIns="0" rtlCol="0" anchor="ctr"/>
          <a:lstStyle/>
          <a:p>
            <a:pPr marL="0" indent="0" algn="ctr">
              <a:buNone/>
            </a:pPr>
            <a:r>
              <a:rPr lang="en-US" sz="1375" b="1" dirty="0">
                <a:solidFill>
                  <a:srgbClr val="1B2A4A"/>
                </a:solidFill>
                <a:latin typeface="Calibri" pitchFamily="34" charset="0"/>
                <a:ea typeface="Calibri" pitchFamily="34" charset="-122"/>
                <a:cs typeface="Calibri" pitchFamily="34" charset="-120"/>
              </a:rPr>
              <a:t>Reason</a:t>
            </a:r>
            <a:endParaRPr lang="en-US" sz="1375" dirty="0"/>
          </a:p>
        </p:txBody>
      </p:sp>
      <p:sp>
        <p:nvSpPr>
          <p:cNvPr id="12" name="Shape 10"/>
          <p:cNvSpPr/>
          <p:nvPr/>
        </p:nvSpPr>
        <p:spPr>
          <a:xfrm>
            <a:off x="3086100" y="5385816"/>
            <a:ext cx="1417320" cy="566928"/>
          </a:xfrm>
          <a:prstGeom prst="roundRect">
            <a:avLst>
              <a:gd name="adj" fmla="val 9677"/>
            </a:avLst>
          </a:prstGeom>
          <a:solidFill>
            <a:srgbClr val="D8ECF1"/>
          </a:solidFill>
          <a:ln w="12700">
            <a:solidFill>
              <a:srgbClr val="0E6E8C"/>
            </a:solidFill>
            <a:prstDash val="solid"/>
          </a:ln>
        </p:spPr>
        <p:txBody>
          <a:bodyPr/>
          <a:lstStyle/>
          <a:p>
            <a:endParaRPr lang="en-US"/>
          </a:p>
        </p:txBody>
      </p:sp>
      <p:sp>
        <p:nvSpPr>
          <p:cNvPr id="13" name="Text 11"/>
          <p:cNvSpPr/>
          <p:nvPr/>
        </p:nvSpPr>
        <p:spPr>
          <a:xfrm>
            <a:off x="3122676" y="5385816"/>
            <a:ext cx="1344168" cy="566928"/>
          </a:xfrm>
          <a:prstGeom prst="rect">
            <a:avLst/>
          </a:prstGeom>
          <a:noFill/>
          <a:ln/>
        </p:spPr>
        <p:txBody>
          <a:bodyPr wrap="square" lIns="0" tIns="0" rIns="0" bIns="0" rtlCol="0" anchor="ctr"/>
          <a:lstStyle/>
          <a:p>
            <a:pPr marL="0" indent="0" algn="ctr">
              <a:buNone/>
            </a:pPr>
            <a:r>
              <a:rPr lang="en-US" sz="1375" b="1" dirty="0">
                <a:solidFill>
                  <a:srgbClr val="1B2A4A"/>
                </a:solidFill>
                <a:latin typeface="Calibri" pitchFamily="34" charset="0"/>
                <a:ea typeface="Calibri" pitchFamily="34" charset="-122"/>
                <a:cs typeface="Calibri" pitchFamily="34" charset="-120"/>
              </a:rPr>
              <a:t>Decide</a:t>
            </a:r>
            <a:endParaRPr lang="en-US" sz="1375" dirty="0"/>
          </a:p>
        </p:txBody>
      </p:sp>
      <p:sp>
        <p:nvSpPr>
          <p:cNvPr id="14" name="Shape 12"/>
          <p:cNvSpPr/>
          <p:nvPr/>
        </p:nvSpPr>
        <p:spPr>
          <a:xfrm>
            <a:off x="1621097" y="4539996"/>
            <a:ext cx="1417320" cy="566928"/>
          </a:xfrm>
          <a:prstGeom prst="roundRect">
            <a:avLst>
              <a:gd name="adj" fmla="val 9677"/>
            </a:avLst>
          </a:prstGeom>
          <a:solidFill>
            <a:srgbClr val="F4E3CC"/>
          </a:solidFill>
          <a:ln w="12700">
            <a:solidFill>
              <a:srgbClr val="C97A1E"/>
            </a:solidFill>
            <a:prstDash val="solid"/>
          </a:ln>
        </p:spPr>
        <p:txBody>
          <a:bodyPr/>
          <a:lstStyle/>
          <a:p>
            <a:endParaRPr lang="en-US"/>
          </a:p>
        </p:txBody>
      </p:sp>
      <p:sp>
        <p:nvSpPr>
          <p:cNvPr id="15" name="Text 13"/>
          <p:cNvSpPr/>
          <p:nvPr/>
        </p:nvSpPr>
        <p:spPr>
          <a:xfrm>
            <a:off x="1657673" y="4539996"/>
            <a:ext cx="1344168" cy="566928"/>
          </a:xfrm>
          <a:prstGeom prst="rect">
            <a:avLst/>
          </a:prstGeom>
          <a:noFill/>
          <a:ln/>
        </p:spPr>
        <p:txBody>
          <a:bodyPr wrap="square" lIns="0" tIns="0" rIns="0" bIns="0" rtlCol="0" anchor="ctr"/>
          <a:lstStyle/>
          <a:p>
            <a:pPr marL="0" indent="0" algn="ctr">
              <a:buNone/>
            </a:pPr>
            <a:r>
              <a:rPr lang="en-US" sz="1375" b="1" dirty="0">
                <a:solidFill>
                  <a:srgbClr val="1B2A4A"/>
                </a:solidFill>
                <a:latin typeface="Calibri" pitchFamily="34" charset="0"/>
                <a:ea typeface="Calibri" pitchFamily="34" charset="-122"/>
                <a:cs typeface="Calibri" pitchFamily="34" charset="-120"/>
              </a:rPr>
              <a:t>Act</a:t>
            </a:r>
            <a:endParaRPr lang="en-US" sz="1375" dirty="0"/>
          </a:p>
        </p:txBody>
      </p:sp>
      <p:sp>
        <p:nvSpPr>
          <p:cNvPr id="16" name="Shape 14"/>
          <p:cNvSpPr/>
          <p:nvPr/>
        </p:nvSpPr>
        <p:spPr>
          <a:xfrm>
            <a:off x="1621097" y="2848356"/>
            <a:ext cx="1417320" cy="566928"/>
          </a:xfrm>
          <a:prstGeom prst="roundRect">
            <a:avLst>
              <a:gd name="adj" fmla="val 9677"/>
            </a:avLst>
          </a:prstGeom>
          <a:solidFill>
            <a:srgbClr val="D8ECF1"/>
          </a:solidFill>
          <a:ln w="12700">
            <a:solidFill>
              <a:srgbClr val="0E6E8C"/>
            </a:solidFill>
            <a:prstDash val="solid"/>
          </a:ln>
        </p:spPr>
        <p:txBody>
          <a:bodyPr/>
          <a:lstStyle/>
          <a:p>
            <a:endParaRPr lang="en-US"/>
          </a:p>
        </p:txBody>
      </p:sp>
      <p:sp>
        <p:nvSpPr>
          <p:cNvPr id="17" name="Text 15"/>
          <p:cNvSpPr/>
          <p:nvPr/>
        </p:nvSpPr>
        <p:spPr>
          <a:xfrm>
            <a:off x="1657673" y="2848356"/>
            <a:ext cx="1344168" cy="566928"/>
          </a:xfrm>
          <a:prstGeom prst="rect">
            <a:avLst/>
          </a:prstGeom>
          <a:noFill/>
          <a:ln/>
        </p:spPr>
        <p:txBody>
          <a:bodyPr wrap="square" lIns="0" tIns="0" rIns="0" bIns="0" rtlCol="0" anchor="ctr"/>
          <a:lstStyle/>
          <a:p>
            <a:pPr marL="0" indent="0" algn="ctr">
              <a:buNone/>
            </a:pPr>
            <a:r>
              <a:rPr lang="en-US" sz="1375" b="1" dirty="0">
                <a:solidFill>
                  <a:srgbClr val="1B2A4A"/>
                </a:solidFill>
                <a:latin typeface="Calibri" pitchFamily="34" charset="0"/>
                <a:ea typeface="Calibri" pitchFamily="34" charset="-122"/>
                <a:cs typeface="Calibri" pitchFamily="34" charset="-120"/>
              </a:rPr>
              <a:t>Verify</a:t>
            </a:r>
            <a:endParaRPr lang="en-US" sz="1375" dirty="0"/>
          </a:p>
        </p:txBody>
      </p:sp>
      <p:sp>
        <p:nvSpPr>
          <p:cNvPr id="18" name="Shape 16"/>
          <p:cNvSpPr/>
          <p:nvPr/>
        </p:nvSpPr>
        <p:spPr>
          <a:xfrm rot="1800000">
            <a:off x="4695775" y="2462842"/>
            <a:ext cx="256032" cy="182880"/>
          </a:xfrm>
          <a:prstGeom prst="chevron">
            <a:avLst/>
          </a:prstGeom>
          <a:solidFill>
            <a:srgbClr val="6B7280"/>
          </a:solidFill>
          <a:ln/>
        </p:spPr>
        <p:txBody>
          <a:bodyPr/>
          <a:lstStyle/>
          <a:p>
            <a:endParaRPr lang="en-US"/>
          </a:p>
        </p:txBody>
      </p:sp>
      <p:sp>
        <p:nvSpPr>
          <p:cNvPr id="19" name="Shape 17"/>
          <p:cNvSpPr/>
          <p:nvPr/>
        </p:nvSpPr>
        <p:spPr>
          <a:xfrm rot="5400000">
            <a:off x="5358384" y="3886200"/>
            <a:ext cx="256032" cy="182880"/>
          </a:xfrm>
          <a:prstGeom prst="chevron">
            <a:avLst/>
          </a:prstGeom>
          <a:solidFill>
            <a:srgbClr val="6B7280"/>
          </a:solidFill>
          <a:ln/>
        </p:spPr>
        <p:txBody>
          <a:bodyPr/>
          <a:lstStyle/>
          <a:p>
            <a:endParaRPr lang="en-US"/>
          </a:p>
        </p:txBody>
      </p:sp>
      <p:sp>
        <p:nvSpPr>
          <p:cNvPr id="20" name="Shape 18"/>
          <p:cNvSpPr/>
          <p:nvPr/>
        </p:nvSpPr>
        <p:spPr>
          <a:xfrm rot="9000000">
            <a:off x="4512564" y="5351203"/>
            <a:ext cx="256032" cy="182880"/>
          </a:xfrm>
          <a:prstGeom prst="chevron">
            <a:avLst/>
          </a:prstGeom>
          <a:solidFill>
            <a:srgbClr val="6B7280"/>
          </a:solidFill>
          <a:ln/>
        </p:spPr>
        <p:txBody>
          <a:bodyPr/>
          <a:lstStyle/>
          <a:p>
            <a:endParaRPr lang="en-US"/>
          </a:p>
        </p:txBody>
      </p:sp>
      <p:sp>
        <p:nvSpPr>
          <p:cNvPr id="21" name="Shape 19"/>
          <p:cNvSpPr/>
          <p:nvPr/>
        </p:nvSpPr>
        <p:spPr>
          <a:xfrm rot="12600000">
            <a:off x="2820924" y="5351203"/>
            <a:ext cx="256032" cy="182880"/>
          </a:xfrm>
          <a:prstGeom prst="chevron">
            <a:avLst/>
          </a:prstGeom>
          <a:solidFill>
            <a:srgbClr val="6B7280"/>
          </a:solidFill>
          <a:ln/>
        </p:spPr>
        <p:txBody>
          <a:bodyPr/>
          <a:lstStyle/>
          <a:p>
            <a:endParaRPr lang="en-US"/>
          </a:p>
        </p:txBody>
      </p:sp>
      <p:sp>
        <p:nvSpPr>
          <p:cNvPr id="22" name="Shape 20"/>
          <p:cNvSpPr/>
          <p:nvPr/>
        </p:nvSpPr>
        <p:spPr>
          <a:xfrm rot="16200000">
            <a:off x="1975104" y="3886200"/>
            <a:ext cx="256032" cy="182880"/>
          </a:xfrm>
          <a:prstGeom prst="chevron">
            <a:avLst/>
          </a:prstGeom>
          <a:solidFill>
            <a:srgbClr val="6B7280"/>
          </a:solidFill>
          <a:ln/>
        </p:spPr>
        <p:txBody>
          <a:bodyPr/>
          <a:lstStyle/>
          <a:p>
            <a:endParaRPr lang="en-US"/>
          </a:p>
        </p:txBody>
      </p:sp>
      <p:sp>
        <p:nvSpPr>
          <p:cNvPr id="23" name="Shape 21"/>
          <p:cNvSpPr/>
          <p:nvPr/>
        </p:nvSpPr>
        <p:spPr>
          <a:xfrm rot="19800000">
            <a:off x="2637714" y="2455164"/>
            <a:ext cx="256032" cy="182880"/>
          </a:xfrm>
          <a:prstGeom prst="chevron">
            <a:avLst/>
          </a:prstGeom>
          <a:solidFill>
            <a:srgbClr val="6B7280"/>
          </a:solidFill>
          <a:ln/>
        </p:spPr>
        <p:txBody>
          <a:bodyPr/>
          <a:lstStyle/>
          <a:p>
            <a:endParaRPr lang="en-US"/>
          </a:p>
        </p:txBody>
      </p:sp>
      <p:sp>
        <p:nvSpPr>
          <p:cNvPr id="24" name="Shape 22"/>
          <p:cNvSpPr/>
          <p:nvPr/>
        </p:nvSpPr>
        <p:spPr>
          <a:xfrm>
            <a:off x="3172968" y="3410712"/>
            <a:ext cx="1243584" cy="1271016"/>
          </a:xfrm>
          <a:prstGeom prst="roundRect">
            <a:avLst>
              <a:gd name="adj" fmla="val 4032"/>
            </a:avLst>
          </a:prstGeom>
          <a:solidFill>
            <a:srgbClr val="F7F8FA"/>
          </a:solidFill>
          <a:ln w="9525">
            <a:solidFill>
              <a:srgbClr val="C9CDD6"/>
            </a:solidFill>
            <a:prstDash val="solid"/>
          </a:ln>
        </p:spPr>
        <p:txBody>
          <a:bodyPr/>
          <a:lstStyle/>
          <a:p>
            <a:endParaRPr lang="en-US"/>
          </a:p>
        </p:txBody>
      </p:sp>
      <p:sp>
        <p:nvSpPr>
          <p:cNvPr id="25" name="Text 23"/>
          <p:cNvSpPr/>
          <p:nvPr/>
        </p:nvSpPr>
        <p:spPr>
          <a:xfrm>
            <a:off x="3227832" y="3483864"/>
            <a:ext cx="1133856" cy="182880"/>
          </a:xfrm>
          <a:prstGeom prst="rect">
            <a:avLst/>
          </a:prstGeom>
          <a:noFill/>
          <a:ln/>
        </p:spPr>
        <p:txBody>
          <a:bodyPr wrap="square" lIns="0" tIns="0" rIns="0" bIns="0" rtlCol="0" anchor="ctr"/>
          <a:lstStyle/>
          <a:p>
            <a:pPr marL="0" indent="0" algn="ctr">
              <a:buNone/>
            </a:pPr>
            <a:r>
              <a:rPr lang="en-US" sz="1050" b="1" dirty="0">
                <a:solidFill>
                  <a:srgbClr val="B3401F"/>
                </a:solidFill>
                <a:latin typeface="Calibri" pitchFamily="34" charset="0"/>
                <a:ea typeface="Calibri" pitchFamily="34" charset="-122"/>
                <a:cs typeface="Calibri" pitchFamily="34" charset="-120"/>
              </a:rPr>
              <a:t>WATCH FOR</a:t>
            </a:r>
            <a:endParaRPr lang="en-US" sz="1050" dirty="0"/>
          </a:p>
        </p:txBody>
      </p:sp>
      <p:sp>
        <p:nvSpPr>
          <p:cNvPr id="26" name="Text 24"/>
          <p:cNvSpPr/>
          <p:nvPr/>
        </p:nvSpPr>
        <p:spPr>
          <a:xfrm>
            <a:off x="3227832" y="3685032"/>
            <a:ext cx="1133856" cy="859536"/>
          </a:xfrm>
          <a:prstGeom prst="rect">
            <a:avLst/>
          </a:prstGeom>
          <a:noFill/>
          <a:ln/>
        </p:spPr>
        <p:txBody>
          <a:bodyPr wrap="square" lIns="0" tIns="0" rIns="0" bIns="0" rtlCol="0" anchor="t"/>
          <a:lstStyle/>
          <a:p>
            <a:pPr marL="0" indent="0" algn="ctr">
              <a:lnSpc>
                <a:spcPct val="98000"/>
              </a:lnSpc>
              <a:buNone/>
            </a:pPr>
            <a:r>
              <a:rPr lang="en-US" sz="1000" dirty="0">
                <a:solidFill>
                  <a:srgbClr val="2B2F38"/>
                </a:solidFill>
                <a:latin typeface="Calibri" pitchFamily="34" charset="0"/>
                <a:ea typeface="Calibri" pitchFamily="34" charset="-122"/>
                <a:cs typeface="Calibri" pitchFamily="34" charset="-120"/>
              </a:rPr>
              <a:t>Hallucination</a:t>
            </a:r>
            <a:endParaRPr lang="en-US" sz="1000" dirty="0"/>
          </a:p>
          <a:p>
            <a:pPr marL="0" indent="0" algn="ctr">
              <a:lnSpc>
                <a:spcPct val="98000"/>
              </a:lnSpc>
              <a:buNone/>
            </a:pPr>
            <a:r>
              <a:rPr lang="en-US" sz="1000" dirty="0">
                <a:solidFill>
                  <a:srgbClr val="2B2F38"/>
                </a:solidFill>
                <a:latin typeface="Calibri" pitchFamily="34" charset="0"/>
                <a:ea typeface="Calibri" pitchFamily="34" charset="-122"/>
                <a:cs typeface="Calibri" pitchFamily="34" charset="-120"/>
              </a:rPr>
              <a:t>(Reason)</a:t>
            </a:r>
            <a:endParaRPr lang="en-US" sz="1000" dirty="0"/>
          </a:p>
          <a:p>
            <a:pPr marL="0" indent="0" algn="ctr">
              <a:lnSpc>
                <a:spcPct val="98000"/>
              </a:lnSpc>
              <a:buNone/>
            </a:pPr>
            <a:r>
              <a:rPr lang="en-US" sz="1000" dirty="0">
                <a:solidFill>
                  <a:srgbClr val="2B2F38"/>
                </a:solidFill>
                <a:latin typeface="Calibri" pitchFamily="34" charset="0"/>
                <a:ea typeface="Calibri" pitchFamily="34" charset="-122"/>
                <a:cs typeface="Calibri" pitchFamily="34" charset="-120"/>
              </a:rPr>
              <a:t>Automation bias</a:t>
            </a:r>
            <a:endParaRPr lang="en-US" sz="1000" dirty="0"/>
          </a:p>
          <a:p>
            <a:pPr marL="0" indent="0" algn="ctr">
              <a:lnSpc>
                <a:spcPct val="98000"/>
              </a:lnSpc>
              <a:buNone/>
            </a:pPr>
            <a:r>
              <a:rPr lang="en-US" sz="1000" dirty="0">
                <a:solidFill>
                  <a:srgbClr val="2B2F38"/>
                </a:solidFill>
                <a:latin typeface="Calibri" pitchFamily="34" charset="0"/>
                <a:ea typeface="Calibri" pitchFamily="34" charset="-122"/>
                <a:cs typeface="Calibri" pitchFamily="34" charset="-120"/>
              </a:rPr>
              <a:t>(Decide / Act)</a:t>
            </a:r>
            <a:endParaRPr lang="en-US" sz="1000" dirty="0"/>
          </a:p>
          <a:p>
            <a:pPr marL="0" indent="0" algn="ctr">
              <a:lnSpc>
                <a:spcPct val="98000"/>
              </a:lnSpc>
              <a:buNone/>
            </a:pPr>
            <a:r>
              <a:rPr lang="en-US" sz="1000" dirty="0">
                <a:solidFill>
                  <a:srgbClr val="2B2F38"/>
                </a:solidFill>
                <a:latin typeface="Calibri" pitchFamily="34" charset="0"/>
                <a:ea typeface="Calibri" pitchFamily="34" charset="-122"/>
                <a:cs typeface="Calibri" pitchFamily="34" charset="-120"/>
              </a:rPr>
              <a:t>Goal misalignment</a:t>
            </a:r>
            <a:endParaRPr lang="en-US" sz="1000" dirty="0"/>
          </a:p>
          <a:p>
            <a:pPr marL="0" indent="0" algn="ctr">
              <a:lnSpc>
                <a:spcPct val="98000"/>
              </a:lnSpc>
              <a:buNone/>
            </a:pPr>
            <a:r>
              <a:rPr lang="en-US" sz="1000" dirty="0">
                <a:solidFill>
                  <a:srgbClr val="2B2F38"/>
                </a:solidFill>
                <a:latin typeface="Calibri" pitchFamily="34" charset="0"/>
                <a:ea typeface="Calibri" pitchFamily="34" charset="-122"/>
                <a:cs typeface="Calibri" pitchFamily="34" charset="-120"/>
              </a:rPr>
              <a:t>(Act)</a:t>
            </a:r>
            <a:endParaRPr lang="en-US" sz="1000" dirty="0"/>
          </a:p>
        </p:txBody>
      </p:sp>
      <p:sp>
        <p:nvSpPr>
          <p:cNvPr id="27" name="Shape 25"/>
          <p:cNvSpPr/>
          <p:nvPr/>
        </p:nvSpPr>
        <p:spPr>
          <a:xfrm>
            <a:off x="6263640" y="1783080"/>
            <a:ext cx="5422392" cy="4251960"/>
          </a:xfrm>
          <a:prstGeom prst="roundRect">
            <a:avLst>
              <a:gd name="adj" fmla="val 1720"/>
            </a:avLst>
          </a:prstGeom>
          <a:solidFill>
            <a:srgbClr val="F7F8FA"/>
          </a:solidFill>
          <a:ln/>
        </p:spPr>
        <p:txBody>
          <a:bodyPr/>
          <a:lstStyle/>
          <a:p>
            <a:endParaRPr lang="en-US" sz="1600"/>
          </a:p>
        </p:txBody>
      </p:sp>
      <p:sp>
        <p:nvSpPr>
          <p:cNvPr id="28" name="Text 26"/>
          <p:cNvSpPr/>
          <p:nvPr/>
        </p:nvSpPr>
        <p:spPr>
          <a:xfrm>
            <a:off x="6492240" y="1920240"/>
            <a:ext cx="4937760" cy="274320"/>
          </a:xfrm>
          <a:prstGeom prst="rect">
            <a:avLst/>
          </a:prstGeom>
          <a:noFill/>
          <a:ln/>
        </p:spPr>
        <p:txBody>
          <a:bodyPr wrap="square" lIns="0" tIns="0" rIns="0" bIns="0" rtlCol="0" anchor="ctr"/>
          <a:lstStyle/>
          <a:p>
            <a:pPr marL="0" indent="0">
              <a:buNone/>
            </a:pPr>
            <a:r>
              <a:rPr lang="en-US" sz="1313" b="1" dirty="0">
                <a:solidFill>
                  <a:srgbClr val="0E6E8C"/>
                </a:solidFill>
                <a:latin typeface="Calibri" pitchFamily="34" charset="0"/>
                <a:ea typeface="Calibri" pitchFamily="34" charset="-122"/>
                <a:cs typeface="Calibri" pitchFamily="34" charset="-120"/>
              </a:rPr>
              <a:t>EXAMPLE - UNUSUAL PRIVILEGED-ACCESS EVENT</a:t>
            </a:r>
            <a:endParaRPr lang="en-US" sz="1313" dirty="0"/>
          </a:p>
        </p:txBody>
      </p:sp>
      <p:sp>
        <p:nvSpPr>
          <p:cNvPr id="29" name="Shape 27"/>
          <p:cNvSpPr/>
          <p:nvPr/>
        </p:nvSpPr>
        <p:spPr>
          <a:xfrm>
            <a:off x="6492240" y="2331720"/>
            <a:ext cx="201168" cy="201168"/>
          </a:xfrm>
          <a:prstGeom prst="ellipse">
            <a:avLst/>
          </a:prstGeom>
          <a:solidFill>
            <a:srgbClr val="0E6E8C"/>
          </a:solidFill>
          <a:ln/>
        </p:spPr>
        <p:txBody>
          <a:bodyPr/>
          <a:lstStyle/>
          <a:p>
            <a:endParaRPr lang="en-US"/>
          </a:p>
        </p:txBody>
      </p:sp>
      <p:sp>
        <p:nvSpPr>
          <p:cNvPr id="30" name="Text 28"/>
          <p:cNvSpPr/>
          <p:nvPr/>
        </p:nvSpPr>
        <p:spPr>
          <a:xfrm>
            <a:off x="6492240" y="2331720"/>
            <a:ext cx="201168" cy="201168"/>
          </a:xfrm>
          <a:prstGeom prst="rect">
            <a:avLst/>
          </a:prstGeom>
          <a:noFill/>
          <a:ln/>
        </p:spPr>
        <p:txBody>
          <a:bodyPr wrap="square" lIns="0" tIns="0" rIns="0" bIns="0" rtlCol="0" anchor="ctr"/>
          <a:lstStyle/>
          <a:p>
            <a:pPr marL="0" indent="0" algn="ctr">
              <a:buNone/>
            </a:pPr>
            <a:r>
              <a:rPr lang="en-US" sz="1063" b="1" dirty="0">
                <a:solidFill>
                  <a:srgbClr val="FFFFFF"/>
                </a:solidFill>
                <a:latin typeface="Calibri" pitchFamily="34" charset="0"/>
                <a:ea typeface="Calibri" pitchFamily="34" charset="-122"/>
                <a:cs typeface="Calibri" pitchFamily="34" charset="-120"/>
              </a:rPr>
              <a:t>1</a:t>
            </a:r>
            <a:endParaRPr lang="en-US" sz="1063" dirty="0"/>
          </a:p>
        </p:txBody>
      </p:sp>
      <p:sp>
        <p:nvSpPr>
          <p:cNvPr id="31" name="Text 29"/>
          <p:cNvSpPr/>
          <p:nvPr/>
        </p:nvSpPr>
        <p:spPr>
          <a:xfrm>
            <a:off x="6812280" y="2286000"/>
            <a:ext cx="4754880" cy="384048"/>
          </a:xfrm>
          <a:prstGeom prst="rect">
            <a:avLst/>
          </a:prstGeom>
          <a:noFill/>
          <a:ln/>
        </p:spPr>
        <p:txBody>
          <a:bodyPr wrap="square" lIns="0" tIns="0" rIns="0" bIns="0" rtlCol="0" anchor="ctr"/>
          <a:lstStyle/>
          <a:p>
            <a:pPr marL="0" indent="0">
              <a:buNone/>
            </a:pPr>
            <a:r>
              <a:rPr lang="en-US" sz="1313" dirty="0">
                <a:solidFill>
                  <a:srgbClr val="1B2A4A"/>
                </a:solidFill>
                <a:latin typeface="Calibri" pitchFamily="34" charset="0"/>
                <a:ea typeface="Calibri" pitchFamily="34" charset="-122"/>
                <a:cs typeface="Calibri" pitchFamily="34" charset="-120"/>
              </a:rPr>
              <a:t>An unusual high-risk access event occurs</a:t>
            </a:r>
            <a:endParaRPr lang="en-US" sz="1313" dirty="0"/>
          </a:p>
        </p:txBody>
      </p:sp>
      <p:sp>
        <p:nvSpPr>
          <p:cNvPr id="32" name="Shape 30"/>
          <p:cNvSpPr/>
          <p:nvPr/>
        </p:nvSpPr>
        <p:spPr>
          <a:xfrm>
            <a:off x="6492240" y="2834640"/>
            <a:ext cx="201168" cy="201168"/>
          </a:xfrm>
          <a:prstGeom prst="ellipse">
            <a:avLst/>
          </a:prstGeom>
          <a:solidFill>
            <a:srgbClr val="0E6E8C"/>
          </a:solidFill>
          <a:ln/>
        </p:spPr>
        <p:txBody>
          <a:bodyPr/>
          <a:lstStyle/>
          <a:p>
            <a:endParaRPr lang="en-US"/>
          </a:p>
        </p:txBody>
      </p:sp>
      <p:sp>
        <p:nvSpPr>
          <p:cNvPr id="33" name="Text 31"/>
          <p:cNvSpPr/>
          <p:nvPr/>
        </p:nvSpPr>
        <p:spPr>
          <a:xfrm>
            <a:off x="6492240" y="2834640"/>
            <a:ext cx="201168" cy="201168"/>
          </a:xfrm>
          <a:prstGeom prst="rect">
            <a:avLst/>
          </a:prstGeom>
          <a:noFill/>
          <a:ln/>
        </p:spPr>
        <p:txBody>
          <a:bodyPr wrap="square" lIns="0" tIns="0" rIns="0" bIns="0" rtlCol="0" anchor="ctr"/>
          <a:lstStyle/>
          <a:p>
            <a:pPr marL="0" indent="0" algn="ctr">
              <a:buNone/>
            </a:pPr>
            <a:r>
              <a:rPr lang="en-US" sz="1063" b="1" dirty="0">
                <a:solidFill>
                  <a:srgbClr val="FFFFFF"/>
                </a:solidFill>
                <a:latin typeface="Calibri" pitchFamily="34" charset="0"/>
                <a:ea typeface="Calibri" pitchFamily="34" charset="-122"/>
                <a:cs typeface="Calibri" pitchFamily="34" charset="-120"/>
              </a:rPr>
              <a:t>2</a:t>
            </a:r>
            <a:endParaRPr lang="en-US" sz="1063" dirty="0"/>
          </a:p>
        </p:txBody>
      </p:sp>
      <p:sp>
        <p:nvSpPr>
          <p:cNvPr id="34" name="Text 32"/>
          <p:cNvSpPr/>
          <p:nvPr/>
        </p:nvSpPr>
        <p:spPr>
          <a:xfrm>
            <a:off x="6812280" y="2788920"/>
            <a:ext cx="4754880" cy="384048"/>
          </a:xfrm>
          <a:prstGeom prst="rect">
            <a:avLst/>
          </a:prstGeom>
          <a:noFill/>
          <a:ln/>
        </p:spPr>
        <p:txBody>
          <a:bodyPr wrap="square" lIns="0" tIns="0" rIns="0" bIns="0" rtlCol="0" anchor="ctr"/>
          <a:lstStyle/>
          <a:p>
            <a:pPr marL="0" indent="0">
              <a:buNone/>
            </a:pPr>
            <a:r>
              <a:rPr lang="en-US" sz="1313" dirty="0">
                <a:solidFill>
                  <a:srgbClr val="1B2A4A"/>
                </a:solidFill>
                <a:latin typeface="Calibri" pitchFamily="34" charset="0"/>
                <a:ea typeface="Calibri" pitchFamily="34" charset="-122"/>
                <a:cs typeface="Calibri" pitchFamily="34" charset="-120"/>
              </a:rPr>
              <a:t>Agent gathers evidence</a:t>
            </a:r>
            <a:endParaRPr lang="en-US" sz="1313" dirty="0"/>
          </a:p>
        </p:txBody>
      </p:sp>
      <p:sp>
        <p:nvSpPr>
          <p:cNvPr id="35" name="Shape 33"/>
          <p:cNvSpPr/>
          <p:nvPr/>
        </p:nvSpPr>
        <p:spPr>
          <a:xfrm>
            <a:off x="6492240" y="3337560"/>
            <a:ext cx="201168" cy="201168"/>
          </a:xfrm>
          <a:prstGeom prst="ellipse">
            <a:avLst/>
          </a:prstGeom>
          <a:solidFill>
            <a:srgbClr val="0E6E8C"/>
          </a:solidFill>
          <a:ln/>
        </p:spPr>
        <p:txBody>
          <a:bodyPr/>
          <a:lstStyle/>
          <a:p>
            <a:endParaRPr lang="en-US"/>
          </a:p>
        </p:txBody>
      </p:sp>
      <p:sp>
        <p:nvSpPr>
          <p:cNvPr id="36" name="Text 34"/>
          <p:cNvSpPr/>
          <p:nvPr/>
        </p:nvSpPr>
        <p:spPr>
          <a:xfrm>
            <a:off x="6492240" y="3337560"/>
            <a:ext cx="201168" cy="201168"/>
          </a:xfrm>
          <a:prstGeom prst="rect">
            <a:avLst/>
          </a:prstGeom>
          <a:noFill/>
          <a:ln/>
        </p:spPr>
        <p:txBody>
          <a:bodyPr wrap="square" lIns="0" tIns="0" rIns="0" bIns="0" rtlCol="0" anchor="ctr"/>
          <a:lstStyle/>
          <a:p>
            <a:pPr marL="0" indent="0" algn="ctr">
              <a:buNone/>
            </a:pPr>
            <a:r>
              <a:rPr lang="en-US" sz="1063" b="1" dirty="0">
                <a:solidFill>
                  <a:srgbClr val="FFFFFF"/>
                </a:solidFill>
                <a:latin typeface="Calibri" pitchFamily="34" charset="0"/>
                <a:ea typeface="Calibri" pitchFamily="34" charset="-122"/>
                <a:cs typeface="Calibri" pitchFamily="34" charset="-120"/>
              </a:rPr>
              <a:t>3</a:t>
            </a:r>
            <a:endParaRPr lang="en-US" sz="1063" dirty="0"/>
          </a:p>
        </p:txBody>
      </p:sp>
      <p:sp>
        <p:nvSpPr>
          <p:cNvPr id="37" name="Text 35"/>
          <p:cNvSpPr/>
          <p:nvPr/>
        </p:nvSpPr>
        <p:spPr>
          <a:xfrm>
            <a:off x="6812280" y="3291840"/>
            <a:ext cx="4754880" cy="384048"/>
          </a:xfrm>
          <a:prstGeom prst="rect">
            <a:avLst/>
          </a:prstGeom>
          <a:noFill/>
          <a:ln/>
        </p:spPr>
        <p:txBody>
          <a:bodyPr wrap="square" lIns="0" tIns="0" rIns="0" bIns="0" rtlCol="0" anchor="ctr"/>
          <a:lstStyle/>
          <a:p>
            <a:pPr marL="0" indent="0">
              <a:buNone/>
            </a:pPr>
            <a:r>
              <a:rPr lang="en-US" sz="1313" dirty="0">
                <a:solidFill>
                  <a:srgbClr val="1B2A4A"/>
                </a:solidFill>
                <a:latin typeface="Calibri" pitchFamily="34" charset="0"/>
                <a:ea typeface="Calibri" pitchFamily="34" charset="-122"/>
                <a:cs typeface="Calibri" pitchFamily="34" charset="-120"/>
              </a:rPr>
              <a:t>Checks related approvals</a:t>
            </a:r>
            <a:endParaRPr lang="en-US" sz="1313" dirty="0"/>
          </a:p>
        </p:txBody>
      </p:sp>
      <p:sp>
        <p:nvSpPr>
          <p:cNvPr id="38" name="Shape 36"/>
          <p:cNvSpPr/>
          <p:nvPr/>
        </p:nvSpPr>
        <p:spPr>
          <a:xfrm>
            <a:off x="6492240" y="3840480"/>
            <a:ext cx="201168" cy="201168"/>
          </a:xfrm>
          <a:prstGeom prst="ellipse">
            <a:avLst/>
          </a:prstGeom>
          <a:solidFill>
            <a:srgbClr val="0E6E8C"/>
          </a:solidFill>
          <a:ln/>
        </p:spPr>
        <p:txBody>
          <a:bodyPr/>
          <a:lstStyle/>
          <a:p>
            <a:endParaRPr lang="en-US"/>
          </a:p>
        </p:txBody>
      </p:sp>
      <p:sp>
        <p:nvSpPr>
          <p:cNvPr id="39" name="Text 37"/>
          <p:cNvSpPr/>
          <p:nvPr/>
        </p:nvSpPr>
        <p:spPr>
          <a:xfrm>
            <a:off x="6492240" y="3840480"/>
            <a:ext cx="201168" cy="201168"/>
          </a:xfrm>
          <a:prstGeom prst="rect">
            <a:avLst/>
          </a:prstGeom>
          <a:noFill/>
          <a:ln/>
        </p:spPr>
        <p:txBody>
          <a:bodyPr wrap="square" lIns="0" tIns="0" rIns="0" bIns="0" rtlCol="0" anchor="ctr"/>
          <a:lstStyle/>
          <a:p>
            <a:pPr marL="0" indent="0" algn="ctr">
              <a:buNone/>
            </a:pPr>
            <a:r>
              <a:rPr lang="en-US" sz="1063" b="1" dirty="0">
                <a:solidFill>
                  <a:srgbClr val="FFFFFF"/>
                </a:solidFill>
                <a:latin typeface="Calibri" pitchFamily="34" charset="0"/>
                <a:ea typeface="Calibri" pitchFamily="34" charset="-122"/>
                <a:cs typeface="Calibri" pitchFamily="34" charset="-120"/>
              </a:rPr>
              <a:t>4</a:t>
            </a:r>
            <a:endParaRPr lang="en-US" sz="1063" dirty="0"/>
          </a:p>
        </p:txBody>
      </p:sp>
      <p:sp>
        <p:nvSpPr>
          <p:cNvPr id="40" name="Text 38"/>
          <p:cNvSpPr/>
          <p:nvPr/>
        </p:nvSpPr>
        <p:spPr>
          <a:xfrm>
            <a:off x="6812280" y="3794760"/>
            <a:ext cx="4754880" cy="384048"/>
          </a:xfrm>
          <a:prstGeom prst="rect">
            <a:avLst/>
          </a:prstGeom>
          <a:noFill/>
          <a:ln/>
        </p:spPr>
        <p:txBody>
          <a:bodyPr wrap="square" lIns="0" tIns="0" rIns="0" bIns="0" rtlCol="0" anchor="ctr"/>
          <a:lstStyle/>
          <a:p>
            <a:pPr marL="0" indent="0">
              <a:buNone/>
            </a:pPr>
            <a:r>
              <a:rPr lang="en-US" sz="1313" dirty="0">
                <a:solidFill>
                  <a:srgbClr val="1B2A4A"/>
                </a:solidFill>
                <a:latin typeface="Calibri" pitchFamily="34" charset="0"/>
                <a:ea typeface="Calibri" pitchFamily="34" charset="-122"/>
                <a:cs typeface="Calibri" pitchFamily="34" charset="-120"/>
              </a:rPr>
              <a:t>Examines related activity</a:t>
            </a:r>
            <a:endParaRPr lang="en-US" sz="1313" dirty="0"/>
          </a:p>
        </p:txBody>
      </p:sp>
      <p:sp>
        <p:nvSpPr>
          <p:cNvPr id="41" name="Shape 39"/>
          <p:cNvSpPr/>
          <p:nvPr/>
        </p:nvSpPr>
        <p:spPr>
          <a:xfrm>
            <a:off x="6492240" y="4343400"/>
            <a:ext cx="201168" cy="201168"/>
          </a:xfrm>
          <a:prstGeom prst="ellipse">
            <a:avLst/>
          </a:prstGeom>
          <a:solidFill>
            <a:srgbClr val="0E6E8C"/>
          </a:solidFill>
          <a:ln/>
        </p:spPr>
        <p:txBody>
          <a:bodyPr/>
          <a:lstStyle/>
          <a:p>
            <a:endParaRPr lang="en-US"/>
          </a:p>
        </p:txBody>
      </p:sp>
      <p:sp>
        <p:nvSpPr>
          <p:cNvPr id="42" name="Text 40"/>
          <p:cNvSpPr/>
          <p:nvPr/>
        </p:nvSpPr>
        <p:spPr>
          <a:xfrm>
            <a:off x="6492240" y="4343400"/>
            <a:ext cx="201168" cy="201168"/>
          </a:xfrm>
          <a:prstGeom prst="rect">
            <a:avLst/>
          </a:prstGeom>
          <a:noFill/>
          <a:ln/>
        </p:spPr>
        <p:txBody>
          <a:bodyPr wrap="square" lIns="0" tIns="0" rIns="0" bIns="0" rtlCol="0" anchor="ctr"/>
          <a:lstStyle/>
          <a:p>
            <a:pPr marL="0" indent="0" algn="ctr">
              <a:buNone/>
            </a:pPr>
            <a:r>
              <a:rPr lang="en-US" sz="1063" b="1" dirty="0">
                <a:solidFill>
                  <a:srgbClr val="FFFFFF"/>
                </a:solidFill>
                <a:latin typeface="Calibri" pitchFamily="34" charset="0"/>
                <a:ea typeface="Calibri" pitchFamily="34" charset="-122"/>
                <a:cs typeface="Calibri" pitchFamily="34" charset="-120"/>
              </a:rPr>
              <a:t>5</a:t>
            </a:r>
            <a:endParaRPr lang="en-US" sz="1063" dirty="0"/>
          </a:p>
        </p:txBody>
      </p:sp>
      <p:sp>
        <p:nvSpPr>
          <p:cNvPr id="43" name="Text 41"/>
          <p:cNvSpPr/>
          <p:nvPr/>
        </p:nvSpPr>
        <p:spPr>
          <a:xfrm>
            <a:off x="6812280" y="4297680"/>
            <a:ext cx="4754880" cy="384048"/>
          </a:xfrm>
          <a:prstGeom prst="rect">
            <a:avLst/>
          </a:prstGeom>
          <a:noFill/>
          <a:ln/>
        </p:spPr>
        <p:txBody>
          <a:bodyPr wrap="square" lIns="0" tIns="0" rIns="0" bIns="0" rtlCol="0" anchor="ctr"/>
          <a:lstStyle/>
          <a:p>
            <a:pPr marL="0" indent="0">
              <a:buNone/>
            </a:pPr>
            <a:r>
              <a:rPr lang="en-US" sz="1313" dirty="0">
                <a:solidFill>
                  <a:srgbClr val="1B2A4A"/>
                </a:solidFill>
                <a:latin typeface="Calibri" pitchFamily="34" charset="0"/>
                <a:ea typeface="Calibri" pitchFamily="34" charset="-122"/>
                <a:cs typeface="Calibri" pitchFamily="34" charset="-120"/>
              </a:rPr>
              <a:t>Determines whether the condition is abnormal</a:t>
            </a:r>
            <a:endParaRPr lang="en-US" sz="1313" dirty="0"/>
          </a:p>
        </p:txBody>
      </p:sp>
      <p:sp>
        <p:nvSpPr>
          <p:cNvPr id="44" name="Shape 42"/>
          <p:cNvSpPr/>
          <p:nvPr/>
        </p:nvSpPr>
        <p:spPr>
          <a:xfrm>
            <a:off x="6492240" y="4846320"/>
            <a:ext cx="201168" cy="201168"/>
          </a:xfrm>
          <a:prstGeom prst="ellipse">
            <a:avLst/>
          </a:prstGeom>
          <a:solidFill>
            <a:srgbClr val="C97A1E"/>
          </a:solidFill>
          <a:ln/>
        </p:spPr>
        <p:txBody>
          <a:bodyPr/>
          <a:lstStyle/>
          <a:p>
            <a:endParaRPr lang="en-US"/>
          </a:p>
        </p:txBody>
      </p:sp>
      <p:sp>
        <p:nvSpPr>
          <p:cNvPr id="45" name="Text 43"/>
          <p:cNvSpPr/>
          <p:nvPr/>
        </p:nvSpPr>
        <p:spPr>
          <a:xfrm>
            <a:off x="6492240" y="4846320"/>
            <a:ext cx="201168" cy="201168"/>
          </a:xfrm>
          <a:prstGeom prst="rect">
            <a:avLst/>
          </a:prstGeom>
          <a:noFill/>
          <a:ln/>
        </p:spPr>
        <p:txBody>
          <a:bodyPr wrap="square" lIns="0" tIns="0" rIns="0" bIns="0" rtlCol="0" anchor="ctr"/>
          <a:lstStyle/>
          <a:p>
            <a:pPr marL="0" indent="0" algn="ctr">
              <a:buNone/>
            </a:pPr>
            <a:r>
              <a:rPr lang="en-US" sz="1063" b="1" dirty="0">
                <a:solidFill>
                  <a:srgbClr val="FFFFFF"/>
                </a:solidFill>
                <a:latin typeface="Calibri" pitchFamily="34" charset="0"/>
                <a:ea typeface="Calibri" pitchFamily="34" charset="-122"/>
                <a:cs typeface="Calibri" pitchFamily="34" charset="-120"/>
              </a:rPr>
              <a:t>6</a:t>
            </a:r>
            <a:endParaRPr lang="en-US" sz="1063" dirty="0"/>
          </a:p>
        </p:txBody>
      </p:sp>
      <p:sp>
        <p:nvSpPr>
          <p:cNvPr id="46" name="Text 44"/>
          <p:cNvSpPr/>
          <p:nvPr/>
        </p:nvSpPr>
        <p:spPr>
          <a:xfrm>
            <a:off x="6812280" y="4800600"/>
            <a:ext cx="4754880" cy="384048"/>
          </a:xfrm>
          <a:prstGeom prst="rect">
            <a:avLst/>
          </a:prstGeom>
          <a:noFill/>
          <a:ln/>
        </p:spPr>
        <p:txBody>
          <a:bodyPr wrap="square" lIns="0" tIns="0" rIns="0" bIns="0" rtlCol="0" anchor="ctr"/>
          <a:lstStyle/>
          <a:p>
            <a:pPr marL="0" indent="0">
              <a:buNone/>
            </a:pPr>
            <a:r>
              <a:rPr lang="en-US" sz="1313" dirty="0">
                <a:solidFill>
                  <a:srgbClr val="1B2A4A"/>
                </a:solidFill>
                <a:latin typeface="Calibri" pitchFamily="34" charset="0"/>
                <a:ea typeface="Calibri" pitchFamily="34" charset="-122"/>
                <a:cs typeface="Calibri" pitchFamily="34" charset="-120"/>
              </a:rPr>
              <a:t>Recommends or performs a permitted response</a:t>
            </a:r>
            <a:endParaRPr lang="en-US" sz="1313" dirty="0"/>
          </a:p>
        </p:txBody>
      </p:sp>
      <p:sp>
        <p:nvSpPr>
          <p:cNvPr id="47" name="Shape 45"/>
          <p:cNvSpPr/>
          <p:nvPr/>
        </p:nvSpPr>
        <p:spPr>
          <a:xfrm>
            <a:off x="6492240" y="5349240"/>
            <a:ext cx="201168" cy="201168"/>
          </a:xfrm>
          <a:prstGeom prst="ellipse">
            <a:avLst/>
          </a:prstGeom>
          <a:solidFill>
            <a:srgbClr val="0E6E8C"/>
          </a:solidFill>
          <a:ln/>
        </p:spPr>
        <p:txBody>
          <a:bodyPr/>
          <a:lstStyle/>
          <a:p>
            <a:endParaRPr lang="en-US"/>
          </a:p>
        </p:txBody>
      </p:sp>
      <p:sp>
        <p:nvSpPr>
          <p:cNvPr id="48" name="Text 46"/>
          <p:cNvSpPr/>
          <p:nvPr/>
        </p:nvSpPr>
        <p:spPr>
          <a:xfrm>
            <a:off x="6492240" y="5349240"/>
            <a:ext cx="201168" cy="201168"/>
          </a:xfrm>
          <a:prstGeom prst="rect">
            <a:avLst/>
          </a:prstGeom>
          <a:noFill/>
          <a:ln/>
        </p:spPr>
        <p:txBody>
          <a:bodyPr wrap="square" lIns="0" tIns="0" rIns="0" bIns="0" rtlCol="0" anchor="ctr"/>
          <a:lstStyle/>
          <a:p>
            <a:pPr marL="0" indent="0" algn="ctr">
              <a:buNone/>
            </a:pPr>
            <a:r>
              <a:rPr lang="en-US" sz="1063" b="1" dirty="0">
                <a:solidFill>
                  <a:srgbClr val="FFFFFF"/>
                </a:solidFill>
                <a:latin typeface="Calibri" pitchFamily="34" charset="0"/>
                <a:ea typeface="Calibri" pitchFamily="34" charset="-122"/>
                <a:cs typeface="Calibri" pitchFamily="34" charset="-120"/>
              </a:rPr>
              <a:t>7</a:t>
            </a:r>
            <a:endParaRPr lang="en-US" sz="1063" dirty="0"/>
          </a:p>
        </p:txBody>
      </p:sp>
      <p:sp>
        <p:nvSpPr>
          <p:cNvPr id="49" name="Text 47"/>
          <p:cNvSpPr/>
          <p:nvPr/>
        </p:nvSpPr>
        <p:spPr>
          <a:xfrm>
            <a:off x="6812280" y="5303520"/>
            <a:ext cx="4754880" cy="384048"/>
          </a:xfrm>
          <a:prstGeom prst="rect">
            <a:avLst/>
          </a:prstGeom>
          <a:noFill/>
          <a:ln/>
        </p:spPr>
        <p:txBody>
          <a:bodyPr wrap="square" lIns="0" tIns="0" rIns="0" bIns="0" rtlCol="0" anchor="ctr"/>
          <a:lstStyle/>
          <a:p>
            <a:pPr marL="0" indent="0">
              <a:buNone/>
            </a:pPr>
            <a:r>
              <a:rPr lang="en-US" sz="1313" dirty="0">
                <a:solidFill>
                  <a:srgbClr val="1B2A4A"/>
                </a:solidFill>
                <a:latin typeface="Calibri" pitchFamily="34" charset="0"/>
                <a:ea typeface="Calibri" pitchFamily="34" charset="-122"/>
                <a:cs typeface="Calibri" pitchFamily="34" charset="-120"/>
              </a:rPr>
              <a:t>Verifies the outcome</a:t>
            </a:r>
            <a:endParaRPr lang="en-US" sz="1313" dirty="0"/>
          </a:p>
        </p:txBody>
      </p:sp>
      <p:sp>
        <p:nvSpPr>
          <p:cNvPr id="50" name="Shape 48"/>
          <p:cNvSpPr/>
          <p:nvPr/>
        </p:nvSpPr>
        <p:spPr>
          <a:xfrm>
            <a:off x="489204" y="6194286"/>
            <a:ext cx="11183112" cy="457200"/>
          </a:xfrm>
          <a:prstGeom prst="rect">
            <a:avLst/>
          </a:prstGeom>
          <a:solidFill>
            <a:srgbClr val="F7F8FA"/>
          </a:solidFill>
          <a:ln/>
        </p:spPr>
        <p:txBody>
          <a:bodyPr/>
          <a:lstStyle/>
          <a:p>
            <a:endParaRPr lang="en-US"/>
          </a:p>
        </p:txBody>
      </p:sp>
      <p:sp>
        <p:nvSpPr>
          <p:cNvPr id="51" name="Text 49"/>
          <p:cNvSpPr/>
          <p:nvPr/>
        </p:nvSpPr>
        <p:spPr>
          <a:xfrm>
            <a:off x="722376" y="6215634"/>
            <a:ext cx="10744200" cy="457200"/>
          </a:xfrm>
          <a:prstGeom prst="rect">
            <a:avLst/>
          </a:prstGeom>
          <a:noFill/>
          <a:ln/>
        </p:spPr>
        <p:txBody>
          <a:bodyPr wrap="square" lIns="0" tIns="0" rIns="0" bIns="0" rtlCol="0" anchor="ctr"/>
          <a:lstStyle/>
          <a:p>
            <a:pPr marL="0" indent="0">
              <a:buNone/>
            </a:pPr>
            <a:r>
              <a:rPr lang="en-US" sz="1600" b="1" i="1" dirty="0">
                <a:solidFill>
                  <a:srgbClr val="1B2A4A"/>
                </a:solidFill>
                <a:latin typeface="Cambria" pitchFamily="34" charset="0"/>
                <a:ea typeface="Cambria" pitchFamily="34" charset="-122"/>
                <a:cs typeface="Cambria" pitchFamily="34" charset="-120"/>
              </a:rPr>
              <a:t>The value is not generating answers - it's shrinking the time between signal, understanding, decision, and response.</a:t>
            </a:r>
            <a:endParaRPr lang="en-US" sz="1600" dirty="0"/>
          </a:p>
        </p:txBody>
      </p:sp>
      <p:sp>
        <p:nvSpPr>
          <p:cNvPr id="52" name="Text 50"/>
          <p:cNvSpPr/>
          <p:nvPr/>
        </p:nvSpPr>
        <p:spPr>
          <a:xfrm>
            <a:off x="11658600" y="320040"/>
            <a:ext cx="457200" cy="274320"/>
          </a:xfrm>
          <a:prstGeom prst="rect">
            <a:avLst/>
          </a:prstGeom>
          <a:noFill/>
          <a:ln/>
        </p:spPr>
        <p:txBody>
          <a:bodyPr wrap="square" lIns="0" tIns="0" rIns="0" bIns="0" rtlCol="0" anchor="ctr"/>
          <a:lstStyle/>
          <a:p>
            <a:pPr marL="0" indent="0" algn="r">
              <a:buNone/>
            </a:pPr>
            <a:r>
              <a:rPr lang="en-US" sz="1125" dirty="0">
                <a:solidFill>
                  <a:srgbClr val="C9CDD6"/>
                </a:solidFill>
                <a:latin typeface="Calibri" pitchFamily="34" charset="0"/>
                <a:ea typeface="Calibri" pitchFamily="34" charset="-122"/>
                <a:cs typeface="Calibri" pitchFamily="34" charset="-120"/>
              </a:rPr>
              <a:t>09</a:t>
            </a:r>
            <a:endParaRPr lang="en-US" sz="1125" dirty="0"/>
          </a:p>
        </p:txBody>
      </p:sp>
    </p:spTree>
    <p:extLst>
      <p:ext uri="{BB962C8B-B14F-4D97-AF65-F5344CB8AC3E}">
        <p14:creationId xmlns:p14="http://schemas.microsoft.com/office/powerpoint/2010/main" val="367338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buNone/>
            </a:pPr>
            <a:r>
              <a:rPr lang="en-US" sz="1500" b="1" kern="0" spc="200" dirty="0">
                <a:solidFill>
                  <a:srgbClr val="0E6E8C"/>
                </a:solidFill>
                <a:latin typeface="Calibri" pitchFamily="34" charset="0"/>
                <a:ea typeface="Calibri" pitchFamily="34" charset="-122"/>
                <a:cs typeface="Calibri" pitchFamily="34" charset="-120"/>
              </a:rPr>
              <a:t>A NEW LAYER</a:t>
            </a:r>
            <a:endParaRPr lang="en-US" sz="1500" dirty="0"/>
          </a:p>
        </p:txBody>
      </p:sp>
      <p:sp>
        <p:nvSpPr>
          <p:cNvPr id="3" name="Text 1"/>
          <p:cNvSpPr/>
          <p:nvPr/>
        </p:nvSpPr>
        <p:spPr>
          <a:xfrm>
            <a:off x="502920" y="612648"/>
            <a:ext cx="11155680" cy="868680"/>
          </a:xfrm>
          <a:prstGeom prst="rect">
            <a:avLst/>
          </a:prstGeom>
          <a:noFill/>
          <a:ln/>
        </p:spPr>
        <p:txBody>
          <a:bodyPr wrap="square" lIns="0" tIns="0" rIns="0" bIns="0" rtlCol="0" anchor="t"/>
          <a:lstStyle/>
          <a:p>
            <a:pPr marL="0" indent="0">
              <a:lnSpc>
                <a:spcPct val="102000"/>
              </a:lnSpc>
              <a:buNone/>
            </a:pPr>
            <a:r>
              <a:rPr lang="en-US" sz="3375" b="1" dirty="0">
                <a:solidFill>
                  <a:srgbClr val="1B2A4A"/>
                </a:solidFill>
                <a:latin typeface="Cambria" pitchFamily="34" charset="0"/>
                <a:ea typeface="Cambria" pitchFamily="34" charset="-122"/>
                <a:cs typeface="Cambria" pitchFamily="34" charset="-120"/>
              </a:rPr>
              <a:t>Agents do not only consume telemetry - they can create it</a:t>
            </a:r>
            <a:endParaRPr lang="en-US" sz="3375" dirty="0"/>
          </a:p>
        </p:txBody>
      </p:sp>
      <p:sp>
        <p:nvSpPr>
          <p:cNvPr id="4" name="Shape 2"/>
          <p:cNvSpPr/>
          <p:nvPr/>
        </p:nvSpPr>
        <p:spPr>
          <a:xfrm>
            <a:off x="504444" y="1828800"/>
            <a:ext cx="11183112" cy="777240"/>
          </a:xfrm>
          <a:prstGeom prst="roundRect">
            <a:avLst>
              <a:gd name="adj" fmla="val 9412"/>
            </a:avLst>
          </a:prstGeom>
          <a:solidFill>
            <a:srgbClr val="E7EAF2"/>
          </a:solidFill>
          <a:ln w="12700">
            <a:solidFill>
              <a:srgbClr val="1B2A4A"/>
            </a:solidFill>
            <a:prstDash val="solid"/>
          </a:ln>
        </p:spPr>
        <p:txBody>
          <a:bodyPr/>
          <a:lstStyle/>
          <a:p>
            <a:endParaRPr lang="en-US" sz="2400"/>
          </a:p>
        </p:txBody>
      </p:sp>
      <p:sp>
        <p:nvSpPr>
          <p:cNvPr id="5" name="Text 3"/>
          <p:cNvSpPr/>
          <p:nvPr/>
        </p:nvSpPr>
        <p:spPr>
          <a:xfrm>
            <a:off x="778764" y="1920240"/>
            <a:ext cx="10607040" cy="256032"/>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LAYER 1 - BUSINESS TELEMETRY</a:t>
            </a:r>
            <a:endParaRPr lang="en-US" sz="1600" dirty="0"/>
          </a:p>
        </p:txBody>
      </p:sp>
      <p:sp>
        <p:nvSpPr>
          <p:cNvPr id="6" name="Text 4"/>
          <p:cNvSpPr/>
          <p:nvPr/>
        </p:nvSpPr>
        <p:spPr>
          <a:xfrm>
            <a:off x="778764" y="2194560"/>
            <a:ext cx="10607040" cy="365760"/>
          </a:xfrm>
          <a:prstGeom prst="rect">
            <a:avLst/>
          </a:prstGeom>
          <a:noFill/>
          <a:ln/>
        </p:spPr>
        <p:txBody>
          <a:bodyPr wrap="square" lIns="0" tIns="0" rIns="0" bIns="0" rtlCol="0" anchor="ctr"/>
          <a:lstStyle/>
          <a:p>
            <a:pPr marL="0" indent="0">
              <a:buNone/>
            </a:pPr>
            <a:r>
              <a:rPr lang="en-US" sz="1600" dirty="0">
                <a:solidFill>
                  <a:srgbClr val="2B2F38"/>
                </a:solidFill>
                <a:latin typeface="Calibri" pitchFamily="34" charset="0"/>
                <a:ea typeface="Calibri" pitchFamily="34" charset="-122"/>
                <a:cs typeface="Calibri" pitchFamily="34" charset="-120"/>
              </a:rPr>
              <a:t>Transactions   ·   Claims   ·   Payments   ·   Customer Activity   ·   Access Events</a:t>
            </a:r>
            <a:endParaRPr lang="en-US" sz="1600" dirty="0"/>
          </a:p>
        </p:txBody>
      </p:sp>
      <p:sp>
        <p:nvSpPr>
          <p:cNvPr id="7" name="Shape 5"/>
          <p:cNvSpPr/>
          <p:nvPr/>
        </p:nvSpPr>
        <p:spPr>
          <a:xfrm>
            <a:off x="504444" y="2770632"/>
            <a:ext cx="11183112" cy="777240"/>
          </a:xfrm>
          <a:prstGeom prst="roundRect">
            <a:avLst>
              <a:gd name="adj" fmla="val 9412"/>
            </a:avLst>
          </a:prstGeom>
          <a:solidFill>
            <a:srgbClr val="F4E3CC"/>
          </a:solidFill>
          <a:ln w="12700">
            <a:solidFill>
              <a:srgbClr val="C97A1E"/>
            </a:solidFill>
            <a:prstDash val="solid"/>
          </a:ln>
        </p:spPr>
        <p:txBody>
          <a:bodyPr/>
          <a:lstStyle/>
          <a:p>
            <a:endParaRPr lang="en-US" sz="2400"/>
          </a:p>
        </p:txBody>
      </p:sp>
      <p:sp>
        <p:nvSpPr>
          <p:cNvPr id="8" name="Text 6"/>
          <p:cNvSpPr/>
          <p:nvPr/>
        </p:nvSpPr>
        <p:spPr>
          <a:xfrm>
            <a:off x="778764" y="2862072"/>
            <a:ext cx="10607040" cy="256032"/>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LAYER 2 - RISK &amp; SECURITY TELEMETRY</a:t>
            </a:r>
            <a:endParaRPr lang="en-US" sz="1600" dirty="0"/>
          </a:p>
        </p:txBody>
      </p:sp>
      <p:sp>
        <p:nvSpPr>
          <p:cNvPr id="9" name="Text 7"/>
          <p:cNvSpPr/>
          <p:nvPr/>
        </p:nvSpPr>
        <p:spPr>
          <a:xfrm>
            <a:off x="778764" y="3136392"/>
            <a:ext cx="10607040" cy="365760"/>
          </a:xfrm>
          <a:prstGeom prst="rect">
            <a:avLst/>
          </a:prstGeom>
          <a:noFill/>
          <a:ln/>
        </p:spPr>
        <p:txBody>
          <a:bodyPr wrap="square" lIns="0" tIns="0" rIns="0" bIns="0" rtlCol="0" anchor="ctr"/>
          <a:lstStyle/>
          <a:p>
            <a:pPr marL="0" indent="0">
              <a:buNone/>
            </a:pPr>
            <a:r>
              <a:rPr lang="en-US" sz="1600" dirty="0">
                <a:solidFill>
                  <a:srgbClr val="2B2F38"/>
                </a:solidFill>
                <a:latin typeface="Calibri" pitchFamily="34" charset="0"/>
                <a:ea typeface="Calibri" pitchFamily="34" charset="-122"/>
                <a:cs typeface="Calibri" pitchFamily="34" charset="-120"/>
              </a:rPr>
              <a:t>Alerts   ·   Exceptions   ·   Control Failures   ·   Anomalies</a:t>
            </a:r>
            <a:endParaRPr lang="en-US" sz="1600" dirty="0"/>
          </a:p>
        </p:txBody>
      </p:sp>
      <p:sp>
        <p:nvSpPr>
          <p:cNvPr id="10" name="Shape 8"/>
          <p:cNvSpPr/>
          <p:nvPr/>
        </p:nvSpPr>
        <p:spPr>
          <a:xfrm>
            <a:off x="504444" y="3712464"/>
            <a:ext cx="11183112" cy="777240"/>
          </a:xfrm>
          <a:prstGeom prst="roundRect">
            <a:avLst>
              <a:gd name="adj" fmla="val 9412"/>
            </a:avLst>
          </a:prstGeom>
          <a:solidFill>
            <a:srgbClr val="D8ECF1"/>
          </a:solidFill>
          <a:ln w="12700">
            <a:solidFill>
              <a:srgbClr val="0E6E8C"/>
            </a:solidFill>
            <a:prstDash val="solid"/>
          </a:ln>
        </p:spPr>
        <p:txBody>
          <a:bodyPr/>
          <a:lstStyle/>
          <a:p>
            <a:endParaRPr lang="en-US" sz="2400"/>
          </a:p>
        </p:txBody>
      </p:sp>
      <p:sp>
        <p:nvSpPr>
          <p:cNvPr id="11" name="Text 9"/>
          <p:cNvSpPr/>
          <p:nvPr/>
        </p:nvSpPr>
        <p:spPr>
          <a:xfrm>
            <a:off x="778764" y="3803904"/>
            <a:ext cx="10607040" cy="256032"/>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LAYER 3 - AGENTIC TELEMETRY</a:t>
            </a:r>
            <a:endParaRPr lang="en-US" sz="1600" dirty="0"/>
          </a:p>
        </p:txBody>
      </p:sp>
      <p:sp>
        <p:nvSpPr>
          <p:cNvPr id="12" name="Text 10"/>
          <p:cNvSpPr/>
          <p:nvPr/>
        </p:nvSpPr>
        <p:spPr>
          <a:xfrm>
            <a:off x="778764" y="4078224"/>
            <a:ext cx="10607040" cy="365760"/>
          </a:xfrm>
          <a:prstGeom prst="rect">
            <a:avLst/>
          </a:prstGeom>
          <a:noFill/>
          <a:ln/>
        </p:spPr>
        <p:txBody>
          <a:bodyPr wrap="square" lIns="0" tIns="0" rIns="0" bIns="0" rtlCol="0" anchor="ctr"/>
          <a:lstStyle/>
          <a:p>
            <a:pPr marL="0" indent="0">
              <a:buNone/>
            </a:pPr>
            <a:r>
              <a:rPr lang="en-US" sz="1600" dirty="0">
                <a:solidFill>
                  <a:srgbClr val="2B2F38"/>
                </a:solidFill>
                <a:latin typeface="Calibri" pitchFamily="34" charset="0"/>
                <a:ea typeface="Calibri" pitchFamily="34" charset="-122"/>
                <a:cs typeface="Calibri" pitchFamily="34" charset="-120"/>
              </a:rPr>
              <a:t>Evidence Gathered  ·  Policy Evaluated  ·  Decision  ·  Approval  ·  Action  ·  Outcome  ·  Verification</a:t>
            </a:r>
            <a:endParaRPr lang="en-US" sz="1600" dirty="0"/>
          </a:p>
        </p:txBody>
      </p:sp>
      <p:sp>
        <p:nvSpPr>
          <p:cNvPr id="13" name="Shape 11"/>
          <p:cNvSpPr/>
          <p:nvPr/>
        </p:nvSpPr>
        <p:spPr>
          <a:xfrm>
            <a:off x="2603351" y="4978908"/>
            <a:ext cx="1920240" cy="640080"/>
          </a:xfrm>
          <a:prstGeom prst="roundRect">
            <a:avLst>
              <a:gd name="adj" fmla="val 10000"/>
            </a:avLst>
          </a:prstGeom>
          <a:solidFill>
            <a:srgbClr val="F7F8FA"/>
          </a:solidFill>
          <a:ln w="12700">
            <a:solidFill>
              <a:srgbClr val="0E6E8C"/>
            </a:solidFill>
            <a:prstDash val="solid"/>
          </a:ln>
        </p:spPr>
        <p:txBody>
          <a:bodyPr/>
          <a:lstStyle/>
          <a:p>
            <a:endParaRPr lang="en-US" sz="2000"/>
          </a:p>
        </p:txBody>
      </p:sp>
      <p:sp>
        <p:nvSpPr>
          <p:cNvPr id="14" name="Text 12"/>
          <p:cNvSpPr/>
          <p:nvPr/>
        </p:nvSpPr>
        <p:spPr>
          <a:xfrm>
            <a:off x="2649071" y="5006340"/>
            <a:ext cx="1828800" cy="585216"/>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More structured</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telemetry</a:t>
            </a:r>
            <a:endParaRPr lang="en-US" sz="1600" dirty="0"/>
          </a:p>
        </p:txBody>
      </p:sp>
      <p:sp>
        <p:nvSpPr>
          <p:cNvPr id="15" name="Shape 13"/>
          <p:cNvSpPr/>
          <p:nvPr/>
        </p:nvSpPr>
        <p:spPr>
          <a:xfrm>
            <a:off x="4610459" y="5190134"/>
            <a:ext cx="283464" cy="217627"/>
          </a:xfrm>
          <a:prstGeom prst="chevron">
            <a:avLst/>
          </a:prstGeom>
          <a:solidFill>
            <a:srgbClr val="C9CDD6"/>
          </a:solidFill>
          <a:ln/>
        </p:spPr>
        <p:txBody>
          <a:bodyPr/>
          <a:lstStyle/>
          <a:p>
            <a:endParaRPr lang="en-US" sz="2000"/>
          </a:p>
        </p:txBody>
      </p:sp>
      <p:sp>
        <p:nvSpPr>
          <p:cNvPr id="16" name="Shape 14"/>
          <p:cNvSpPr/>
          <p:nvPr/>
        </p:nvSpPr>
        <p:spPr>
          <a:xfrm>
            <a:off x="4980791" y="4978908"/>
            <a:ext cx="1920240" cy="640080"/>
          </a:xfrm>
          <a:prstGeom prst="roundRect">
            <a:avLst>
              <a:gd name="adj" fmla="val 10000"/>
            </a:avLst>
          </a:prstGeom>
          <a:solidFill>
            <a:srgbClr val="F7F8FA"/>
          </a:solidFill>
          <a:ln w="12700">
            <a:solidFill>
              <a:srgbClr val="0E6E8C"/>
            </a:solidFill>
            <a:prstDash val="solid"/>
          </a:ln>
        </p:spPr>
        <p:txBody>
          <a:bodyPr/>
          <a:lstStyle/>
          <a:p>
            <a:endParaRPr lang="en-US" sz="2000"/>
          </a:p>
        </p:txBody>
      </p:sp>
      <p:sp>
        <p:nvSpPr>
          <p:cNvPr id="17" name="Text 15"/>
          <p:cNvSpPr/>
          <p:nvPr/>
        </p:nvSpPr>
        <p:spPr>
          <a:xfrm>
            <a:off x="5026511" y="5006340"/>
            <a:ext cx="1828800" cy="585216"/>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Better</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Observability</a:t>
            </a:r>
            <a:endParaRPr lang="en-US" sz="1600" dirty="0"/>
          </a:p>
        </p:txBody>
      </p:sp>
      <p:sp>
        <p:nvSpPr>
          <p:cNvPr id="18" name="Shape 16"/>
          <p:cNvSpPr/>
          <p:nvPr/>
        </p:nvSpPr>
        <p:spPr>
          <a:xfrm>
            <a:off x="6987899" y="5190134"/>
            <a:ext cx="283464" cy="217627"/>
          </a:xfrm>
          <a:prstGeom prst="chevron">
            <a:avLst/>
          </a:prstGeom>
          <a:solidFill>
            <a:srgbClr val="C9CDD6"/>
          </a:solidFill>
          <a:ln/>
        </p:spPr>
        <p:txBody>
          <a:bodyPr/>
          <a:lstStyle/>
          <a:p>
            <a:endParaRPr lang="en-US" sz="2000"/>
          </a:p>
        </p:txBody>
      </p:sp>
      <p:sp>
        <p:nvSpPr>
          <p:cNvPr id="19" name="Shape 17"/>
          <p:cNvSpPr/>
          <p:nvPr/>
        </p:nvSpPr>
        <p:spPr>
          <a:xfrm>
            <a:off x="7358231" y="4978908"/>
            <a:ext cx="1920240" cy="640080"/>
          </a:xfrm>
          <a:prstGeom prst="roundRect">
            <a:avLst>
              <a:gd name="adj" fmla="val 10000"/>
            </a:avLst>
          </a:prstGeom>
          <a:solidFill>
            <a:srgbClr val="F7F8FA"/>
          </a:solidFill>
          <a:ln w="12700">
            <a:solidFill>
              <a:srgbClr val="0E6E8C"/>
            </a:solidFill>
            <a:prstDash val="solid"/>
          </a:ln>
        </p:spPr>
        <p:txBody>
          <a:bodyPr/>
          <a:lstStyle/>
          <a:p>
            <a:endParaRPr lang="en-US" sz="2000"/>
          </a:p>
        </p:txBody>
      </p:sp>
      <p:sp>
        <p:nvSpPr>
          <p:cNvPr id="20" name="Text 18"/>
          <p:cNvSpPr/>
          <p:nvPr/>
        </p:nvSpPr>
        <p:spPr>
          <a:xfrm>
            <a:off x="7403951" y="5006340"/>
            <a:ext cx="1828800" cy="585216"/>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Better</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Auditability</a:t>
            </a:r>
            <a:endParaRPr lang="en-US" sz="1600" dirty="0"/>
          </a:p>
        </p:txBody>
      </p:sp>
      <p:sp>
        <p:nvSpPr>
          <p:cNvPr id="21" name="Shape 19"/>
          <p:cNvSpPr/>
          <p:nvPr/>
        </p:nvSpPr>
        <p:spPr>
          <a:xfrm>
            <a:off x="502920" y="6108192"/>
            <a:ext cx="11183112" cy="457200"/>
          </a:xfrm>
          <a:prstGeom prst="rect">
            <a:avLst/>
          </a:prstGeom>
          <a:solidFill>
            <a:srgbClr val="F7F8FA"/>
          </a:solidFill>
          <a:ln/>
        </p:spPr>
        <p:txBody>
          <a:bodyPr/>
          <a:lstStyle/>
          <a:p>
            <a:endParaRPr lang="en-US"/>
          </a:p>
        </p:txBody>
      </p:sp>
      <p:sp>
        <p:nvSpPr>
          <p:cNvPr id="22" name="Text 20"/>
          <p:cNvSpPr/>
          <p:nvPr/>
        </p:nvSpPr>
        <p:spPr>
          <a:xfrm>
            <a:off x="731520" y="6108192"/>
            <a:ext cx="10744200" cy="457200"/>
          </a:xfrm>
          <a:prstGeom prst="rect">
            <a:avLst/>
          </a:prstGeom>
          <a:noFill/>
          <a:ln/>
        </p:spPr>
        <p:txBody>
          <a:bodyPr wrap="square" lIns="0" tIns="0" rIns="0" bIns="0" rtlCol="0" anchor="ctr"/>
          <a:lstStyle/>
          <a:p>
            <a:pPr marL="0" indent="0">
              <a:buNone/>
            </a:pPr>
            <a:r>
              <a:rPr lang="en-US" sz="1875" b="1" i="1" dirty="0">
                <a:solidFill>
                  <a:srgbClr val="1B2A4A"/>
                </a:solidFill>
                <a:latin typeface="Cambria" pitchFamily="34" charset="0"/>
                <a:ea typeface="Cambria" pitchFamily="34" charset="-122"/>
                <a:cs typeface="Cambria" pitchFamily="34" charset="-120"/>
              </a:rPr>
              <a:t>Agentic operations can make the decision and action process itself observable.</a:t>
            </a:r>
            <a:endParaRPr lang="en-US" sz="1875" dirty="0"/>
          </a:p>
        </p:txBody>
      </p:sp>
      <p:sp>
        <p:nvSpPr>
          <p:cNvPr id="23" name="Text 21"/>
          <p:cNvSpPr/>
          <p:nvPr/>
        </p:nvSpPr>
        <p:spPr>
          <a:xfrm>
            <a:off x="11658600" y="320040"/>
            <a:ext cx="457200" cy="274320"/>
          </a:xfrm>
          <a:prstGeom prst="rect">
            <a:avLst/>
          </a:prstGeom>
          <a:noFill/>
          <a:ln/>
        </p:spPr>
        <p:txBody>
          <a:bodyPr wrap="square" lIns="0" tIns="0" rIns="0" bIns="0" rtlCol="0" anchor="ctr"/>
          <a:lstStyle/>
          <a:p>
            <a:pPr marL="0" indent="0" algn="r">
              <a:buNone/>
            </a:pPr>
            <a:r>
              <a:rPr lang="en-US" sz="1125" dirty="0">
                <a:solidFill>
                  <a:srgbClr val="C9CDD6"/>
                </a:solidFill>
                <a:latin typeface="Calibri" pitchFamily="34" charset="0"/>
                <a:ea typeface="Calibri" pitchFamily="34" charset="-122"/>
                <a:cs typeface="Calibri" pitchFamily="34" charset="-120"/>
              </a:rPr>
              <a:t>10</a:t>
            </a:r>
            <a:endParaRPr lang="en-US" sz="1125" dirty="0"/>
          </a:p>
        </p:txBody>
      </p:sp>
    </p:spTree>
    <p:extLst>
      <p:ext uri="{BB962C8B-B14F-4D97-AF65-F5344CB8AC3E}">
        <p14:creationId xmlns:p14="http://schemas.microsoft.com/office/powerpoint/2010/main" val="524170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buNone/>
            </a:pPr>
            <a:r>
              <a:rPr lang="en-US" sz="1500" b="1" kern="0" spc="200" dirty="0">
                <a:solidFill>
                  <a:srgbClr val="0E6E8C"/>
                </a:solidFill>
                <a:latin typeface="Calibri" pitchFamily="34" charset="0"/>
                <a:ea typeface="Calibri" pitchFamily="34" charset="-122"/>
                <a:cs typeface="Calibri" pitchFamily="34" charset="-120"/>
              </a:rPr>
              <a:t>THE GOVERNANCE QUESTION</a:t>
            </a:r>
            <a:endParaRPr lang="en-US" sz="1500" dirty="0"/>
          </a:p>
        </p:txBody>
      </p:sp>
      <p:sp>
        <p:nvSpPr>
          <p:cNvPr id="3" name="Text 1"/>
          <p:cNvSpPr/>
          <p:nvPr/>
        </p:nvSpPr>
        <p:spPr>
          <a:xfrm>
            <a:off x="502920" y="612648"/>
            <a:ext cx="11155680" cy="868680"/>
          </a:xfrm>
          <a:prstGeom prst="rect">
            <a:avLst/>
          </a:prstGeom>
          <a:noFill/>
          <a:ln/>
        </p:spPr>
        <p:txBody>
          <a:bodyPr wrap="square" lIns="0" tIns="0" rIns="0" bIns="0" rtlCol="0" anchor="t"/>
          <a:lstStyle/>
          <a:p>
            <a:pPr marL="0" indent="0">
              <a:lnSpc>
                <a:spcPct val="102000"/>
              </a:lnSpc>
              <a:buNone/>
            </a:pPr>
            <a:r>
              <a:rPr lang="en-US" sz="3375" b="1" dirty="0">
                <a:solidFill>
                  <a:srgbClr val="1B2A4A"/>
                </a:solidFill>
                <a:latin typeface="Cambria" pitchFamily="34" charset="0"/>
                <a:ea typeface="Cambria" pitchFamily="34" charset="-122"/>
                <a:cs typeface="Cambria" pitchFamily="34" charset="-120"/>
              </a:rPr>
              <a:t>Autonomy without governance creates a new privileged actor</a:t>
            </a:r>
            <a:endParaRPr lang="en-US" sz="3375" dirty="0"/>
          </a:p>
        </p:txBody>
      </p:sp>
      <p:sp>
        <p:nvSpPr>
          <p:cNvPr id="4" name="Shape 2"/>
          <p:cNvSpPr/>
          <p:nvPr/>
        </p:nvSpPr>
        <p:spPr>
          <a:xfrm>
            <a:off x="1914508" y="1746504"/>
            <a:ext cx="4152452" cy="4270248"/>
          </a:xfrm>
          <a:prstGeom prst="ellipse">
            <a:avLst/>
          </a:prstGeom>
          <a:ln w="19050">
            <a:solidFill>
              <a:srgbClr val="0E6E8C"/>
            </a:solidFill>
            <a:prstDash val="dash"/>
          </a:ln>
        </p:spPr>
        <p:txBody>
          <a:bodyPr/>
          <a:lstStyle/>
          <a:p>
            <a:endParaRPr lang="en-US"/>
          </a:p>
        </p:txBody>
      </p:sp>
      <p:sp>
        <p:nvSpPr>
          <p:cNvPr id="5" name="Text 3"/>
          <p:cNvSpPr/>
          <p:nvPr/>
        </p:nvSpPr>
        <p:spPr>
          <a:xfrm>
            <a:off x="2769651" y="1328498"/>
            <a:ext cx="2377440" cy="274320"/>
          </a:xfrm>
          <a:prstGeom prst="rect">
            <a:avLst/>
          </a:prstGeom>
          <a:noFill/>
          <a:ln/>
        </p:spPr>
        <p:txBody>
          <a:bodyPr wrap="square" lIns="0" tIns="0" rIns="0" bIns="0" rtlCol="0" anchor="ctr"/>
          <a:lstStyle/>
          <a:p>
            <a:pPr marL="0" indent="0" algn="ctr">
              <a:buNone/>
            </a:pPr>
            <a:r>
              <a:rPr lang="en-US" sz="1400" b="1" dirty="0">
                <a:solidFill>
                  <a:srgbClr val="0E6E8C"/>
                </a:solidFill>
                <a:latin typeface="Calibri" pitchFamily="34" charset="0"/>
                <a:ea typeface="Calibri" pitchFamily="34" charset="-122"/>
                <a:cs typeface="Calibri" pitchFamily="34" charset="-120"/>
              </a:rPr>
              <a:t>GOVERNED AUTONOMY</a:t>
            </a:r>
            <a:endParaRPr lang="en-US" sz="1400" dirty="0"/>
          </a:p>
        </p:txBody>
      </p:sp>
      <p:sp>
        <p:nvSpPr>
          <p:cNvPr id="6" name="Shape 4"/>
          <p:cNvSpPr/>
          <p:nvPr/>
        </p:nvSpPr>
        <p:spPr>
          <a:xfrm>
            <a:off x="3246120" y="3547872"/>
            <a:ext cx="1554480" cy="768096"/>
          </a:xfrm>
          <a:prstGeom prst="roundRect">
            <a:avLst>
              <a:gd name="adj" fmla="val 59524"/>
            </a:avLst>
          </a:prstGeom>
          <a:solidFill>
            <a:srgbClr val="1B2A4A"/>
          </a:solidFill>
          <a:ln w="12700">
            <a:solidFill>
              <a:srgbClr val="1B2A4A"/>
            </a:solidFill>
            <a:prstDash val="solid"/>
          </a:ln>
        </p:spPr>
        <p:txBody>
          <a:bodyPr/>
          <a:lstStyle/>
          <a:p>
            <a:endParaRPr lang="en-US"/>
          </a:p>
        </p:txBody>
      </p:sp>
      <p:sp>
        <p:nvSpPr>
          <p:cNvPr id="7" name="Text 5"/>
          <p:cNvSpPr/>
          <p:nvPr/>
        </p:nvSpPr>
        <p:spPr>
          <a:xfrm>
            <a:off x="3282696" y="3547872"/>
            <a:ext cx="1481328" cy="76809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AI</a:t>
            </a:r>
            <a:endParaRPr lang="en-US" sz="2000" dirty="0"/>
          </a:p>
          <a:p>
            <a:pPr marL="0" indent="0" algn="ctr">
              <a:buNone/>
            </a:pPr>
            <a:r>
              <a:rPr lang="en-US" sz="2000" b="1" dirty="0">
                <a:solidFill>
                  <a:srgbClr val="FFFFFF"/>
                </a:solidFill>
                <a:latin typeface="Calibri" pitchFamily="34" charset="0"/>
                <a:ea typeface="Calibri" pitchFamily="34" charset="-122"/>
                <a:cs typeface="Calibri" pitchFamily="34" charset="-120"/>
              </a:rPr>
              <a:t>AGENT</a:t>
            </a:r>
            <a:endParaRPr lang="en-US" sz="2000" dirty="0"/>
          </a:p>
        </p:txBody>
      </p:sp>
      <p:sp>
        <p:nvSpPr>
          <p:cNvPr id="9" name="Shape 7"/>
          <p:cNvSpPr/>
          <p:nvPr/>
        </p:nvSpPr>
        <p:spPr>
          <a:xfrm>
            <a:off x="3301376" y="1668894"/>
            <a:ext cx="1417320" cy="621792"/>
          </a:xfrm>
          <a:prstGeom prst="roundRect">
            <a:avLst>
              <a:gd name="adj" fmla="val 8824"/>
            </a:avLst>
          </a:prstGeom>
          <a:solidFill>
            <a:srgbClr val="D8ECF1"/>
          </a:solidFill>
          <a:ln w="12700">
            <a:solidFill>
              <a:srgbClr val="0E6E8C"/>
            </a:solidFill>
            <a:prstDash val="solid"/>
          </a:ln>
        </p:spPr>
        <p:txBody>
          <a:bodyPr/>
          <a:lstStyle/>
          <a:p>
            <a:endParaRPr lang="en-US" sz="2400"/>
          </a:p>
        </p:txBody>
      </p:sp>
      <p:sp>
        <p:nvSpPr>
          <p:cNvPr id="10" name="Text 8"/>
          <p:cNvSpPr/>
          <p:nvPr/>
        </p:nvSpPr>
        <p:spPr>
          <a:xfrm>
            <a:off x="3337952" y="1676579"/>
            <a:ext cx="1344168" cy="621792"/>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Identity</a:t>
            </a:r>
            <a:endParaRPr lang="en-US" sz="1400" dirty="0"/>
          </a:p>
        </p:txBody>
      </p:sp>
      <p:sp>
        <p:nvSpPr>
          <p:cNvPr id="12" name="Shape 10"/>
          <p:cNvSpPr/>
          <p:nvPr/>
        </p:nvSpPr>
        <p:spPr>
          <a:xfrm>
            <a:off x="4708768" y="2509292"/>
            <a:ext cx="1417320" cy="621792"/>
          </a:xfrm>
          <a:prstGeom prst="roundRect">
            <a:avLst>
              <a:gd name="adj" fmla="val 8824"/>
            </a:avLst>
          </a:prstGeom>
          <a:solidFill>
            <a:srgbClr val="D8ECF1"/>
          </a:solidFill>
          <a:ln w="12700">
            <a:solidFill>
              <a:srgbClr val="0E6E8C"/>
            </a:solidFill>
            <a:prstDash val="solid"/>
          </a:ln>
        </p:spPr>
        <p:txBody>
          <a:bodyPr/>
          <a:lstStyle/>
          <a:p>
            <a:endParaRPr lang="en-US" sz="2400"/>
          </a:p>
        </p:txBody>
      </p:sp>
      <p:sp>
        <p:nvSpPr>
          <p:cNvPr id="13" name="Text 11"/>
          <p:cNvSpPr/>
          <p:nvPr/>
        </p:nvSpPr>
        <p:spPr>
          <a:xfrm>
            <a:off x="4745344" y="2509292"/>
            <a:ext cx="1344168" cy="621792"/>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Authority</a:t>
            </a:r>
            <a:endParaRPr lang="en-US" sz="1400" dirty="0"/>
          </a:p>
        </p:txBody>
      </p:sp>
      <p:sp>
        <p:nvSpPr>
          <p:cNvPr id="15" name="Shape 13"/>
          <p:cNvSpPr/>
          <p:nvPr/>
        </p:nvSpPr>
        <p:spPr>
          <a:xfrm>
            <a:off x="5053074" y="4017797"/>
            <a:ext cx="1417320" cy="621792"/>
          </a:xfrm>
          <a:prstGeom prst="roundRect">
            <a:avLst>
              <a:gd name="adj" fmla="val 8824"/>
            </a:avLst>
          </a:prstGeom>
          <a:solidFill>
            <a:srgbClr val="D8ECF1"/>
          </a:solidFill>
          <a:ln w="12700">
            <a:solidFill>
              <a:srgbClr val="0E6E8C"/>
            </a:solidFill>
            <a:prstDash val="solid"/>
          </a:ln>
        </p:spPr>
        <p:txBody>
          <a:bodyPr/>
          <a:lstStyle/>
          <a:p>
            <a:endParaRPr lang="en-US"/>
          </a:p>
        </p:txBody>
      </p:sp>
      <p:sp>
        <p:nvSpPr>
          <p:cNvPr id="16" name="Text 14"/>
          <p:cNvSpPr/>
          <p:nvPr/>
        </p:nvSpPr>
        <p:spPr>
          <a:xfrm>
            <a:off x="5089650" y="4017797"/>
            <a:ext cx="1344168" cy="621792"/>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Instructions</a:t>
            </a:r>
            <a:endParaRPr lang="en-US" sz="1400" dirty="0"/>
          </a:p>
        </p:txBody>
      </p:sp>
      <p:sp>
        <p:nvSpPr>
          <p:cNvPr id="18" name="Shape 16"/>
          <p:cNvSpPr/>
          <p:nvPr/>
        </p:nvSpPr>
        <p:spPr>
          <a:xfrm>
            <a:off x="4088349" y="5227524"/>
            <a:ext cx="1417320" cy="621792"/>
          </a:xfrm>
          <a:prstGeom prst="roundRect">
            <a:avLst>
              <a:gd name="adj" fmla="val 8824"/>
            </a:avLst>
          </a:prstGeom>
          <a:solidFill>
            <a:srgbClr val="D8ECF1"/>
          </a:solidFill>
          <a:ln w="12700">
            <a:solidFill>
              <a:srgbClr val="0E6E8C"/>
            </a:solidFill>
            <a:prstDash val="solid"/>
          </a:ln>
        </p:spPr>
        <p:txBody>
          <a:bodyPr/>
          <a:lstStyle/>
          <a:p>
            <a:endParaRPr lang="en-US"/>
          </a:p>
        </p:txBody>
      </p:sp>
      <p:sp>
        <p:nvSpPr>
          <p:cNvPr id="19" name="Text 17"/>
          <p:cNvSpPr/>
          <p:nvPr/>
        </p:nvSpPr>
        <p:spPr>
          <a:xfrm>
            <a:off x="4124925" y="5227524"/>
            <a:ext cx="1344168" cy="621792"/>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Policy</a:t>
            </a:r>
            <a:endParaRPr lang="en-US" sz="1400" dirty="0"/>
          </a:p>
        </p:txBody>
      </p:sp>
      <p:sp>
        <p:nvSpPr>
          <p:cNvPr id="21" name="Shape 19"/>
          <p:cNvSpPr/>
          <p:nvPr/>
        </p:nvSpPr>
        <p:spPr>
          <a:xfrm>
            <a:off x="2541051" y="5227524"/>
            <a:ext cx="1417320" cy="621792"/>
          </a:xfrm>
          <a:prstGeom prst="roundRect">
            <a:avLst>
              <a:gd name="adj" fmla="val 8824"/>
            </a:avLst>
          </a:prstGeom>
          <a:solidFill>
            <a:srgbClr val="D8ECF1"/>
          </a:solidFill>
          <a:ln w="12700">
            <a:solidFill>
              <a:srgbClr val="0E6E8C"/>
            </a:solidFill>
            <a:prstDash val="solid"/>
          </a:ln>
        </p:spPr>
        <p:txBody>
          <a:bodyPr/>
          <a:lstStyle/>
          <a:p>
            <a:endParaRPr lang="en-US"/>
          </a:p>
        </p:txBody>
      </p:sp>
      <p:sp>
        <p:nvSpPr>
          <p:cNvPr id="22" name="Text 20"/>
          <p:cNvSpPr/>
          <p:nvPr/>
        </p:nvSpPr>
        <p:spPr>
          <a:xfrm>
            <a:off x="2577627" y="5227524"/>
            <a:ext cx="1344168" cy="621792"/>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Human</a:t>
            </a:r>
            <a:endParaRPr lang="en-US" sz="1400" dirty="0"/>
          </a:p>
          <a:p>
            <a:pPr marL="0" indent="0" algn="ctr">
              <a:buNone/>
            </a:pPr>
            <a:r>
              <a:rPr lang="en-US" sz="1400" b="1" dirty="0">
                <a:solidFill>
                  <a:srgbClr val="1B2A4A"/>
                </a:solidFill>
                <a:latin typeface="Calibri" pitchFamily="34" charset="0"/>
                <a:ea typeface="Calibri" pitchFamily="34" charset="-122"/>
                <a:cs typeface="Calibri" pitchFamily="34" charset="-120"/>
              </a:rPr>
              <a:t>Approval</a:t>
            </a:r>
            <a:endParaRPr lang="en-US" sz="1400" dirty="0"/>
          </a:p>
          <a:p>
            <a:pPr marL="0" indent="0" algn="ctr">
              <a:buNone/>
            </a:pPr>
            <a:r>
              <a:rPr lang="en-US" sz="1400" b="1" dirty="0">
                <a:solidFill>
                  <a:srgbClr val="1B2A4A"/>
                </a:solidFill>
                <a:latin typeface="Calibri" pitchFamily="34" charset="0"/>
                <a:ea typeface="Calibri" pitchFamily="34" charset="-122"/>
                <a:cs typeface="Calibri" pitchFamily="34" charset="-120"/>
              </a:rPr>
              <a:t>Boundary</a:t>
            </a:r>
            <a:endParaRPr lang="en-US" sz="1400" dirty="0"/>
          </a:p>
        </p:txBody>
      </p:sp>
      <p:sp>
        <p:nvSpPr>
          <p:cNvPr id="24" name="Shape 22"/>
          <p:cNvSpPr/>
          <p:nvPr/>
        </p:nvSpPr>
        <p:spPr>
          <a:xfrm>
            <a:off x="1576326" y="4017797"/>
            <a:ext cx="1417320" cy="621792"/>
          </a:xfrm>
          <a:prstGeom prst="roundRect">
            <a:avLst>
              <a:gd name="adj" fmla="val 8824"/>
            </a:avLst>
          </a:prstGeom>
          <a:solidFill>
            <a:srgbClr val="D8ECF1"/>
          </a:solidFill>
          <a:ln w="12700">
            <a:solidFill>
              <a:srgbClr val="0E6E8C"/>
            </a:solidFill>
            <a:prstDash val="solid"/>
          </a:ln>
        </p:spPr>
        <p:txBody>
          <a:bodyPr/>
          <a:lstStyle/>
          <a:p>
            <a:endParaRPr lang="en-US"/>
          </a:p>
        </p:txBody>
      </p:sp>
      <p:sp>
        <p:nvSpPr>
          <p:cNvPr id="25" name="Text 23"/>
          <p:cNvSpPr/>
          <p:nvPr/>
        </p:nvSpPr>
        <p:spPr>
          <a:xfrm>
            <a:off x="1612902" y="4017797"/>
            <a:ext cx="1344168" cy="621792"/>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Action</a:t>
            </a:r>
            <a:endParaRPr lang="en-US" sz="1400" dirty="0"/>
          </a:p>
          <a:p>
            <a:pPr marL="0" indent="0" algn="ctr">
              <a:buNone/>
            </a:pPr>
            <a:r>
              <a:rPr lang="en-US" sz="1400" b="1" dirty="0">
                <a:solidFill>
                  <a:srgbClr val="1B2A4A"/>
                </a:solidFill>
                <a:latin typeface="Calibri" pitchFamily="34" charset="0"/>
                <a:ea typeface="Calibri" pitchFamily="34" charset="-122"/>
                <a:cs typeface="Calibri" pitchFamily="34" charset="-120"/>
              </a:rPr>
              <a:t>Evidence</a:t>
            </a:r>
            <a:endParaRPr lang="en-US" sz="1400" dirty="0"/>
          </a:p>
        </p:txBody>
      </p:sp>
      <p:sp>
        <p:nvSpPr>
          <p:cNvPr id="27" name="Shape 25"/>
          <p:cNvSpPr/>
          <p:nvPr/>
        </p:nvSpPr>
        <p:spPr>
          <a:xfrm>
            <a:off x="1920632" y="2509292"/>
            <a:ext cx="1417320" cy="621792"/>
          </a:xfrm>
          <a:prstGeom prst="roundRect">
            <a:avLst>
              <a:gd name="adj" fmla="val 8824"/>
            </a:avLst>
          </a:prstGeom>
          <a:solidFill>
            <a:srgbClr val="D8ECF1"/>
          </a:solidFill>
          <a:ln w="12700">
            <a:solidFill>
              <a:srgbClr val="0E6E8C"/>
            </a:solidFill>
            <a:prstDash val="solid"/>
          </a:ln>
        </p:spPr>
        <p:txBody>
          <a:bodyPr/>
          <a:lstStyle/>
          <a:p>
            <a:endParaRPr lang="en-US" sz="2400"/>
          </a:p>
        </p:txBody>
      </p:sp>
      <p:sp>
        <p:nvSpPr>
          <p:cNvPr id="28" name="Text 26"/>
          <p:cNvSpPr/>
          <p:nvPr/>
        </p:nvSpPr>
        <p:spPr>
          <a:xfrm>
            <a:off x="1957208" y="2509292"/>
            <a:ext cx="1344168" cy="621792"/>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Verification</a:t>
            </a:r>
            <a:endParaRPr lang="en-US" sz="1400" dirty="0"/>
          </a:p>
        </p:txBody>
      </p:sp>
      <p:sp>
        <p:nvSpPr>
          <p:cNvPr id="29" name="Shape 27"/>
          <p:cNvSpPr/>
          <p:nvPr/>
        </p:nvSpPr>
        <p:spPr>
          <a:xfrm>
            <a:off x="7086600" y="2194560"/>
            <a:ext cx="4617720" cy="3383280"/>
          </a:xfrm>
          <a:prstGeom prst="roundRect">
            <a:avLst>
              <a:gd name="adj" fmla="val 2703"/>
            </a:avLst>
          </a:prstGeom>
          <a:solidFill>
            <a:srgbClr val="F7F8FA"/>
          </a:solidFill>
          <a:ln w="9525">
            <a:solidFill>
              <a:srgbClr val="C9CDD6"/>
            </a:solidFill>
            <a:prstDash val="solid"/>
          </a:ln>
        </p:spPr>
        <p:txBody>
          <a:bodyPr/>
          <a:lstStyle/>
          <a:p>
            <a:endParaRPr lang="en-US"/>
          </a:p>
        </p:txBody>
      </p:sp>
      <p:sp>
        <p:nvSpPr>
          <p:cNvPr id="30" name="Text 28"/>
          <p:cNvSpPr/>
          <p:nvPr/>
        </p:nvSpPr>
        <p:spPr>
          <a:xfrm>
            <a:off x="7315200" y="2395728"/>
            <a:ext cx="4160520" cy="274320"/>
          </a:xfrm>
          <a:prstGeom prst="rect">
            <a:avLst/>
          </a:prstGeom>
          <a:noFill/>
          <a:ln/>
        </p:spPr>
        <p:txBody>
          <a:bodyPr wrap="square" lIns="0" tIns="0" rIns="0" bIns="0" rtlCol="0" anchor="ctr"/>
          <a:lstStyle/>
          <a:p>
            <a:pPr marL="0" indent="0">
              <a:buNone/>
            </a:pPr>
            <a:r>
              <a:rPr lang="en-US" sz="1375" b="1" dirty="0">
                <a:solidFill>
                  <a:srgbClr val="B3401F"/>
                </a:solidFill>
                <a:latin typeface="Calibri" pitchFamily="34" charset="0"/>
                <a:ea typeface="Calibri" pitchFamily="34" charset="-122"/>
                <a:cs typeface="Calibri" pitchFamily="34" charset="-120"/>
              </a:rPr>
              <a:t>THE KEY QUESTION</a:t>
            </a:r>
            <a:endParaRPr lang="en-US" sz="1375" dirty="0"/>
          </a:p>
        </p:txBody>
      </p:sp>
      <p:sp>
        <p:nvSpPr>
          <p:cNvPr id="31" name="Text 29"/>
          <p:cNvSpPr/>
          <p:nvPr/>
        </p:nvSpPr>
        <p:spPr>
          <a:xfrm>
            <a:off x="7315200" y="2743200"/>
            <a:ext cx="4160520" cy="2468880"/>
          </a:xfrm>
          <a:prstGeom prst="rect">
            <a:avLst/>
          </a:prstGeom>
          <a:noFill/>
          <a:ln/>
        </p:spPr>
        <p:txBody>
          <a:bodyPr wrap="square" lIns="0" tIns="0" rIns="0" bIns="0" rtlCol="0" anchor="t"/>
          <a:lstStyle/>
          <a:p>
            <a:pPr marL="0" indent="0">
              <a:buNone/>
            </a:pPr>
            <a:r>
              <a:rPr lang="en-US" sz="2063" b="1" i="1" dirty="0">
                <a:solidFill>
                  <a:srgbClr val="1B2A4A"/>
                </a:solidFill>
                <a:latin typeface="Cambria" pitchFamily="34" charset="0"/>
                <a:ea typeface="Cambria" pitchFamily="34" charset="-122"/>
                <a:cs typeface="Cambria" pitchFamily="34" charset="-120"/>
              </a:rPr>
              <a:t>If an AI agent can act on behalf of the organization - who authorized it, what was it allowed to do, and can we reconstruct what happened?</a:t>
            </a:r>
            <a:endParaRPr lang="en-US" sz="2063" dirty="0"/>
          </a:p>
        </p:txBody>
      </p:sp>
      <p:sp>
        <p:nvSpPr>
          <p:cNvPr id="32" name="Shape 30"/>
          <p:cNvSpPr/>
          <p:nvPr/>
        </p:nvSpPr>
        <p:spPr>
          <a:xfrm>
            <a:off x="497956" y="6272784"/>
            <a:ext cx="11183112" cy="457200"/>
          </a:xfrm>
          <a:prstGeom prst="rect">
            <a:avLst/>
          </a:prstGeom>
          <a:solidFill>
            <a:srgbClr val="F7F8FA"/>
          </a:solidFill>
          <a:ln/>
        </p:spPr>
        <p:txBody>
          <a:bodyPr/>
          <a:lstStyle/>
          <a:p>
            <a:endParaRPr lang="en-US"/>
          </a:p>
        </p:txBody>
      </p:sp>
      <p:sp>
        <p:nvSpPr>
          <p:cNvPr id="33" name="Text 31"/>
          <p:cNvSpPr/>
          <p:nvPr/>
        </p:nvSpPr>
        <p:spPr>
          <a:xfrm>
            <a:off x="726556" y="6272784"/>
            <a:ext cx="10744200" cy="457200"/>
          </a:xfrm>
          <a:prstGeom prst="rect">
            <a:avLst/>
          </a:prstGeom>
          <a:noFill/>
          <a:ln/>
        </p:spPr>
        <p:txBody>
          <a:bodyPr wrap="square" lIns="0" tIns="0" rIns="0" bIns="0" rtlCol="0" anchor="ctr"/>
          <a:lstStyle/>
          <a:p>
            <a:pPr marL="0" indent="0">
              <a:buNone/>
            </a:pPr>
            <a:r>
              <a:rPr lang="en-US" sz="1875" b="1" i="1" dirty="0">
                <a:solidFill>
                  <a:srgbClr val="1B2A4A"/>
                </a:solidFill>
                <a:latin typeface="Cambria" pitchFamily="34" charset="0"/>
                <a:ea typeface="Cambria" pitchFamily="34" charset="-122"/>
                <a:cs typeface="Cambria" pitchFamily="34" charset="-120"/>
              </a:rPr>
              <a:t>The objective is not maximum autonomy. It is appropriate autonomy with accountability.</a:t>
            </a:r>
            <a:endParaRPr lang="en-US" sz="1875" dirty="0"/>
          </a:p>
        </p:txBody>
      </p:sp>
      <p:sp>
        <p:nvSpPr>
          <p:cNvPr id="34" name="Text 32"/>
          <p:cNvSpPr/>
          <p:nvPr/>
        </p:nvSpPr>
        <p:spPr>
          <a:xfrm>
            <a:off x="7086600" y="5632704"/>
            <a:ext cx="4617720" cy="612648"/>
          </a:xfrm>
          <a:prstGeom prst="rect">
            <a:avLst/>
          </a:prstGeom>
          <a:noFill/>
          <a:ln/>
        </p:spPr>
        <p:txBody>
          <a:bodyPr wrap="square" lIns="0" tIns="0" rIns="0" bIns="0" rtlCol="0" anchor="t"/>
          <a:lstStyle/>
          <a:p>
            <a:pPr marL="0" indent="0">
              <a:buNone/>
            </a:pPr>
            <a:r>
              <a:rPr lang="en-US" sz="1400" i="1" dirty="0">
                <a:solidFill>
                  <a:srgbClr val="6B7280"/>
                </a:solidFill>
                <a:latin typeface="Calibri" pitchFamily="34" charset="0"/>
                <a:ea typeface="Calibri" pitchFamily="34" charset="-122"/>
                <a:cs typeface="Calibri" pitchFamily="34" charset="-120"/>
              </a:rPr>
              <a:t>New attack surface these controls close: identity spoofing, prompt injection, and agent impersonation now sit alongside traditional privilege misuse.</a:t>
            </a:r>
            <a:endParaRPr lang="en-US" sz="1400" dirty="0"/>
          </a:p>
        </p:txBody>
      </p:sp>
      <p:sp>
        <p:nvSpPr>
          <p:cNvPr id="35" name="Text 33"/>
          <p:cNvSpPr/>
          <p:nvPr/>
        </p:nvSpPr>
        <p:spPr>
          <a:xfrm>
            <a:off x="11658600" y="320040"/>
            <a:ext cx="457200" cy="274320"/>
          </a:xfrm>
          <a:prstGeom prst="rect">
            <a:avLst/>
          </a:prstGeom>
          <a:noFill/>
          <a:ln/>
        </p:spPr>
        <p:txBody>
          <a:bodyPr wrap="square" lIns="0" tIns="0" rIns="0" bIns="0" rtlCol="0" anchor="ctr"/>
          <a:lstStyle/>
          <a:p>
            <a:pPr marL="0" indent="0" algn="r">
              <a:buNone/>
            </a:pPr>
            <a:r>
              <a:rPr lang="en-US" sz="1125" dirty="0">
                <a:solidFill>
                  <a:srgbClr val="C9CDD6"/>
                </a:solidFill>
                <a:latin typeface="Calibri" pitchFamily="34" charset="0"/>
                <a:ea typeface="Calibri" pitchFamily="34" charset="-122"/>
                <a:cs typeface="Calibri" pitchFamily="34" charset="-120"/>
              </a:rPr>
              <a:t>11</a:t>
            </a:r>
            <a:endParaRPr lang="en-US" sz="1125" dirty="0"/>
          </a:p>
        </p:txBody>
      </p:sp>
    </p:spTree>
    <p:extLst>
      <p:ext uri="{BB962C8B-B14F-4D97-AF65-F5344CB8AC3E}">
        <p14:creationId xmlns:p14="http://schemas.microsoft.com/office/powerpoint/2010/main" val="2297023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buNone/>
            </a:pPr>
            <a:r>
              <a:rPr lang="en-US" sz="1500" b="1" kern="0" spc="200" dirty="0">
                <a:solidFill>
                  <a:srgbClr val="0E6E8C"/>
                </a:solidFill>
                <a:latin typeface="Calibri" pitchFamily="34" charset="0"/>
                <a:ea typeface="Calibri" pitchFamily="34" charset="-122"/>
                <a:cs typeface="Calibri" pitchFamily="34" charset="-120"/>
              </a:rPr>
              <a:t>THE INTEGRATION REALITY</a:t>
            </a:r>
            <a:endParaRPr lang="en-US" sz="1500" dirty="0"/>
          </a:p>
        </p:txBody>
      </p:sp>
      <p:sp>
        <p:nvSpPr>
          <p:cNvPr id="3" name="Text 1"/>
          <p:cNvSpPr/>
          <p:nvPr/>
        </p:nvSpPr>
        <p:spPr>
          <a:xfrm>
            <a:off x="502920" y="612648"/>
            <a:ext cx="11155680" cy="868680"/>
          </a:xfrm>
          <a:prstGeom prst="rect">
            <a:avLst/>
          </a:prstGeom>
          <a:noFill/>
          <a:ln/>
        </p:spPr>
        <p:txBody>
          <a:bodyPr wrap="square" lIns="0" tIns="0" rIns="0" bIns="0" rtlCol="0" anchor="t"/>
          <a:lstStyle/>
          <a:p>
            <a:pPr marL="0" indent="0">
              <a:lnSpc>
                <a:spcPct val="102000"/>
              </a:lnSpc>
              <a:buNone/>
            </a:pPr>
            <a:r>
              <a:rPr lang="en-US" sz="3125" b="1" dirty="0">
                <a:solidFill>
                  <a:srgbClr val="1B2A4A"/>
                </a:solidFill>
                <a:latin typeface="Cambria" pitchFamily="34" charset="0"/>
                <a:ea typeface="Cambria" pitchFamily="34" charset="-122"/>
                <a:cs typeface="Cambria" pitchFamily="34" charset="-120"/>
              </a:rPr>
              <a:t>Every point-to-point integration is a future audit blind spot</a:t>
            </a:r>
            <a:endParaRPr lang="en-US" sz="3125" dirty="0"/>
          </a:p>
        </p:txBody>
      </p:sp>
      <p:sp>
        <p:nvSpPr>
          <p:cNvPr id="4" name="Text 2"/>
          <p:cNvSpPr/>
          <p:nvPr/>
        </p:nvSpPr>
        <p:spPr>
          <a:xfrm>
            <a:off x="777240" y="1554480"/>
            <a:ext cx="5120640" cy="274320"/>
          </a:xfrm>
          <a:prstGeom prst="rect">
            <a:avLst/>
          </a:prstGeom>
          <a:noFill/>
          <a:ln/>
        </p:spPr>
        <p:txBody>
          <a:bodyPr wrap="square" lIns="0" tIns="0" rIns="0" bIns="0" rtlCol="0" anchor="ctr"/>
          <a:lstStyle/>
          <a:p>
            <a:pPr marL="0" indent="0" algn="ctr">
              <a:buNone/>
            </a:pPr>
            <a:r>
              <a:rPr lang="en-US" b="1" dirty="0">
                <a:solidFill>
                  <a:srgbClr val="B3401F"/>
                </a:solidFill>
                <a:latin typeface="Calibri" pitchFamily="34" charset="0"/>
                <a:ea typeface="Calibri" pitchFamily="34" charset="-122"/>
                <a:cs typeface="Calibri" pitchFamily="34" charset="-120"/>
              </a:rPr>
              <a:t>TODAY - POINT-TO-POINT</a:t>
            </a:r>
            <a:endParaRPr lang="en-US" dirty="0"/>
          </a:p>
        </p:txBody>
      </p:sp>
      <p:sp>
        <p:nvSpPr>
          <p:cNvPr id="5" name="Shape 3"/>
          <p:cNvSpPr/>
          <p:nvPr/>
        </p:nvSpPr>
        <p:spPr>
          <a:xfrm>
            <a:off x="3337560" y="2743200"/>
            <a:ext cx="752299" cy="434340"/>
          </a:xfrm>
          <a:prstGeom prst="line">
            <a:avLst/>
          </a:prstGeom>
          <a:noFill/>
          <a:ln w="6350">
            <a:solidFill>
              <a:srgbClr val="B3401F">
                <a:alpha val="55000"/>
              </a:srgbClr>
            </a:solidFill>
            <a:prstDash val="solid"/>
          </a:ln>
        </p:spPr>
        <p:txBody>
          <a:bodyPr/>
          <a:lstStyle/>
          <a:p>
            <a:endParaRPr lang="en-US"/>
          </a:p>
        </p:txBody>
      </p:sp>
      <p:sp>
        <p:nvSpPr>
          <p:cNvPr id="6" name="Shape 4"/>
          <p:cNvSpPr/>
          <p:nvPr/>
        </p:nvSpPr>
        <p:spPr>
          <a:xfrm>
            <a:off x="3337560" y="2743200"/>
            <a:ext cx="752299" cy="1303020"/>
          </a:xfrm>
          <a:prstGeom prst="line">
            <a:avLst/>
          </a:prstGeom>
          <a:noFill/>
          <a:ln w="6350">
            <a:solidFill>
              <a:srgbClr val="B3401F">
                <a:alpha val="55000"/>
              </a:srgbClr>
            </a:solidFill>
            <a:prstDash val="solid"/>
          </a:ln>
        </p:spPr>
        <p:txBody>
          <a:bodyPr/>
          <a:lstStyle/>
          <a:p>
            <a:endParaRPr lang="en-US"/>
          </a:p>
        </p:txBody>
      </p:sp>
      <p:sp>
        <p:nvSpPr>
          <p:cNvPr id="7" name="Shape 5"/>
          <p:cNvSpPr/>
          <p:nvPr/>
        </p:nvSpPr>
        <p:spPr>
          <a:xfrm>
            <a:off x="3337560" y="2743200"/>
            <a:ext cx="9144" cy="1737360"/>
          </a:xfrm>
          <a:prstGeom prst="line">
            <a:avLst/>
          </a:prstGeom>
          <a:noFill/>
          <a:ln w="6350">
            <a:solidFill>
              <a:srgbClr val="B3401F">
                <a:alpha val="55000"/>
              </a:srgbClr>
            </a:solidFill>
            <a:prstDash val="solid"/>
          </a:ln>
        </p:spPr>
        <p:txBody>
          <a:bodyPr/>
          <a:lstStyle/>
          <a:p>
            <a:endParaRPr lang="en-US"/>
          </a:p>
        </p:txBody>
      </p:sp>
      <p:sp>
        <p:nvSpPr>
          <p:cNvPr id="8" name="Shape 6"/>
          <p:cNvSpPr/>
          <p:nvPr/>
        </p:nvSpPr>
        <p:spPr>
          <a:xfrm flipH="1">
            <a:off x="2585261" y="2743200"/>
            <a:ext cx="752299" cy="1303020"/>
          </a:xfrm>
          <a:prstGeom prst="line">
            <a:avLst/>
          </a:prstGeom>
          <a:noFill/>
          <a:ln w="6350">
            <a:solidFill>
              <a:srgbClr val="B3401F">
                <a:alpha val="55000"/>
              </a:srgbClr>
            </a:solidFill>
            <a:prstDash val="solid"/>
          </a:ln>
        </p:spPr>
        <p:txBody>
          <a:bodyPr/>
          <a:lstStyle/>
          <a:p>
            <a:endParaRPr lang="en-US"/>
          </a:p>
        </p:txBody>
      </p:sp>
      <p:sp>
        <p:nvSpPr>
          <p:cNvPr id="9" name="Shape 7"/>
          <p:cNvSpPr/>
          <p:nvPr/>
        </p:nvSpPr>
        <p:spPr>
          <a:xfrm flipH="1">
            <a:off x="2585261" y="2743200"/>
            <a:ext cx="752299" cy="434340"/>
          </a:xfrm>
          <a:prstGeom prst="line">
            <a:avLst/>
          </a:prstGeom>
          <a:noFill/>
          <a:ln w="6350">
            <a:solidFill>
              <a:srgbClr val="B3401F">
                <a:alpha val="55000"/>
              </a:srgbClr>
            </a:solidFill>
            <a:prstDash val="solid"/>
          </a:ln>
        </p:spPr>
        <p:txBody>
          <a:bodyPr/>
          <a:lstStyle/>
          <a:p>
            <a:endParaRPr lang="en-US"/>
          </a:p>
        </p:txBody>
      </p:sp>
      <p:sp>
        <p:nvSpPr>
          <p:cNvPr id="10" name="Shape 8"/>
          <p:cNvSpPr/>
          <p:nvPr/>
        </p:nvSpPr>
        <p:spPr>
          <a:xfrm>
            <a:off x="4089859" y="3177540"/>
            <a:ext cx="9144" cy="868680"/>
          </a:xfrm>
          <a:prstGeom prst="line">
            <a:avLst/>
          </a:prstGeom>
          <a:noFill/>
          <a:ln w="6350">
            <a:solidFill>
              <a:srgbClr val="B3401F">
                <a:alpha val="55000"/>
              </a:srgbClr>
            </a:solidFill>
            <a:prstDash val="solid"/>
          </a:ln>
        </p:spPr>
        <p:txBody>
          <a:bodyPr/>
          <a:lstStyle/>
          <a:p>
            <a:endParaRPr lang="en-US"/>
          </a:p>
        </p:txBody>
      </p:sp>
      <p:sp>
        <p:nvSpPr>
          <p:cNvPr id="11" name="Shape 9"/>
          <p:cNvSpPr/>
          <p:nvPr/>
        </p:nvSpPr>
        <p:spPr>
          <a:xfrm flipH="1">
            <a:off x="3337560" y="3177540"/>
            <a:ext cx="752299" cy="1303020"/>
          </a:xfrm>
          <a:prstGeom prst="line">
            <a:avLst/>
          </a:prstGeom>
          <a:noFill/>
          <a:ln w="6350">
            <a:solidFill>
              <a:srgbClr val="B3401F">
                <a:alpha val="55000"/>
              </a:srgbClr>
            </a:solidFill>
            <a:prstDash val="solid"/>
          </a:ln>
        </p:spPr>
        <p:txBody>
          <a:bodyPr/>
          <a:lstStyle/>
          <a:p>
            <a:endParaRPr lang="en-US"/>
          </a:p>
        </p:txBody>
      </p:sp>
      <p:sp>
        <p:nvSpPr>
          <p:cNvPr id="12" name="Shape 10"/>
          <p:cNvSpPr/>
          <p:nvPr/>
        </p:nvSpPr>
        <p:spPr>
          <a:xfrm flipH="1">
            <a:off x="2585261" y="3177540"/>
            <a:ext cx="1504598" cy="868680"/>
          </a:xfrm>
          <a:prstGeom prst="line">
            <a:avLst/>
          </a:prstGeom>
          <a:noFill/>
          <a:ln w="6350">
            <a:solidFill>
              <a:srgbClr val="B3401F">
                <a:alpha val="55000"/>
              </a:srgbClr>
            </a:solidFill>
            <a:prstDash val="solid"/>
          </a:ln>
        </p:spPr>
        <p:txBody>
          <a:bodyPr/>
          <a:lstStyle/>
          <a:p>
            <a:endParaRPr lang="en-US"/>
          </a:p>
        </p:txBody>
      </p:sp>
      <p:sp>
        <p:nvSpPr>
          <p:cNvPr id="13" name="Shape 11"/>
          <p:cNvSpPr/>
          <p:nvPr/>
        </p:nvSpPr>
        <p:spPr>
          <a:xfrm flipH="1">
            <a:off x="2585261" y="3177540"/>
            <a:ext cx="1504598" cy="9144"/>
          </a:xfrm>
          <a:prstGeom prst="line">
            <a:avLst/>
          </a:prstGeom>
          <a:noFill/>
          <a:ln w="6350">
            <a:solidFill>
              <a:srgbClr val="B3401F">
                <a:alpha val="55000"/>
              </a:srgbClr>
            </a:solidFill>
            <a:prstDash val="solid"/>
          </a:ln>
        </p:spPr>
        <p:txBody>
          <a:bodyPr/>
          <a:lstStyle/>
          <a:p>
            <a:endParaRPr lang="en-US"/>
          </a:p>
        </p:txBody>
      </p:sp>
      <p:sp>
        <p:nvSpPr>
          <p:cNvPr id="14" name="Shape 12"/>
          <p:cNvSpPr/>
          <p:nvPr/>
        </p:nvSpPr>
        <p:spPr>
          <a:xfrm flipH="1">
            <a:off x="3337560" y="4046220"/>
            <a:ext cx="752299" cy="434340"/>
          </a:xfrm>
          <a:prstGeom prst="line">
            <a:avLst/>
          </a:prstGeom>
          <a:noFill/>
          <a:ln w="6350">
            <a:solidFill>
              <a:srgbClr val="B3401F">
                <a:alpha val="55000"/>
              </a:srgbClr>
            </a:solidFill>
            <a:prstDash val="solid"/>
          </a:ln>
        </p:spPr>
        <p:txBody>
          <a:bodyPr/>
          <a:lstStyle/>
          <a:p>
            <a:endParaRPr lang="en-US"/>
          </a:p>
        </p:txBody>
      </p:sp>
      <p:sp>
        <p:nvSpPr>
          <p:cNvPr id="15" name="Shape 13"/>
          <p:cNvSpPr/>
          <p:nvPr/>
        </p:nvSpPr>
        <p:spPr>
          <a:xfrm flipH="1">
            <a:off x="2585261" y="4046220"/>
            <a:ext cx="1504598" cy="9144"/>
          </a:xfrm>
          <a:prstGeom prst="line">
            <a:avLst/>
          </a:prstGeom>
          <a:noFill/>
          <a:ln w="6350">
            <a:solidFill>
              <a:srgbClr val="B3401F">
                <a:alpha val="55000"/>
              </a:srgbClr>
            </a:solidFill>
            <a:prstDash val="solid"/>
          </a:ln>
        </p:spPr>
        <p:txBody>
          <a:bodyPr/>
          <a:lstStyle/>
          <a:p>
            <a:endParaRPr lang="en-US"/>
          </a:p>
        </p:txBody>
      </p:sp>
      <p:sp>
        <p:nvSpPr>
          <p:cNvPr id="16" name="Shape 14"/>
          <p:cNvSpPr/>
          <p:nvPr/>
        </p:nvSpPr>
        <p:spPr>
          <a:xfrm flipH="1" flipV="1">
            <a:off x="2585261" y="3177540"/>
            <a:ext cx="1504598" cy="868680"/>
          </a:xfrm>
          <a:prstGeom prst="line">
            <a:avLst/>
          </a:prstGeom>
          <a:noFill/>
          <a:ln w="6350">
            <a:solidFill>
              <a:srgbClr val="B3401F">
                <a:alpha val="55000"/>
              </a:srgbClr>
            </a:solidFill>
            <a:prstDash val="solid"/>
          </a:ln>
        </p:spPr>
        <p:txBody>
          <a:bodyPr/>
          <a:lstStyle/>
          <a:p>
            <a:endParaRPr lang="en-US"/>
          </a:p>
        </p:txBody>
      </p:sp>
      <p:sp>
        <p:nvSpPr>
          <p:cNvPr id="17" name="Shape 15"/>
          <p:cNvSpPr/>
          <p:nvPr/>
        </p:nvSpPr>
        <p:spPr>
          <a:xfrm flipH="1" flipV="1">
            <a:off x="2585261" y="4046220"/>
            <a:ext cx="752299" cy="434340"/>
          </a:xfrm>
          <a:prstGeom prst="line">
            <a:avLst/>
          </a:prstGeom>
          <a:noFill/>
          <a:ln w="6350">
            <a:solidFill>
              <a:srgbClr val="B3401F">
                <a:alpha val="55000"/>
              </a:srgbClr>
            </a:solidFill>
            <a:prstDash val="solid"/>
          </a:ln>
        </p:spPr>
        <p:txBody>
          <a:bodyPr/>
          <a:lstStyle/>
          <a:p>
            <a:endParaRPr lang="en-US"/>
          </a:p>
        </p:txBody>
      </p:sp>
      <p:sp>
        <p:nvSpPr>
          <p:cNvPr id="18" name="Shape 16"/>
          <p:cNvSpPr/>
          <p:nvPr/>
        </p:nvSpPr>
        <p:spPr>
          <a:xfrm flipH="1" flipV="1">
            <a:off x="2585261" y="3177540"/>
            <a:ext cx="752299" cy="1303020"/>
          </a:xfrm>
          <a:prstGeom prst="line">
            <a:avLst/>
          </a:prstGeom>
          <a:noFill/>
          <a:ln w="6350">
            <a:solidFill>
              <a:srgbClr val="B3401F">
                <a:alpha val="55000"/>
              </a:srgbClr>
            </a:solidFill>
            <a:prstDash val="solid"/>
          </a:ln>
        </p:spPr>
        <p:txBody>
          <a:bodyPr/>
          <a:lstStyle/>
          <a:p>
            <a:endParaRPr lang="en-US"/>
          </a:p>
        </p:txBody>
      </p:sp>
      <p:sp>
        <p:nvSpPr>
          <p:cNvPr id="19" name="Shape 17"/>
          <p:cNvSpPr/>
          <p:nvPr/>
        </p:nvSpPr>
        <p:spPr>
          <a:xfrm flipV="1">
            <a:off x="2585261" y="3177540"/>
            <a:ext cx="9144" cy="868680"/>
          </a:xfrm>
          <a:prstGeom prst="line">
            <a:avLst/>
          </a:prstGeom>
          <a:noFill/>
          <a:ln w="6350">
            <a:solidFill>
              <a:srgbClr val="B3401F">
                <a:alpha val="55000"/>
              </a:srgbClr>
            </a:solidFill>
            <a:prstDash val="solid"/>
          </a:ln>
        </p:spPr>
        <p:txBody>
          <a:bodyPr/>
          <a:lstStyle/>
          <a:p>
            <a:endParaRPr lang="en-US"/>
          </a:p>
        </p:txBody>
      </p:sp>
      <p:sp>
        <p:nvSpPr>
          <p:cNvPr id="20" name="Shape 18"/>
          <p:cNvSpPr/>
          <p:nvPr/>
        </p:nvSpPr>
        <p:spPr>
          <a:xfrm>
            <a:off x="3081528" y="2487168"/>
            <a:ext cx="512064" cy="512064"/>
          </a:xfrm>
          <a:prstGeom prst="ellipse">
            <a:avLst/>
          </a:prstGeom>
          <a:solidFill>
            <a:srgbClr val="F7F8FA"/>
          </a:solidFill>
          <a:ln w="12700">
            <a:solidFill>
              <a:srgbClr val="6B7280"/>
            </a:solidFill>
            <a:prstDash val="solid"/>
          </a:ln>
        </p:spPr>
        <p:txBody>
          <a:bodyPr/>
          <a:lstStyle/>
          <a:p>
            <a:endParaRPr lang="en-US"/>
          </a:p>
        </p:txBody>
      </p:sp>
      <p:sp>
        <p:nvSpPr>
          <p:cNvPr id="21" name="Text 19"/>
          <p:cNvSpPr/>
          <p:nvPr/>
        </p:nvSpPr>
        <p:spPr>
          <a:xfrm>
            <a:off x="2834640" y="1993392"/>
            <a:ext cx="1005840" cy="365760"/>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Core</a:t>
            </a:r>
            <a:endParaRPr lang="en-US" sz="1400" dirty="0"/>
          </a:p>
          <a:p>
            <a:pPr marL="0" indent="0" algn="ctr">
              <a:buNone/>
            </a:pPr>
            <a:r>
              <a:rPr lang="en-US" sz="1400" b="1" dirty="0">
                <a:solidFill>
                  <a:srgbClr val="1B2A4A"/>
                </a:solidFill>
                <a:latin typeface="Calibri" pitchFamily="34" charset="0"/>
                <a:ea typeface="Calibri" pitchFamily="34" charset="-122"/>
                <a:cs typeface="Calibri" pitchFamily="34" charset="-120"/>
              </a:rPr>
              <a:t>Banking</a:t>
            </a:r>
            <a:endParaRPr lang="en-US" sz="1400" dirty="0"/>
          </a:p>
        </p:txBody>
      </p:sp>
      <p:sp>
        <p:nvSpPr>
          <p:cNvPr id="22" name="Shape 20"/>
          <p:cNvSpPr/>
          <p:nvPr/>
        </p:nvSpPr>
        <p:spPr>
          <a:xfrm>
            <a:off x="3833827" y="2921508"/>
            <a:ext cx="512064" cy="512064"/>
          </a:xfrm>
          <a:prstGeom prst="ellipse">
            <a:avLst/>
          </a:prstGeom>
          <a:solidFill>
            <a:srgbClr val="F7F8FA"/>
          </a:solidFill>
          <a:ln w="12700">
            <a:solidFill>
              <a:srgbClr val="6B7280"/>
            </a:solidFill>
            <a:prstDash val="solid"/>
          </a:ln>
        </p:spPr>
        <p:txBody>
          <a:bodyPr/>
          <a:lstStyle/>
          <a:p>
            <a:endParaRPr lang="en-US"/>
          </a:p>
        </p:txBody>
      </p:sp>
      <p:sp>
        <p:nvSpPr>
          <p:cNvPr id="23" name="Text 21"/>
          <p:cNvSpPr/>
          <p:nvPr/>
        </p:nvSpPr>
        <p:spPr>
          <a:xfrm>
            <a:off x="4164681" y="2711196"/>
            <a:ext cx="1005840" cy="365760"/>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Payments</a:t>
            </a:r>
            <a:endParaRPr lang="en-US" sz="1400" dirty="0"/>
          </a:p>
        </p:txBody>
      </p:sp>
      <p:sp>
        <p:nvSpPr>
          <p:cNvPr id="24" name="Shape 22"/>
          <p:cNvSpPr/>
          <p:nvPr/>
        </p:nvSpPr>
        <p:spPr>
          <a:xfrm>
            <a:off x="3833827" y="3790188"/>
            <a:ext cx="512064" cy="512064"/>
          </a:xfrm>
          <a:prstGeom prst="ellipse">
            <a:avLst/>
          </a:prstGeom>
          <a:solidFill>
            <a:srgbClr val="F7F8FA"/>
          </a:solidFill>
          <a:ln w="12700">
            <a:solidFill>
              <a:srgbClr val="6B7280"/>
            </a:solidFill>
            <a:prstDash val="solid"/>
          </a:ln>
        </p:spPr>
        <p:txBody>
          <a:bodyPr/>
          <a:lstStyle/>
          <a:p>
            <a:endParaRPr lang="en-US"/>
          </a:p>
        </p:txBody>
      </p:sp>
      <p:sp>
        <p:nvSpPr>
          <p:cNvPr id="25" name="Text 23"/>
          <p:cNvSpPr/>
          <p:nvPr/>
        </p:nvSpPr>
        <p:spPr>
          <a:xfrm>
            <a:off x="4077913" y="4146804"/>
            <a:ext cx="1005840" cy="365760"/>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CRM</a:t>
            </a:r>
            <a:endParaRPr lang="en-US" sz="1400" dirty="0"/>
          </a:p>
        </p:txBody>
      </p:sp>
      <p:sp>
        <p:nvSpPr>
          <p:cNvPr id="26" name="Shape 24"/>
          <p:cNvSpPr/>
          <p:nvPr/>
        </p:nvSpPr>
        <p:spPr>
          <a:xfrm>
            <a:off x="3081528" y="4224528"/>
            <a:ext cx="512064" cy="512064"/>
          </a:xfrm>
          <a:prstGeom prst="ellipse">
            <a:avLst/>
          </a:prstGeom>
          <a:solidFill>
            <a:srgbClr val="F7F8FA"/>
          </a:solidFill>
          <a:ln w="12700">
            <a:solidFill>
              <a:srgbClr val="6B7280"/>
            </a:solidFill>
            <a:prstDash val="solid"/>
          </a:ln>
        </p:spPr>
        <p:txBody>
          <a:bodyPr/>
          <a:lstStyle/>
          <a:p>
            <a:endParaRPr lang="en-US"/>
          </a:p>
        </p:txBody>
      </p:sp>
      <p:sp>
        <p:nvSpPr>
          <p:cNvPr id="27" name="Text 25"/>
          <p:cNvSpPr/>
          <p:nvPr/>
        </p:nvSpPr>
        <p:spPr>
          <a:xfrm>
            <a:off x="2834640" y="4864608"/>
            <a:ext cx="1005840" cy="365760"/>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Claims</a:t>
            </a:r>
            <a:endParaRPr lang="en-US" sz="1400" dirty="0"/>
          </a:p>
        </p:txBody>
      </p:sp>
      <p:sp>
        <p:nvSpPr>
          <p:cNvPr id="28" name="Shape 26"/>
          <p:cNvSpPr/>
          <p:nvPr/>
        </p:nvSpPr>
        <p:spPr>
          <a:xfrm>
            <a:off x="2329229" y="3790188"/>
            <a:ext cx="512064" cy="512064"/>
          </a:xfrm>
          <a:prstGeom prst="ellipse">
            <a:avLst/>
          </a:prstGeom>
          <a:solidFill>
            <a:srgbClr val="F7F8FA"/>
          </a:solidFill>
          <a:ln w="12700">
            <a:solidFill>
              <a:srgbClr val="6B7280"/>
            </a:solidFill>
            <a:prstDash val="solid"/>
          </a:ln>
        </p:spPr>
        <p:txBody>
          <a:bodyPr/>
          <a:lstStyle/>
          <a:p>
            <a:endParaRPr lang="en-US"/>
          </a:p>
        </p:txBody>
      </p:sp>
      <p:sp>
        <p:nvSpPr>
          <p:cNvPr id="29" name="Text 27"/>
          <p:cNvSpPr/>
          <p:nvPr/>
        </p:nvSpPr>
        <p:spPr>
          <a:xfrm>
            <a:off x="1591367" y="4146804"/>
            <a:ext cx="1005840" cy="365760"/>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Risk</a:t>
            </a:r>
            <a:endParaRPr lang="en-US" sz="1400" dirty="0"/>
          </a:p>
          <a:p>
            <a:pPr marL="0" indent="0" algn="ctr">
              <a:buNone/>
            </a:pPr>
            <a:r>
              <a:rPr lang="en-US" sz="1400" b="1" dirty="0">
                <a:solidFill>
                  <a:srgbClr val="1B2A4A"/>
                </a:solidFill>
                <a:latin typeface="Calibri" pitchFamily="34" charset="0"/>
                <a:ea typeface="Calibri" pitchFamily="34" charset="-122"/>
                <a:cs typeface="Calibri" pitchFamily="34" charset="-120"/>
              </a:rPr>
              <a:t>Engine</a:t>
            </a:r>
            <a:endParaRPr lang="en-US" sz="1400" dirty="0"/>
          </a:p>
        </p:txBody>
      </p:sp>
      <p:sp>
        <p:nvSpPr>
          <p:cNvPr id="30" name="Shape 28"/>
          <p:cNvSpPr/>
          <p:nvPr/>
        </p:nvSpPr>
        <p:spPr>
          <a:xfrm>
            <a:off x="2329229" y="2921508"/>
            <a:ext cx="512064" cy="512064"/>
          </a:xfrm>
          <a:prstGeom prst="ellipse">
            <a:avLst/>
          </a:prstGeom>
          <a:solidFill>
            <a:srgbClr val="F7F8FA"/>
          </a:solidFill>
          <a:ln w="12700">
            <a:solidFill>
              <a:srgbClr val="6B7280"/>
            </a:solidFill>
            <a:prstDash val="solid"/>
          </a:ln>
        </p:spPr>
        <p:txBody>
          <a:bodyPr/>
          <a:lstStyle/>
          <a:p>
            <a:endParaRPr lang="en-US"/>
          </a:p>
        </p:txBody>
      </p:sp>
      <p:sp>
        <p:nvSpPr>
          <p:cNvPr id="31" name="Text 29"/>
          <p:cNvSpPr/>
          <p:nvPr/>
        </p:nvSpPr>
        <p:spPr>
          <a:xfrm>
            <a:off x="1460549" y="2722223"/>
            <a:ext cx="1005840" cy="365760"/>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Compliance</a:t>
            </a:r>
            <a:endParaRPr lang="en-US" sz="1400" dirty="0"/>
          </a:p>
        </p:txBody>
      </p:sp>
      <p:sp>
        <p:nvSpPr>
          <p:cNvPr id="32" name="Text 30"/>
          <p:cNvSpPr/>
          <p:nvPr/>
        </p:nvSpPr>
        <p:spPr>
          <a:xfrm>
            <a:off x="2423160" y="5257800"/>
            <a:ext cx="1828800" cy="457200"/>
          </a:xfrm>
          <a:prstGeom prst="rect">
            <a:avLst/>
          </a:prstGeom>
          <a:noFill/>
          <a:ln/>
        </p:spPr>
        <p:txBody>
          <a:bodyPr wrap="square" lIns="0" tIns="0" rIns="0" bIns="0" rtlCol="0" anchor="ctr"/>
          <a:lstStyle/>
          <a:p>
            <a:pPr marL="0" indent="0" algn="ctr">
              <a:buNone/>
            </a:pPr>
            <a:r>
              <a:rPr lang="en-US" sz="3500" b="1" dirty="0">
                <a:solidFill>
                  <a:srgbClr val="B3401F"/>
                </a:solidFill>
                <a:latin typeface="Cambria" pitchFamily="34" charset="0"/>
                <a:ea typeface="Cambria" pitchFamily="34" charset="-122"/>
                <a:cs typeface="Cambria" pitchFamily="34" charset="-120"/>
              </a:rPr>
              <a:t>15</a:t>
            </a:r>
            <a:endParaRPr lang="en-US" sz="3500" dirty="0"/>
          </a:p>
        </p:txBody>
      </p:sp>
      <p:sp>
        <p:nvSpPr>
          <p:cNvPr id="33" name="Text 31"/>
          <p:cNvSpPr/>
          <p:nvPr/>
        </p:nvSpPr>
        <p:spPr>
          <a:xfrm>
            <a:off x="1234440" y="5724144"/>
            <a:ext cx="4206240" cy="365760"/>
          </a:xfrm>
          <a:prstGeom prst="rect">
            <a:avLst/>
          </a:prstGeom>
          <a:noFill/>
          <a:ln/>
        </p:spPr>
        <p:txBody>
          <a:bodyPr wrap="square" lIns="0" tIns="0" rIns="0" bIns="0" rtlCol="0" anchor="ctr"/>
          <a:lstStyle/>
          <a:p>
            <a:pPr marL="0" indent="0" algn="ctr">
              <a:buNone/>
            </a:pPr>
            <a:r>
              <a:rPr lang="en-US" sz="1400" i="1" dirty="0">
                <a:solidFill>
                  <a:srgbClr val="6B7280"/>
                </a:solidFill>
                <a:latin typeface="Calibri" pitchFamily="34" charset="0"/>
                <a:ea typeface="Calibri" pitchFamily="34" charset="-122"/>
                <a:cs typeface="Calibri" pitchFamily="34" charset="-120"/>
              </a:rPr>
              <a:t>uncoordinated point-to-point links from just 6 systems - each with its own auth, mapping, and error handling</a:t>
            </a:r>
            <a:endParaRPr lang="en-US" sz="1400" dirty="0"/>
          </a:p>
        </p:txBody>
      </p:sp>
      <p:sp>
        <p:nvSpPr>
          <p:cNvPr id="34" name="Shape 32"/>
          <p:cNvSpPr/>
          <p:nvPr/>
        </p:nvSpPr>
        <p:spPr>
          <a:xfrm>
            <a:off x="6263640" y="1600200"/>
            <a:ext cx="0" cy="4434840"/>
          </a:xfrm>
          <a:prstGeom prst="line">
            <a:avLst/>
          </a:prstGeom>
          <a:noFill/>
          <a:ln w="9525">
            <a:solidFill>
              <a:srgbClr val="C9CDD6"/>
            </a:solidFill>
            <a:prstDash val="solid"/>
          </a:ln>
        </p:spPr>
        <p:txBody>
          <a:bodyPr/>
          <a:lstStyle/>
          <a:p>
            <a:endParaRPr lang="en-US"/>
          </a:p>
        </p:txBody>
      </p:sp>
      <p:sp>
        <p:nvSpPr>
          <p:cNvPr id="35" name="Text 33"/>
          <p:cNvSpPr/>
          <p:nvPr/>
        </p:nvSpPr>
        <p:spPr>
          <a:xfrm>
            <a:off x="6537960" y="1554480"/>
            <a:ext cx="5120640" cy="274320"/>
          </a:xfrm>
          <a:prstGeom prst="rect">
            <a:avLst/>
          </a:prstGeom>
          <a:noFill/>
          <a:ln/>
        </p:spPr>
        <p:txBody>
          <a:bodyPr wrap="square" lIns="0" tIns="0" rIns="0" bIns="0" rtlCol="0" anchor="ctr"/>
          <a:lstStyle/>
          <a:p>
            <a:pPr marL="0" indent="0" algn="ctr">
              <a:buNone/>
            </a:pPr>
            <a:r>
              <a:rPr lang="en-US" b="1" dirty="0">
                <a:solidFill>
                  <a:srgbClr val="0E6E8C"/>
                </a:solidFill>
                <a:latin typeface="Calibri" pitchFamily="34" charset="0"/>
                <a:ea typeface="Calibri" pitchFamily="34" charset="-122"/>
                <a:cs typeface="Calibri" pitchFamily="34" charset="-120"/>
              </a:rPr>
              <a:t>A GOVERNED ALTERNATIVE - AGENT-MEDIATED</a:t>
            </a:r>
            <a:endParaRPr lang="en-US" dirty="0"/>
          </a:p>
        </p:txBody>
      </p:sp>
      <p:sp>
        <p:nvSpPr>
          <p:cNvPr id="36" name="Shape 34"/>
          <p:cNvSpPr/>
          <p:nvPr/>
        </p:nvSpPr>
        <p:spPr>
          <a:xfrm>
            <a:off x="8714232" y="3227832"/>
            <a:ext cx="768096" cy="768096"/>
          </a:xfrm>
          <a:prstGeom prst="ellipse">
            <a:avLst/>
          </a:prstGeom>
          <a:solidFill>
            <a:srgbClr val="1B2A4A"/>
          </a:solidFill>
          <a:ln/>
        </p:spPr>
        <p:txBody>
          <a:bodyPr/>
          <a:lstStyle/>
          <a:p>
            <a:endParaRPr lang="en-US"/>
          </a:p>
        </p:txBody>
      </p:sp>
      <p:sp>
        <p:nvSpPr>
          <p:cNvPr id="38" name="Shape 36"/>
          <p:cNvSpPr/>
          <p:nvPr/>
        </p:nvSpPr>
        <p:spPr>
          <a:xfrm flipV="1">
            <a:off x="9098280" y="2743200"/>
            <a:ext cx="9144" cy="868680"/>
          </a:xfrm>
          <a:prstGeom prst="line">
            <a:avLst/>
          </a:prstGeom>
          <a:noFill/>
          <a:ln w="19050">
            <a:solidFill>
              <a:srgbClr val="0E6E8C"/>
            </a:solidFill>
            <a:prstDash val="solid"/>
          </a:ln>
        </p:spPr>
        <p:txBody>
          <a:bodyPr/>
          <a:lstStyle/>
          <a:p>
            <a:endParaRPr lang="en-US"/>
          </a:p>
        </p:txBody>
      </p:sp>
      <p:sp>
        <p:nvSpPr>
          <p:cNvPr id="39" name="Shape 37"/>
          <p:cNvSpPr/>
          <p:nvPr/>
        </p:nvSpPr>
        <p:spPr>
          <a:xfrm flipV="1">
            <a:off x="9098280" y="3177540"/>
            <a:ext cx="752299" cy="434340"/>
          </a:xfrm>
          <a:prstGeom prst="line">
            <a:avLst/>
          </a:prstGeom>
          <a:noFill/>
          <a:ln w="19050">
            <a:solidFill>
              <a:srgbClr val="0E6E8C"/>
            </a:solidFill>
            <a:prstDash val="solid"/>
          </a:ln>
        </p:spPr>
        <p:txBody>
          <a:bodyPr/>
          <a:lstStyle/>
          <a:p>
            <a:endParaRPr lang="en-US"/>
          </a:p>
        </p:txBody>
      </p:sp>
      <p:sp>
        <p:nvSpPr>
          <p:cNvPr id="40" name="Shape 38"/>
          <p:cNvSpPr/>
          <p:nvPr/>
        </p:nvSpPr>
        <p:spPr>
          <a:xfrm>
            <a:off x="9098280" y="3611880"/>
            <a:ext cx="752299" cy="434340"/>
          </a:xfrm>
          <a:prstGeom prst="line">
            <a:avLst/>
          </a:prstGeom>
          <a:noFill/>
          <a:ln w="19050">
            <a:solidFill>
              <a:srgbClr val="0E6E8C"/>
            </a:solidFill>
            <a:prstDash val="solid"/>
          </a:ln>
        </p:spPr>
        <p:txBody>
          <a:bodyPr/>
          <a:lstStyle/>
          <a:p>
            <a:endParaRPr lang="en-US"/>
          </a:p>
        </p:txBody>
      </p:sp>
      <p:sp>
        <p:nvSpPr>
          <p:cNvPr id="41" name="Shape 39"/>
          <p:cNvSpPr/>
          <p:nvPr/>
        </p:nvSpPr>
        <p:spPr>
          <a:xfrm>
            <a:off x="9098280" y="3611880"/>
            <a:ext cx="9144" cy="868680"/>
          </a:xfrm>
          <a:prstGeom prst="line">
            <a:avLst/>
          </a:prstGeom>
          <a:noFill/>
          <a:ln w="19050">
            <a:solidFill>
              <a:srgbClr val="0E6E8C"/>
            </a:solidFill>
            <a:prstDash val="solid"/>
          </a:ln>
        </p:spPr>
        <p:txBody>
          <a:bodyPr/>
          <a:lstStyle/>
          <a:p>
            <a:endParaRPr lang="en-US"/>
          </a:p>
        </p:txBody>
      </p:sp>
      <p:sp>
        <p:nvSpPr>
          <p:cNvPr id="42" name="Shape 40"/>
          <p:cNvSpPr/>
          <p:nvPr/>
        </p:nvSpPr>
        <p:spPr>
          <a:xfrm flipH="1">
            <a:off x="8345981" y="3611880"/>
            <a:ext cx="752299" cy="434340"/>
          </a:xfrm>
          <a:prstGeom prst="line">
            <a:avLst/>
          </a:prstGeom>
          <a:noFill/>
          <a:ln w="19050">
            <a:solidFill>
              <a:srgbClr val="0E6E8C"/>
            </a:solidFill>
            <a:prstDash val="solid"/>
          </a:ln>
        </p:spPr>
        <p:txBody>
          <a:bodyPr/>
          <a:lstStyle/>
          <a:p>
            <a:endParaRPr lang="en-US"/>
          </a:p>
        </p:txBody>
      </p:sp>
      <p:sp>
        <p:nvSpPr>
          <p:cNvPr id="43" name="Shape 41"/>
          <p:cNvSpPr/>
          <p:nvPr/>
        </p:nvSpPr>
        <p:spPr>
          <a:xfrm flipH="1" flipV="1">
            <a:off x="8345981" y="3177540"/>
            <a:ext cx="752299" cy="434340"/>
          </a:xfrm>
          <a:prstGeom prst="line">
            <a:avLst/>
          </a:prstGeom>
          <a:noFill/>
          <a:ln w="19050">
            <a:solidFill>
              <a:srgbClr val="0E6E8C"/>
            </a:solidFill>
            <a:prstDash val="solid"/>
          </a:ln>
        </p:spPr>
        <p:txBody>
          <a:bodyPr/>
          <a:lstStyle/>
          <a:p>
            <a:endParaRPr lang="en-US"/>
          </a:p>
        </p:txBody>
      </p:sp>
      <p:sp>
        <p:nvSpPr>
          <p:cNvPr id="44" name="Shape 42"/>
          <p:cNvSpPr/>
          <p:nvPr/>
        </p:nvSpPr>
        <p:spPr>
          <a:xfrm>
            <a:off x="8842248" y="2487168"/>
            <a:ext cx="512064" cy="512064"/>
          </a:xfrm>
          <a:prstGeom prst="ellipse">
            <a:avLst/>
          </a:prstGeom>
          <a:solidFill>
            <a:srgbClr val="D8ECF1"/>
          </a:solidFill>
          <a:ln w="12700">
            <a:solidFill>
              <a:srgbClr val="0E6E8C"/>
            </a:solidFill>
            <a:prstDash val="solid"/>
          </a:ln>
        </p:spPr>
        <p:txBody>
          <a:bodyPr/>
          <a:lstStyle/>
          <a:p>
            <a:endParaRPr lang="en-US"/>
          </a:p>
        </p:txBody>
      </p:sp>
      <p:sp>
        <p:nvSpPr>
          <p:cNvPr id="45" name="Text 43"/>
          <p:cNvSpPr/>
          <p:nvPr/>
        </p:nvSpPr>
        <p:spPr>
          <a:xfrm>
            <a:off x="8595360" y="1993392"/>
            <a:ext cx="1005840" cy="365760"/>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Core</a:t>
            </a:r>
            <a:endParaRPr lang="en-US" sz="1400" dirty="0"/>
          </a:p>
          <a:p>
            <a:pPr marL="0" indent="0" algn="ctr">
              <a:buNone/>
            </a:pPr>
            <a:r>
              <a:rPr lang="en-US" sz="1400" b="1" dirty="0">
                <a:solidFill>
                  <a:srgbClr val="1B2A4A"/>
                </a:solidFill>
                <a:latin typeface="Calibri" pitchFamily="34" charset="0"/>
                <a:ea typeface="Calibri" pitchFamily="34" charset="-122"/>
                <a:cs typeface="Calibri" pitchFamily="34" charset="-120"/>
              </a:rPr>
              <a:t>Banking</a:t>
            </a:r>
            <a:endParaRPr lang="en-US" sz="1400" dirty="0"/>
          </a:p>
        </p:txBody>
      </p:sp>
      <p:sp>
        <p:nvSpPr>
          <p:cNvPr id="46" name="Shape 44"/>
          <p:cNvSpPr/>
          <p:nvPr/>
        </p:nvSpPr>
        <p:spPr>
          <a:xfrm>
            <a:off x="9594547" y="2921508"/>
            <a:ext cx="512064" cy="512064"/>
          </a:xfrm>
          <a:prstGeom prst="ellipse">
            <a:avLst/>
          </a:prstGeom>
          <a:solidFill>
            <a:srgbClr val="D8ECF1"/>
          </a:solidFill>
          <a:ln w="12700">
            <a:solidFill>
              <a:srgbClr val="0E6E8C"/>
            </a:solidFill>
            <a:prstDash val="solid"/>
          </a:ln>
        </p:spPr>
        <p:txBody>
          <a:bodyPr/>
          <a:lstStyle/>
          <a:p>
            <a:endParaRPr lang="en-US"/>
          </a:p>
        </p:txBody>
      </p:sp>
      <p:sp>
        <p:nvSpPr>
          <p:cNvPr id="47" name="Text 45"/>
          <p:cNvSpPr/>
          <p:nvPr/>
        </p:nvSpPr>
        <p:spPr>
          <a:xfrm>
            <a:off x="9925401" y="2688874"/>
            <a:ext cx="1005840" cy="365760"/>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Payments</a:t>
            </a:r>
            <a:endParaRPr lang="en-US" sz="1400" dirty="0"/>
          </a:p>
        </p:txBody>
      </p:sp>
      <p:sp>
        <p:nvSpPr>
          <p:cNvPr id="48" name="Shape 46"/>
          <p:cNvSpPr/>
          <p:nvPr/>
        </p:nvSpPr>
        <p:spPr>
          <a:xfrm>
            <a:off x="9594547" y="3790188"/>
            <a:ext cx="512064" cy="512064"/>
          </a:xfrm>
          <a:prstGeom prst="ellipse">
            <a:avLst/>
          </a:prstGeom>
          <a:solidFill>
            <a:srgbClr val="D8ECF1"/>
          </a:solidFill>
          <a:ln w="12700">
            <a:solidFill>
              <a:srgbClr val="0E6E8C"/>
            </a:solidFill>
            <a:prstDash val="solid"/>
          </a:ln>
        </p:spPr>
        <p:txBody>
          <a:bodyPr/>
          <a:lstStyle/>
          <a:p>
            <a:endParaRPr lang="en-US"/>
          </a:p>
        </p:txBody>
      </p:sp>
      <p:sp>
        <p:nvSpPr>
          <p:cNvPr id="49" name="Text 47"/>
          <p:cNvSpPr/>
          <p:nvPr/>
        </p:nvSpPr>
        <p:spPr>
          <a:xfrm>
            <a:off x="9838633" y="4146804"/>
            <a:ext cx="1005840" cy="365760"/>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CRM</a:t>
            </a:r>
            <a:endParaRPr lang="en-US" sz="1400" dirty="0"/>
          </a:p>
        </p:txBody>
      </p:sp>
      <p:sp>
        <p:nvSpPr>
          <p:cNvPr id="50" name="Shape 48"/>
          <p:cNvSpPr/>
          <p:nvPr/>
        </p:nvSpPr>
        <p:spPr>
          <a:xfrm>
            <a:off x="8842248" y="4224528"/>
            <a:ext cx="512064" cy="512064"/>
          </a:xfrm>
          <a:prstGeom prst="ellipse">
            <a:avLst/>
          </a:prstGeom>
          <a:solidFill>
            <a:srgbClr val="D8ECF1"/>
          </a:solidFill>
          <a:ln w="12700">
            <a:solidFill>
              <a:srgbClr val="0E6E8C"/>
            </a:solidFill>
            <a:prstDash val="solid"/>
          </a:ln>
        </p:spPr>
        <p:txBody>
          <a:bodyPr/>
          <a:lstStyle/>
          <a:p>
            <a:endParaRPr lang="en-US"/>
          </a:p>
        </p:txBody>
      </p:sp>
      <p:sp>
        <p:nvSpPr>
          <p:cNvPr id="51" name="Text 49"/>
          <p:cNvSpPr/>
          <p:nvPr/>
        </p:nvSpPr>
        <p:spPr>
          <a:xfrm>
            <a:off x="8595360" y="4864608"/>
            <a:ext cx="1005840" cy="365760"/>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Claims</a:t>
            </a:r>
            <a:endParaRPr lang="en-US" sz="1400" dirty="0"/>
          </a:p>
        </p:txBody>
      </p:sp>
      <p:sp>
        <p:nvSpPr>
          <p:cNvPr id="52" name="Shape 50"/>
          <p:cNvSpPr/>
          <p:nvPr/>
        </p:nvSpPr>
        <p:spPr>
          <a:xfrm>
            <a:off x="8089949" y="3790188"/>
            <a:ext cx="512064" cy="512064"/>
          </a:xfrm>
          <a:prstGeom prst="ellipse">
            <a:avLst/>
          </a:prstGeom>
          <a:solidFill>
            <a:srgbClr val="D8ECF1"/>
          </a:solidFill>
          <a:ln w="12700">
            <a:solidFill>
              <a:srgbClr val="0E6E8C"/>
            </a:solidFill>
            <a:prstDash val="solid"/>
          </a:ln>
        </p:spPr>
        <p:txBody>
          <a:bodyPr/>
          <a:lstStyle/>
          <a:p>
            <a:endParaRPr lang="en-US"/>
          </a:p>
        </p:txBody>
      </p:sp>
      <p:sp>
        <p:nvSpPr>
          <p:cNvPr id="53" name="Text 51"/>
          <p:cNvSpPr/>
          <p:nvPr/>
        </p:nvSpPr>
        <p:spPr>
          <a:xfrm>
            <a:off x="7352087" y="4146804"/>
            <a:ext cx="1005840" cy="365760"/>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Risk</a:t>
            </a:r>
            <a:endParaRPr lang="en-US" sz="1400" dirty="0"/>
          </a:p>
          <a:p>
            <a:pPr marL="0" indent="0" algn="ctr">
              <a:buNone/>
            </a:pPr>
            <a:r>
              <a:rPr lang="en-US" sz="1400" b="1" dirty="0">
                <a:solidFill>
                  <a:srgbClr val="1B2A4A"/>
                </a:solidFill>
                <a:latin typeface="Calibri" pitchFamily="34" charset="0"/>
                <a:ea typeface="Calibri" pitchFamily="34" charset="-122"/>
                <a:cs typeface="Calibri" pitchFamily="34" charset="-120"/>
              </a:rPr>
              <a:t>Engine</a:t>
            </a:r>
            <a:endParaRPr lang="en-US" sz="1400" dirty="0"/>
          </a:p>
        </p:txBody>
      </p:sp>
      <p:sp>
        <p:nvSpPr>
          <p:cNvPr id="54" name="Shape 52"/>
          <p:cNvSpPr/>
          <p:nvPr/>
        </p:nvSpPr>
        <p:spPr>
          <a:xfrm>
            <a:off x="8089949" y="2921508"/>
            <a:ext cx="512064" cy="512064"/>
          </a:xfrm>
          <a:prstGeom prst="ellipse">
            <a:avLst/>
          </a:prstGeom>
          <a:solidFill>
            <a:srgbClr val="D8ECF1"/>
          </a:solidFill>
          <a:ln w="12700">
            <a:solidFill>
              <a:srgbClr val="0E6E8C"/>
            </a:solidFill>
            <a:prstDash val="solid"/>
          </a:ln>
        </p:spPr>
        <p:txBody>
          <a:bodyPr/>
          <a:lstStyle/>
          <a:p>
            <a:endParaRPr lang="en-US"/>
          </a:p>
        </p:txBody>
      </p:sp>
      <p:sp>
        <p:nvSpPr>
          <p:cNvPr id="55" name="Text 53"/>
          <p:cNvSpPr/>
          <p:nvPr/>
        </p:nvSpPr>
        <p:spPr>
          <a:xfrm>
            <a:off x="7205472" y="2711196"/>
            <a:ext cx="1005840" cy="365760"/>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Compliance</a:t>
            </a:r>
            <a:endParaRPr lang="en-US" sz="1400" dirty="0"/>
          </a:p>
        </p:txBody>
      </p:sp>
      <p:sp>
        <p:nvSpPr>
          <p:cNvPr id="56" name="Text 54"/>
          <p:cNvSpPr/>
          <p:nvPr/>
        </p:nvSpPr>
        <p:spPr>
          <a:xfrm>
            <a:off x="8183880" y="5257800"/>
            <a:ext cx="1828800" cy="457200"/>
          </a:xfrm>
          <a:prstGeom prst="rect">
            <a:avLst/>
          </a:prstGeom>
          <a:noFill/>
          <a:ln/>
        </p:spPr>
        <p:txBody>
          <a:bodyPr wrap="square" lIns="0" tIns="0" rIns="0" bIns="0" rtlCol="0" anchor="ctr"/>
          <a:lstStyle/>
          <a:p>
            <a:pPr marL="0" indent="0" algn="ctr">
              <a:buNone/>
            </a:pPr>
            <a:r>
              <a:rPr lang="en-US" sz="3500" b="1" dirty="0">
                <a:solidFill>
                  <a:srgbClr val="0E6E8C"/>
                </a:solidFill>
                <a:latin typeface="Cambria" pitchFamily="34" charset="0"/>
                <a:ea typeface="Cambria" pitchFamily="34" charset="-122"/>
                <a:cs typeface="Cambria" pitchFamily="34" charset="-120"/>
              </a:rPr>
              <a:t>6</a:t>
            </a:r>
            <a:endParaRPr lang="en-US" sz="3500" dirty="0"/>
          </a:p>
        </p:txBody>
      </p:sp>
      <p:sp>
        <p:nvSpPr>
          <p:cNvPr id="57" name="Text 55"/>
          <p:cNvSpPr/>
          <p:nvPr/>
        </p:nvSpPr>
        <p:spPr>
          <a:xfrm>
            <a:off x="6995160" y="5724144"/>
            <a:ext cx="4206240" cy="365760"/>
          </a:xfrm>
          <a:prstGeom prst="rect">
            <a:avLst/>
          </a:prstGeom>
          <a:noFill/>
          <a:ln/>
        </p:spPr>
        <p:txBody>
          <a:bodyPr wrap="square" lIns="0" tIns="0" rIns="0" bIns="0" rtlCol="0" anchor="ctr"/>
          <a:lstStyle/>
          <a:p>
            <a:pPr marL="0" indent="0" algn="ctr">
              <a:buNone/>
            </a:pPr>
            <a:r>
              <a:rPr lang="en-US" sz="1400" i="1" dirty="0">
                <a:solidFill>
                  <a:srgbClr val="6B7280"/>
                </a:solidFill>
                <a:latin typeface="Calibri" pitchFamily="34" charset="0"/>
                <a:ea typeface="Calibri" pitchFamily="34" charset="-122"/>
                <a:cs typeface="Calibri" pitchFamily="34" charset="-120"/>
              </a:rPr>
              <a:t>governed connections - one mediation layer, one place to enforce policy and capture evidence</a:t>
            </a:r>
            <a:endParaRPr lang="en-US" sz="1400" dirty="0"/>
          </a:p>
        </p:txBody>
      </p:sp>
      <p:sp>
        <p:nvSpPr>
          <p:cNvPr id="58" name="Shape 56"/>
          <p:cNvSpPr/>
          <p:nvPr/>
        </p:nvSpPr>
        <p:spPr>
          <a:xfrm>
            <a:off x="502920" y="6163056"/>
            <a:ext cx="11183112" cy="457200"/>
          </a:xfrm>
          <a:prstGeom prst="rect">
            <a:avLst/>
          </a:prstGeom>
          <a:solidFill>
            <a:srgbClr val="F7F8FA"/>
          </a:solidFill>
          <a:ln/>
        </p:spPr>
        <p:txBody>
          <a:bodyPr/>
          <a:lstStyle/>
          <a:p>
            <a:endParaRPr lang="en-US"/>
          </a:p>
        </p:txBody>
      </p:sp>
      <p:sp>
        <p:nvSpPr>
          <p:cNvPr id="59" name="Text 57"/>
          <p:cNvSpPr/>
          <p:nvPr/>
        </p:nvSpPr>
        <p:spPr>
          <a:xfrm>
            <a:off x="777240" y="6153912"/>
            <a:ext cx="10744200" cy="457200"/>
          </a:xfrm>
          <a:prstGeom prst="rect">
            <a:avLst/>
          </a:prstGeom>
          <a:noFill/>
          <a:ln/>
        </p:spPr>
        <p:txBody>
          <a:bodyPr wrap="square" lIns="0" tIns="0" rIns="0" bIns="0" rtlCol="0" anchor="ctr"/>
          <a:lstStyle/>
          <a:p>
            <a:pPr marL="0" indent="0">
              <a:buNone/>
            </a:pPr>
            <a:r>
              <a:rPr lang="en-US" sz="1875" b="1" i="1" dirty="0">
                <a:solidFill>
                  <a:srgbClr val="1B2A4A"/>
                </a:solidFill>
                <a:latin typeface="Cambria" pitchFamily="34" charset="0"/>
                <a:ea typeface="Cambria" pitchFamily="34" charset="-122"/>
                <a:cs typeface="Cambria" pitchFamily="34" charset="-120"/>
              </a:rPr>
              <a:t>Integration complexity is risk complexity - every undocumented link is a control nobody is testing.</a:t>
            </a:r>
            <a:endParaRPr lang="en-US" sz="1875" dirty="0"/>
          </a:p>
        </p:txBody>
      </p:sp>
      <p:sp>
        <p:nvSpPr>
          <p:cNvPr id="60" name="Text 58"/>
          <p:cNvSpPr/>
          <p:nvPr/>
        </p:nvSpPr>
        <p:spPr>
          <a:xfrm>
            <a:off x="11658600" y="320040"/>
            <a:ext cx="457200" cy="274320"/>
          </a:xfrm>
          <a:prstGeom prst="rect">
            <a:avLst/>
          </a:prstGeom>
          <a:noFill/>
          <a:ln/>
        </p:spPr>
        <p:txBody>
          <a:bodyPr wrap="square" lIns="0" tIns="0" rIns="0" bIns="0" rtlCol="0" anchor="ctr"/>
          <a:lstStyle/>
          <a:p>
            <a:pPr marL="0" indent="0" algn="r">
              <a:buNone/>
            </a:pPr>
            <a:r>
              <a:rPr lang="en-US" sz="1125" dirty="0">
                <a:solidFill>
                  <a:srgbClr val="C9CDD6"/>
                </a:solidFill>
                <a:latin typeface="Calibri" pitchFamily="34" charset="0"/>
                <a:ea typeface="Calibri" pitchFamily="34" charset="-122"/>
                <a:cs typeface="Calibri" pitchFamily="34" charset="-120"/>
              </a:rPr>
              <a:t>12</a:t>
            </a:r>
            <a:endParaRPr lang="en-US" sz="1125" dirty="0"/>
          </a:p>
        </p:txBody>
      </p:sp>
      <p:sp>
        <p:nvSpPr>
          <p:cNvPr id="37" name="Text 35"/>
          <p:cNvSpPr/>
          <p:nvPr/>
        </p:nvSpPr>
        <p:spPr>
          <a:xfrm>
            <a:off x="8714232" y="3227832"/>
            <a:ext cx="768096" cy="768096"/>
          </a:xfrm>
          <a:prstGeom prst="rect">
            <a:avLst/>
          </a:prstGeom>
          <a:noFill/>
          <a:ln/>
        </p:spPr>
        <p:txBody>
          <a:bodyPr wrap="square" lIns="0" tIns="0" rIns="0" bIns="0" rtlCol="0" anchor="ctr"/>
          <a:lstStyle/>
          <a:p>
            <a:pPr marL="0" indent="0" algn="ctr">
              <a:buNone/>
            </a:pPr>
            <a:r>
              <a:rPr lang="en-US" sz="1125" b="1" dirty="0">
                <a:solidFill>
                  <a:srgbClr val="FFFFFF"/>
                </a:solidFill>
                <a:latin typeface="Calibri" pitchFamily="34" charset="0"/>
                <a:ea typeface="Calibri" pitchFamily="34" charset="-122"/>
                <a:cs typeface="Calibri" pitchFamily="34" charset="-120"/>
              </a:rPr>
              <a:t>AGENT</a:t>
            </a:r>
            <a:endParaRPr lang="en-US" sz="1125" dirty="0"/>
          </a:p>
        </p:txBody>
      </p:sp>
    </p:spTree>
    <p:extLst>
      <p:ext uri="{BB962C8B-B14F-4D97-AF65-F5344CB8AC3E}">
        <p14:creationId xmlns:p14="http://schemas.microsoft.com/office/powerpoint/2010/main" val="1446273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buNone/>
            </a:pPr>
            <a:r>
              <a:rPr lang="en-US" sz="1500" b="1" kern="0" spc="200" dirty="0">
                <a:solidFill>
                  <a:srgbClr val="0E6E8C"/>
                </a:solidFill>
                <a:latin typeface="Calibri" pitchFamily="34" charset="0"/>
                <a:ea typeface="Calibri" pitchFamily="34" charset="-122"/>
                <a:cs typeface="Calibri" pitchFamily="34" charset="-120"/>
              </a:rPr>
              <a:t>THE FIX</a:t>
            </a:r>
            <a:endParaRPr lang="en-US" sz="1500" dirty="0"/>
          </a:p>
        </p:txBody>
      </p:sp>
      <p:sp>
        <p:nvSpPr>
          <p:cNvPr id="3" name="Text 1"/>
          <p:cNvSpPr/>
          <p:nvPr/>
        </p:nvSpPr>
        <p:spPr>
          <a:xfrm>
            <a:off x="502920" y="612648"/>
            <a:ext cx="11155680" cy="868680"/>
          </a:xfrm>
          <a:prstGeom prst="rect">
            <a:avLst/>
          </a:prstGeom>
          <a:noFill/>
          <a:ln/>
        </p:spPr>
        <p:txBody>
          <a:bodyPr wrap="square" lIns="0" tIns="0" rIns="0" bIns="0" rtlCol="0" anchor="t"/>
          <a:lstStyle/>
          <a:p>
            <a:pPr marL="0" indent="0">
              <a:lnSpc>
                <a:spcPct val="102000"/>
              </a:lnSpc>
              <a:buNone/>
            </a:pPr>
            <a:r>
              <a:rPr lang="en-US" sz="2875" b="1" dirty="0">
                <a:solidFill>
                  <a:srgbClr val="1B2A4A"/>
                </a:solidFill>
                <a:latin typeface="Cambria" pitchFamily="34" charset="0"/>
                <a:ea typeface="Cambria" pitchFamily="34" charset="-122"/>
                <a:cs typeface="Cambria" pitchFamily="34" charset="-120"/>
              </a:rPr>
              <a:t>Agents can mediate integration - and make every exchange auditable in real time</a:t>
            </a:r>
            <a:endParaRPr lang="en-US" sz="2875" dirty="0"/>
          </a:p>
        </p:txBody>
      </p:sp>
      <p:sp>
        <p:nvSpPr>
          <p:cNvPr id="4" name="Shape 2"/>
          <p:cNvSpPr/>
          <p:nvPr/>
        </p:nvSpPr>
        <p:spPr>
          <a:xfrm flipV="1">
            <a:off x="2880360" y="2045589"/>
            <a:ext cx="10954" cy="1200531"/>
          </a:xfrm>
          <a:prstGeom prst="line">
            <a:avLst/>
          </a:prstGeom>
          <a:noFill/>
          <a:ln w="19050">
            <a:solidFill>
              <a:srgbClr val="0E6E8C"/>
            </a:solidFill>
            <a:prstDash val="solid"/>
          </a:ln>
        </p:spPr>
        <p:txBody>
          <a:bodyPr/>
          <a:lstStyle/>
          <a:p>
            <a:endParaRPr lang="en-US" sz="2400"/>
          </a:p>
        </p:txBody>
      </p:sp>
      <p:sp>
        <p:nvSpPr>
          <p:cNvPr id="5" name="Shape 3"/>
          <p:cNvSpPr/>
          <p:nvPr/>
        </p:nvSpPr>
        <p:spPr>
          <a:xfrm flipV="1">
            <a:off x="2880360" y="2645854"/>
            <a:ext cx="1090956" cy="600266"/>
          </a:xfrm>
          <a:prstGeom prst="line">
            <a:avLst/>
          </a:prstGeom>
          <a:noFill/>
          <a:ln w="19050">
            <a:solidFill>
              <a:srgbClr val="0E6E8C"/>
            </a:solidFill>
            <a:prstDash val="solid"/>
          </a:ln>
        </p:spPr>
        <p:txBody>
          <a:bodyPr/>
          <a:lstStyle/>
          <a:p>
            <a:endParaRPr lang="en-US" sz="2400"/>
          </a:p>
        </p:txBody>
      </p:sp>
      <p:sp>
        <p:nvSpPr>
          <p:cNvPr id="6" name="Shape 4"/>
          <p:cNvSpPr/>
          <p:nvPr/>
        </p:nvSpPr>
        <p:spPr>
          <a:xfrm>
            <a:off x="2880360" y="3171634"/>
            <a:ext cx="1090956" cy="600266"/>
          </a:xfrm>
          <a:prstGeom prst="line">
            <a:avLst/>
          </a:prstGeom>
          <a:noFill/>
          <a:ln w="19050">
            <a:solidFill>
              <a:srgbClr val="0E6E8C"/>
            </a:solidFill>
            <a:prstDash val="solid"/>
          </a:ln>
        </p:spPr>
        <p:txBody>
          <a:bodyPr/>
          <a:lstStyle/>
          <a:p>
            <a:endParaRPr lang="en-US" sz="2400"/>
          </a:p>
        </p:txBody>
      </p:sp>
      <p:sp>
        <p:nvSpPr>
          <p:cNvPr id="7" name="Shape 5"/>
          <p:cNvSpPr/>
          <p:nvPr/>
        </p:nvSpPr>
        <p:spPr>
          <a:xfrm>
            <a:off x="2880360" y="3097149"/>
            <a:ext cx="10954" cy="1200531"/>
          </a:xfrm>
          <a:prstGeom prst="line">
            <a:avLst/>
          </a:prstGeom>
          <a:noFill/>
          <a:ln w="19050">
            <a:solidFill>
              <a:srgbClr val="0E6E8C"/>
            </a:solidFill>
            <a:prstDash val="solid"/>
          </a:ln>
        </p:spPr>
        <p:txBody>
          <a:bodyPr/>
          <a:lstStyle/>
          <a:p>
            <a:endParaRPr lang="en-US" sz="2400"/>
          </a:p>
        </p:txBody>
      </p:sp>
      <p:sp>
        <p:nvSpPr>
          <p:cNvPr id="8" name="Shape 6"/>
          <p:cNvSpPr/>
          <p:nvPr/>
        </p:nvSpPr>
        <p:spPr>
          <a:xfrm flipH="1">
            <a:off x="1969682" y="3171634"/>
            <a:ext cx="1090956" cy="600266"/>
          </a:xfrm>
          <a:prstGeom prst="line">
            <a:avLst/>
          </a:prstGeom>
          <a:noFill/>
          <a:ln w="19050">
            <a:solidFill>
              <a:srgbClr val="0E6E8C"/>
            </a:solidFill>
            <a:prstDash val="solid"/>
          </a:ln>
        </p:spPr>
        <p:txBody>
          <a:bodyPr/>
          <a:lstStyle/>
          <a:p>
            <a:endParaRPr lang="en-US" sz="2400"/>
          </a:p>
        </p:txBody>
      </p:sp>
      <p:sp>
        <p:nvSpPr>
          <p:cNvPr id="9" name="Shape 7"/>
          <p:cNvSpPr/>
          <p:nvPr/>
        </p:nvSpPr>
        <p:spPr>
          <a:xfrm flipH="1" flipV="1">
            <a:off x="1969682" y="2645854"/>
            <a:ext cx="1090956" cy="600266"/>
          </a:xfrm>
          <a:prstGeom prst="line">
            <a:avLst/>
          </a:prstGeom>
          <a:noFill/>
          <a:ln w="19050">
            <a:solidFill>
              <a:srgbClr val="0E6E8C"/>
            </a:solidFill>
            <a:prstDash val="solid"/>
          </a:ln>
        </p:spPr>
        <p:txBody>
          <a:bodyPr/>
          <a:lstStyle/>
          <a:p>
            <a:endParaRPr lang="en-US" sz="2400"/>
          </a:p>
        </p:txBody>
      </p:sp>
      <p:sp>
        <p:nvSpPr>
          <p:cNvPr id="10" name="Shape 8"/>
          <p:cNvSpPr/>
          <p:nvPr/>
        </p:nvSpPr>
        <p:spPr>
          <a:xfrm>
            <a:off x="2377439" y="2600706"/>
            <a:ext cx="1204957" cy="1148334"/>
          </a:xfrm>
          <a:prstGeom prst="ellipse">
            <a:avLst/>
          </a:prstGeom>
          <a:solidFill>
            <a:srgbClr val="1B2A4A"/>
          </a:solidFill>
          <a:ln/>
        </p:spPr>
        <p:txBody>
          <a:bodyPr/>
          <a:lstStyle/>
          <a:p>
            <a:endParaRPr lang="en-US" sz="2400"/>
          </a:p>
        </p:txBody>
      </p:sp>
      <p:sp>
        <p:nvSpPr>
          <p:cNvPr id="11" name="Text 9"/>
          <p:cNvSpPr/>
          <p:nvPr/>
        </p:nvSpPr>
        <p:spPr>
          <a:xfrm>
            <a:off x="2377439" y="2600706"/>
            <a:ext cx="1204957" cy="114833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INTEGRATION</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&amp; AUDIT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AGENT</a:t>
            </a:r>
            <a:endParaRPr lang="en-US" sz="1100" dirty="0"/>
          </a:p>
        </p:txBody>
      </p:sp>
      <p:sp>
        <p:nvSpPr>
          <p:cNvPr id="12" name="Shape 10"/>
          <p:cNvSpPr/>
          <p:nvPr/>
        </p:nvSpPr>
        <p:spPr>
          <a:xfrm>
            <a:off x="2606039" y="1842516"/>
            <a:ext cx="657249" cy="626364"/>
          </a:xfrm>
          <a:prstGeom prst="ellipse">
            <a:avLst/>
          </a:prstGeom>
          <a:solidFill>
            <a:srgbClr val="D8ECF1"/>
          </a:solidFill>
          <a:ln w="12700">
            <a:solidFill>
              <a:srgbClr val="0E6E8C"/>
            </a:solidFill>
            <a:prstDash val="solid"/>
          </a:ln>
        </p:spPr>
        <p:txBody>
          <a:bodyPr/>
          <a:lstStyle/>
          <a:p>
            <a:endParaRPr lang="en-US" sz="2400"/>
          </a:p>
        </p:txBody>
      </p:sp>
      <p:sp>
        <p:nvSpPr>
          <p:cNvPr id="13" name="Text 11"/>
          <p:cNvSpPr/>
          <p:nvPr/>
        </p:nvSpPr>
        <p:spPr>
          <a:xfrm>
            <a:off x="2606039" y="1842516"/>
            <a:ext cx="657249" cy="626364"/>
          </a:xfrm>
          <a:prstGeom prst="rect">
            <a:avLst/>
          </a:prstGeom>
          <a:noFill/>
          <a:ln/>
        </p:spPr>
        <p:txBody>
          <a:bodyPr wrap="square" lIns="0" tIns="0" rIns="0" bIns="0" rtlCol="0" anchor="ctr"/>
          <a:lstStyle/>
          <a:p>
            <a:pPr marL="0" indent="0" algn="ctr">
              <a:buNone/>
            </a:pPr>
            <a:r>
              <a:rPr lang="en-US" sz="1000" b="1" dirty="0">
                <a:solidFill>
                  <a:srgbClr val="1B2A4A"/>
                </a:solidFill>
                <a:latin typeface="Calibri" pitchFamily="34" charset="0"/>
                <a:ea typeface="Calibri" pitchFamily="34" charset="-122"/>
                <a:cs typeface="Calibri" pitchFamily="34" charset="-120"/>
              </a:rPr>
              <a:t>Core</a:t>
            </a:r>
            <a:endParaRPr lang="en-US" sz="1000" dirty="0"/>
          </a:p>
          <a:p>
            <a:pPr marL="0" indent="0" algn="ctr">
              <a:buNone/>
            </a:pPr>
            <a:r>
              <a:rPr lang="en-US" sz="1000" b="1" dirty="0">
                <a:solidFill>
                  <a:srgbClr val="1B2A4A"/>
                </a:solidFill>
                <a:latin typeface="Calibri" pitchFamily="34" charset="0"/>
                <a:ea typeface="Calibri" pitchFamily="34" charset="-122"/>
                <a:cs typeface="Calibri" pitchFamily="34" charset="-120"/>
              </a:rPr>
              <a:t>Banking</a:t>
            </a:r>
            <a:endParaRPr lang="en-US" sz="1000" dirty="0"/>
          </a:p>
        </p:txBody>
      </p:sp>
      <p:sp>
        <p:nvSpPr>
          <p:cNvPr id="14" name="Shape 12"/>
          <p:cNvSpPr/>
          <p:nvPr/>
        </p:nvSpPr>
        <p:spPr>
          <a:xfrm>
            <a:off x="3516717" y="2368296"/>
            <a:ext cx="657249" cy="626364"/>
          </a:xfrm>
          <a:prstGeom prst="ellipse">
            <a:avLst/>
          </a:prstGeom>
          <a:solidFill>
            <a:srgbClr val="D8ECF1"/>
          </a:solidFill>
          <a:ln w="12700">
            <a:solidFill>
              <a:srgbClr val="0E6E8C"/>
            </a:solidFill>
            <a:prstDash val="solid"/>
          </a:ln>
        </p:spPr>
        <p:txBody>
          <a:bodyPr/>
          <a:lstStyle/>
          <a:p>
            <a:endParaRPr lang="en-US" sz="2400"/>
          </a:p>
        </p:txBody>
      </p:sp>
      <p:sp>
        <p:nvSpPr>
          <p:cNvPr id="15" name="Text 13"/>
          <p:cNvSpPr/>
          <p:nvPr/>
        </p:nvSpPr>
        <p:spPr>
          <a:xfrm>
            <a:off x="3516717" y="2368296"/>
            <a:ext cx="657249" cy="626364"/>
          </a:xfrm>
          <a:prstGeom prst="rect">
            <a:avLst/>
          </a:prstGeom>
          <a:noFill/>
          <a:ln/>
        </p:spPr>
        <p:txBody>
          <a:bodyPr wrap="square" lIns="0" tIns="0" rIns="0" bIns="0" rtlCol="0" anchor="ctr"/>
          <a:lstStyle/>
          <a:p>
            <a:pPr marL="0" indent="0" algn="ctr">
              <a:buNone/>
            </a:pPr>
            <a:r>
              <a:rPr lang="en-US" sz="1000" b="1" dirty="0">
                <a:solidFill>
                  <a:srgbClr val="1B2A4A"/>
                </a:solidFill>
                <a:latin typeface="Calibri" pitchFamily="34" charset="0"/>
                <a:ea typeface="Calibri" pitchFamily="34" charset="-122"/>
                <a:cs typeface="Calibri" pitchFamily="34" charset="-120"/>
              </a:rPr>
              <a:t>Payments</a:t>
            </a:r>
            <a:endParaRPr lang="en-US" sz="1000" dirty="0"/>
          </a:p>
        </p:txBody>
      </p:sp>
      <p:sp>
        <p:nvSpPr>
          <p:cNvPr id="16" name="Shape 14"/>
          <p:cNvSpPr/>
          <p:nvPr/>
        </p:nvSpPr>
        <p:spPr>
          <a:xfrm>
            <a:off x="3516717" y="3419856"/>
            <a:ext cx="657249" cy="626364"/>
          </a:xfrm>
          <a:prstGeom prst="ellipse">
            <a:avLst/>
          </a:prstGeom>
          <a:solidFill>
            <a:srgbClr val="D8ECF1"/>
          </a:solidFill>
          <a:ln w="12700">
            <a:solidFill>
              <a:srgbClr val="0E6E8C"/>
            </a:solidFill>
            <a:prstDash val="solid"/>
          </a:ln>
        </p:spPr>
        <p:txBody>
          <a:bodyPr/>
          <a:lstStyle/>
          <a:p>
            <a:endParaRPr lang="en-US" sz="2400"/>
          </a:p>
        </p:txBody>
      </p:sp>
      <p:sp>
        <p:nvSpPr>
          <p:cNvPr id="17" name="Text 15"/>
          <p:cNvSpPr/>
          <p:nvPr/>
        </p:nvSpPr>
        <p:spPr>
          <a:xfrm>
            <a:off x="3516717" y="3419856"/>
            <a:ext cx="657249" cy="626364"/>
          </a:xfrm>
          <a:prstGeom prst="rect">
            <a:avLst/>
          </a:prstGeom>
          <a:noFill/>
          <a:ln/>
        </p:spPr>
        <p:txBody>
          <a:bodyPr wrap="square" lIns="0" tIns="0" rIns="0" bIns="0" rtlCol="0" anchor="ctr"/>
          <a:lstStyle/>
          <a:p>
            <a:pPr marL="0" indent="0" algn="ctr">
              <a:buNone/>
            </a:pPr>
            <a:r>
              <a:rPr lang="en-US" sz="1000" b="1" dirty="0">
                <a:solidFill>
                  <a:srgbClr val="1B2A4A"/>
                </a:solidFill>
                <a:latin typeface="Calibri" pitchFamily="34" charset="0"/>
                <a:ea typeface="Calibri" pitchFamily="34" charset="-122"/>
                <a:cs typeface="Calibri" pitchFamily="34" charset="-120"/>
              </a:rPr>
              <a:t>CRM</a:t>
            </a:r>
            <a:endParaRPr lang="en-US" sz="1000" dirty="0"/>
          </a:p>
        </p:txBody>
      </p:sp>
      <p:sp>
        <p:nvSpPr>
          <p:cNvPr id="18" name="Shape 16"/>
          <p:cNvSpPr/>
          <p:nvPr/>
        </p:nvSpPr>
        <p:spPr>
          <a:xfrm>
            <a:off x="2606039" y="3945636"/>
            <a:ext cx="657249" cy="626364"/>
          </a:xfrm>
          <a:prstGeom prst="ellipse">
            <a:avLst/>
          </a:prstGeom>
          <a:solidFill>
            <a:srgbClr val="D8ECF1"/>
          </a:solidFill>
          <a:ln w="12700">
            <a:solidFill>
              <a:srgbClr val="0E6E8C"/>
            </a:solidFill>
            <a:prstDash val="solid"/>
          </a:ln>
        </p:spPr>
        <p:txBody>
          <a:bodyPr/>
          <a:lstStyle/>
          <a:p>
            <a:endParaRPr lang="en-US" sz="2400"/>
          </a:p>
        </p:txBody>
      </p:sp>
      <p:sp>
        <p:nvSpPr>
          <p:cNvPr id="19" name="Text 17"/>
          <p:cNvSpPr/>
          <p:nvPr/>
        </p:nvSpPr>
        <p:spPr>
          <a:xfrm>
            <a:off x="2606039" y="3945636"/>
            <a:ext cx="657249" cy="626364"/>
          </a:xfrm>
          <a:prstGeom prst="rect">
            <a:avLst/>
          </a:prstGeom>
          <a:noFill/>
          <a:ln/>
        </p:spPr>
        <p:txBody>
          <a:bodyPr wrap="square" lIns="0" tIns="0" rIns="0" bIns="0" rtlCol="0" anchor="ctr"/>
          <a:lstStyle/>
          <a:p>
            <a:pPr marL="0" indent="0" algn="ctr">
              <a:buNone/>
            </a:pPr>
            <a:r>
              <a:rPr lang="en-US" sz="1000" b="1" dirty="0">
                <a:solidFill>
                  <a:srgbClr val="1B2A4A"/>
                </a:solidFill>
                <a:latin typeface="Calibri" pitchFamily="34" charset="0"/>
                <a:ea typeface="Calibri" pitchFamily="34" charset="-122"/>
                <a:cs typeface="Calibri" pitchFamily="34" charset="-120"/>
              </a:rPr>
              <a:t>Claims</a:t>
            </a:r>
            <a:endParaRPr lang="en-US" sz="1000" dirty="0"/>
          </a:p>
        </p:txBody>
      </p:sp>
      <p:sp>
        <p:nvSpPr>
          <p:cNvPr id="20" name="Shape 18"/>
          <p:cNvSpPr/>
          <p:nvPr/>
        </p:nvSpPr>
        <p:spPr>
          <a:xfrm>
            <a:off x="1695361" y="3419856"/>
            <a:ext cx="657249" cy="626364"/>
          </a:xfrm>
          <a:prstGeom prst="ellipse">
            <a:avLst/>
          </a:prstGeom>
          <a:solidFill>
            <a:srgbClr val="D8ECF1"/>
          </a:solidFill>
          <a:ln w="12700">
            <a:solidFill>
              <a:srgbClr val="0E6E8C"/>
            </a:solidFill>
            <a:prstDash val="solid"/>
          </a:ln>
        </p:spPr>
        <p:txBody>
          <a:bodyPr/>
          <a:lstStyle/>
          <a:p>
            <a:endParaRPr lang="en-US" sz="2400"/>
          </a:p>
        </p:txBody>
      </p:sp>
      <p:sp>
        <p:nvSpPr>
          <p:cNvPr id="21" name="Text 19"/>
          <p:cNvSpPr/>
          <p:nvPr/>
        </p:nvSpPr>
        <p:spPr>
          <a:xfrm>
            <a:off x="1695361" y="3419856"/>
            <a:ext cx="657249" cy="626364"/>
          </a:xfrm>
          <a:prstGeom prst="rect">
            <a:avLst/>
          </a:prstGeom>
          <a:noFill/>
          <a:ln/>
        </p:spPr>
        <p:txBody>
          <a:bodyPr wrap="square" lIns="0" tIns="0" rIns="0" bIns="0" rtlCol="0" anchor="ctr"/>
          <a:lstStyle/>
          <a:p>
            <a:pPr marL="0" indent="0" algn="ctr">
              <a:buNone/>
            </a:pPr>
            <a:r>
              <a:rPr lang="en-US" sz="1000" b="1" dirty="0">
                <a:solidFill>
                  <a:srgbClr val="1B2A4A"/>
                </a:solidFill>
                <a:latin typeface="Calibri" pitchFamily="34" charset="0"/>
                <a:ea typeface="Calibri" pitchFamily="34" charset="-122"/>
                <a:cs typeface="Calibri" pitchFamily="34" charset="-120"/>
              </a:rPr>
              <a:t>Risk</a:t>
            </a:r>
            <a:endParaRPr lang="en-US" sz="1000" dirty="0"/>
          </a:p>
          <a:p>
            <a:pPr marL="0" indent="0" algn="ctr">
              <a:buNone/>
            </a:pPr>
            <a:r>
              <a:rPr lang="en-US" sz="1000" b="1" dirty="0">
                <a:solidFill>
                  <a:srgbClr val="1B2A4A"/>
                </a:solidFill>
                <a:latin typeface="Calibri" pitchFamily="34" charset="0"/>
                <a:ea typeface="Calibri" pitchFamily="34" charset="-122"/>
                <a:cs typeface="Calibri" pitchFamily="34" charset="-120"/>
              </a:rPr>
              <a:t>Engine</a:t>
            </a:r>
            <a:endParaRPr lang="en-US" sz="1000" dirty="0"/>
          </a:p>
        </p:txBody>
      </p:sp>
      <p:sp>
        <p:nvSpPr>
          <p:cNvPr id="22" name="Shape 20"/>
          <p:cNvSpPr/>
          <p:nvPr/>
        </p:nvSpPr>
        <p:spPr>
          <a:xfrm>
            <a:off x="1695361" y="2368296"/>
            <a:ext cx="657249" cy="626364"/>
          </a:xfrm>
          <a:prstGeom prst="ellipse">
            <a:avLst/>
          </a:prstGeom>
          <a:solidFill>
            <a:srgbClr val="D8ECF1"/>
          </a:solidFill>
          <a:ln w="12700">
            <a:solidFill>
              <a:srgbClr val="0E6E8C"/>
            </a:solidFill>
            <a:prstDash val="solid"/>
          </a:ln>
        </p:spPr>
        <p:txBody>
          <a:bodyPr/>
          <a:lstStyle/>
          <a:p>
            <a:endParaRPr lang="en-US" sz="2400"/>
          </a:p>
        </p:txBody>
      </p:sp>
      <p:sp>
        <p:nvSpPr>
          <p:cNvPr id="23" name="Text 21"/>
          <p:cNvSpPr/>
          <p:nvPr/>
        </p:nvSpPr>
        <p:spPr>
          <a:xfrm>
            <a:off x="1695361" y="2368296"/>
            <a:ext cx="657249" cy="626364"/>
          </a:xfrm>
          <a:prstGeom prst="rect">
            <a:avLst/>
          </a:prstGeom>
          <a:noFill/>
          <a:ln/>
        </p:spPr>
        <p:txBody>
          <a:bodyPr wrap="square" lIns="0" tIns="0" rIns="0" bIns="0" rtlCol="0" anchor="ctr"/>
          <a:lstStyle/>
          <a:p>
            <a:pPr marL="0" indent="0" algn="ctr">
              <a:buNone/>
            </a:pPr>
            <a:r>
              <a:rPr lang="en-US" sz="1000" b="1" dirty="0">
                <a:solidFill>
                  <a:srgbClr val="1B2A4A"/>
                </a:solidFill>
                <a:latin typeface="Calibri" pitchFamily="34" charset="0"/>
                <a:ea typeface="Calibri" pitchFamily="34" charset="-122"/>
                <a:cs typeface="Calibri" pitchFamily="34" charset="-120"/>
              </a:rPr>
              <a:t>Compliance</a:t>
            </a:r>
            <a:endParaRPr lang="en-US" sz="1000" dirty="0"/>
          </a:p>
        </p:txBody>
      </p:sp>
      <p:sp>
        <p:nvSpPr>
          <p:cNvPr id="24" name="Shape 22"/>
          <p:cNvSpPr/>
          <p:nvPr/>
        </p:nvSpPr>
        <p:spPr>
          <a:xfrm>
            <a:off x="5124298" y="1645920"/>
            <a:ext cx="6583680" cy="3264408"/>
          </a:xfrm>
          <a:prstGeom prst="roundRect">
            <a:avLst>
              <a:gd name="adj" fmla="val 2286"/>
            </a:avLst>
          </a:prstGeom>
          <a:solidFill>
            <a:srgbClr val="F7F8FA"/>
          </a:solidFill>
          <a:ln/>
        </p:spPr>
        <p:txBody>
          <a:bodyPr/>
          <a:lstStyle/>
          <a:p>
            <a:endParaRPr lang="en-US"/>
          </a:p>
        </p:txBody>
      </p:sp>
      <p:sp>
        <p:nvSpPr>
          <p:cNvPr id="25" name="Text 23"/>
          <p:cNvSpPr/>
          <p:nvPr/>
        </p:nvSpPr>
        <p:spPr>
          <a:xfrm>
            <a:off x="5303520" y="1810512"/>
            <a:ext cx="6126480" cy="274320"/>
          </a:xfrm>
          <a:prstGeom prst="rect">
            <a:avLst/>
          </a:prstGeom>
          <a:noFill/>
          <a:ln/>
        </p:spPr>
        <p:txBody>
          <a:bodyPr wrap="square" lIns="0" tIns="0" rIns="0" bIns="0" rtlCol="0" anchor="ctr"/>
          <a:lstStyle/>
          <a:p>
            <a:pPr marL="0" indent="0">
              <a:buNone/>
            </a:pPr>
            <a:r>
              <a:rPr lang="en-US" sz="1600" b="1" dirty="0">
                <a:solidFill>
                  <a:srgbClr val="0E6E8C"/>
                </a:solidFill>
                <a:latin typeface="Calibri" pitchFamily="34" charset="0"/>
                <a:ea typeface="Calibri" pitchFamily="34" charset="-122"/>
                <a:cs typeface="Calibri" pitchFamily="34" charset="-120"/>
              </a:rPr>
              <a:t>EVERY MEDIATED EXCHANGE AUTOMATICALLY CAPTURES</a:t>
            </a:r>
            <a:endParaRPr lang="en-US" sz="1600" dirty="0"/>
          </a:p>
        </p:txBody>
      </p:sp>
      <p:sp>
        <p:nvSpPr>
          <p:cNvPr id="26" name="Shape 24"/>
          <p:cNvSpPr/>
          <p:nvPr/>
        </p:nvSpPr>
        <p:spPr>
          <a:xfrm>
            <a:off x="5303520" y="2240280"/>
            <a:ext cx="146304" cy="146304"/>
          </a:xfrm>
          <a:prstGeom prst="rect">
            <a:avLst/>
          </a:prstGeom>
          <a:solidFill>
            <a:srgbClr val="FFFFFF"/>
          </a:solidFill>
          <a:ln w="15875">
            <a:solidFill>
              <a:srgbClr val="0E6E8C"/>
            </a:solidFill>
            <a:prstDash val="solid"/>
          </a:ln>
        </p:spPr>
        <p:txBody>
          <a:bodyPr/>
          <a:lstStyle/>
          <a:p>
            <a:endParaRPr lang="en-US"/>
          </a:p>
        </p:txBody>
      </p:sp>
      <p:sp>
        <p:nvSpPr>
          <p:cNvPr id="27" name="Text 25"/>
          <p:cNvSpPr/>
          <p:nvPr/>
        </p:nvSpPr>
        <p:spPr>
          <a:xfrm>
            <a:off x="5590642" y="2221992"/>
            <a:ext cx="5897880" cy="340614"/>
          </a:xfrm>
          <a:prstGeom prst="rect">
            <a:avLst/>
          </a:prstGeom>
          <a:noFill/>
          <a:ln/>
        </p:spPr>
        <p:txBody>
          <a:bodyPr wrap="square" lIns="0" tIns="0" rIns="0" bIns="0" rtlCol="0" anchor="t"/>
          <a:lstStyle/>
          <a:p>
            <a:pPr marL="0" indent="0">
              <a:buNone/>
            </a:pPr>
            <a:r>
              <a:rPr lang="en-US" sz="1313" dirty="0">
                <a:solidFill>
                  <a:srgbClr val="2B2F38"/>
                </a:solidFill>
                <a:latin typeface="Calibri" pitchFamily="34" charset="0"/>
                <a:ea typeface="Calibri" pitchFamily="34" charset="-122"/>
                <a:cs typeface="Calibri" pitchFamily="34" charset="-120"/>
              </a:rPr>
              <a:t>Caller identity - which system or user initiated the exchange</a:t>
            </a:r>
            <a:endParaRPr lang="en-US" sz="1313" dirty="0"/>
          </a:p>
        </p:txBody>
      </p:sp>
      <p:sp>
        <p:nvSpPr>
          <p:cNvPr id="28" name="Shape 26"/>
          <p:cNvSpPr/>
          <p:nvPr/>
        </p:nvSpPr>
        <p:spPr>
          <a:xfrm>
            <a:off x="5303520" y="2770632"/>
            <a:ext cx="146304" cy="146304"/>
          </a:xfrm>
          <a:prstGeom prst="rect">
            <a:avLst/>
          </a:prstGeom>
          <a:solidFill>
            <a:srgbClr val="FFFFFF"/>
          </a:solidFill>
          <a:ln w="15875">
            <a:solidFill>
              <a:srgbClr val="0E6E8C"/>
            </a:solidFill>
            <a:prstDash val="solid"/>
          </a:ln>
        </p:spPr>
        <p:txBody>
          <a:bodyPr/>
          <a:lstStyle/>
          <a:p>
            <a:endParaRPr lang="en-US"/>
          </a:p>
        </p:txBody>
      </p:sp>
      <p:sp>
        <p:nvSpPr>
          <p:cNvPr id="29" name="Text 27"/>
          <p:cNvSpPr/>
          <p:nvPr/>
        </p:nvSpPr>
        <p:spPr>
          <a:xfrm>
            <a:off x="5590642" y="2752344"/>
            <a:ext cx="5897880" cy="340614"/>
          </a:xfrm>
          <a:prstGeom prst="rect">
            <a:avLst/>
          </a:prstGeom>
          <a:noFill/>
          <a:ln/>
        </p:spPr>
        <p:txBody>
          <a:bodyPr wrap="square" lIns="0" tIns="0" rIns="0" bIns="0" rtlCol="0" anchor="t"/>
          <a:lstStyle/>
          <a:p>
            <a:pPr marL="0" indent="0">
              <a:buNone/>
            </a:pPr>
            <a:r>
              <a:rPr lang="en-US" sz="1313" dirty="0">
                <a:solidFill>
                  <a:srgbClr val="2B2F38"/>
                </a:solidFill>
                <a:latin typeface="Calibri" pitchFamily="34" charset="0"/>
                <a:ea typeface="Calibri" pitchFamily="34" charset="-122"/>
                <a:cs typeface="Calibri" pitchFamily="34" charset="-120"/>
              </a:rPr>
              <a:t>Policy evaluated - was this exchange permitted, under which rule</a:t>
            </a:r>
            <a:endParaRPr lang="en-US" sz="1313" dirty="0"/>
          </a:p>
        </p:txBody>
      </p:sp>
      <p:sp>
        <p:nvSpPr>
          <p:cNvPr id="30" name="Shape 28"/>
          <p:cNvSpPr/>
          <p:nvPr/>
        </p:nvSpPr>
        <p:spPr>
          <a:xfrm>
            <a:off x="5303520" y="3300984"/>
            <a:ext cx="146304" cy="146304"/>
          </a:xfrm>
          <a:prstGeom prst="rect">
            <a:avLst/>
          </a:prstGeom>
          <a:solidFill>
            <a:srgbClr val="FFFFFF"/>
          </a:solidFill>
          <a:ln w="15875">
            <a:solidFill>
              <a:srgbClr val="0E6E8C"/>
            </a:solidFill>
            <a:prstDash val="solid"/>
          </a:ln>
        </p:spPr>
        <p:txBody>
          <a:bodyPr/>
          <a:lstStyle/>
          <a:p>
            <a:endParaRPr lang="en-US"/>
          </a:p>
        </p:txBody>
      </p:sp>
      <p:sp>
        <p:nvSpPr>
          <p:cNvPr id="31" name="Text 29"/>
          <p:cNvSpPr/>
          <p:nvPr/>
        </p:nvSpPr>
        <p:spPr>
          <a:xfrm>
            <a:off x="5590642" y="3282696"/>
            <a:ext cx="5897880" cy="340614"/>
          </a:xfrm>
          <a:prstGeom prst="rect">
            <a:avLst/>
          </a:prstGeom>
          <a:noFill/>
          <a:ln/>
        </p:spPr>
        <p:txBody>
          <a:bodyPr wrap="square" lIns="0" tIns="0" rIns="0" bIns="0" rtlCol="0" anchor="t"/>
          <a:lstStyle/>
          <a:p>
            <a:pPr marL="0" indent="0">
              <a:buNone/>
            </a:pPr>
            <a:r>
              <a:rPr lang="en-US" sz="1313" dirty="0">
                <a:solidFill>
                  <a:srgbClr val="2B2F38"/>
                </a:solidFill>
                <a:latin typeface="Calibri" pitchFamily="34" charset="0"/>
                <a:ea typeface="Calibri" pitchFamily="34" charset="-122"/>
                <a:cs typeface="Calibri" pitchFamily="34" charset="-120"/>
              </a:rPr>
              <a:t>Data mapping validated - fields transformed and checked, not silently altered</a:t>
            </a:r>
            <a:endParaRPr lang="en-US" sz="1313" dirty="0"/>
          </a:p>
        </p:txBody>
      </p:sp>
      <p:sp>
        <p:nvSpPr>
          <p:cNvPr id="32" name="Shape 30"/>
          <p:cNvSpPr/>
          <p:nvPr/>
        </p:nvSpPr>
        <p:spPr>
          <a:xfrm>
            <a:off x="5303520" y="3831336"/>
            <a:ext cx="146304" cy="146304"/>
          </a:xfrm>
          <a:prstGeom prst="rect">
            <a:avLst/>
          </a:prstGeom>
          <a:solidFill>
            <a:srgbClr val="FFFFFF"/>
          </a:solidFill>
          <a:ln w="15875">
            <a:solidFill>
              <a:srgbClr val="0E6E8C"/>
            </a:solidFill>
            <a:prstDash val="solid"/>
          </a:ln>
        </p:spPr>
        <p:txBody>
          <a:bodyPr/>
          <a:lstStyle/>
          <a:p>
            <a:endParaRPr lang="en-US"/>
          </a:p>
        </p:txBody>
      </p:sp>
      <p:sp>
        <p:nvSpPr>
          <p:cNvPr id="33" name="Text 31"/>
          <p:cNvSpPr/>
          <p:nvPr/>
        </p:nvSpPr>
        <p:spPr>
          <a:xfrm>
            <a:off x="5590642" y="3813048"/>
            <a:ext cx="5897880" cy="340614"/>
          </a:xfrm>
          <a:prstGeom prst="rect">
            <a:avLst/>
          </a:prstGeom>
          <a:noFill/>
          <a:ln/>
        </p:spPr>
        <p:txBody>
          <a:bodyPr wrap="square" lIns="0" tIns="0" rIns="0" bIns="0" rtlCol="0" anchor="t"/>
          <a:lstStyle/>
          <a:p>
            <a:pPr marL="0" indent="0">
              <a:buNone/>
            </a:pPr>
            <a:r>
              <a:rPr lang="en-US" sz="1313" dirty="0">
                <a:solidFill>
                  <a:srgbClr val="2B2F38"/>
                </a:solidFill>
                <a:latin typeface="Calibri" pitchFamily="34" charset="0"/>
                <a:ea typeface="Calibri" pitchFamily="34" charset="-122"/>
                <a:cs typeface="Calibri" pitchFamily="34" charset="-120"/>
              </a:rPr>
              <a:t>Response verified - did the receiving system confirm expected outcome</a:t>
            </a:r>
            <a:endParaRPr lang="en-US" sz="1313" dirty="0"/>
          </a:p>
        </p:txBody>
      </p:sp>
      <p:sp>
        <p:nvSpPr>
          <p:cNvPr id="34" name="Shape 32"/>
          <p:cNvSpPr/>
          <p:nvPr/>
        </p:nvSpPr>
        <p:spPr>
          <a:xfrm>
            <a:off x="5303520" y="4361688"/>
            <a:ext cx="146304" cy="146304"/>
          </a:xfrm>
          <a:prstGeom prst="rect">
            <a:avLst/>
          </a:prstGeom>
          <a:solidFill>
            <a:srgbClr val="FFFFFF"/>
          </a:solidFill>
          <a:ln w="15875">
            <a:solidFill>
              <a:srgbClr val="0E6E8C"/>
            </a:solidFill>
            <a:prstDash val="solid"/>
          </a:ln>
        </p:spPr>
        <p:txBody>
          <a:bodyPr/>
          <a:lstStyle/>
          <a:p>
            <a:endParaRPr lang="en-US"/>
          </a:p>
        </p:txBody>
      </p:sp>
      <p:sp>
        <p:nvSpPr>
          <p:cNvPr id="35" name="Text 33"/>
          <p:cNvSpPr/>
          <p:nvPr/>
        </p:nvSpPr>
        <p:spPr>
          <a:xfrm>
            <a:off x="5590642" y="4343400"/>
            <a:ext cx="5897880" cy="340614"/>
          </a:xfrm>
          <a:prstGeom prst="rect">
            <a:avLst/>
          </a:prstGeom>
          <a:noFill/>
          <a:ln/>
        </p:spPr>
        <p:txBody>
          <a:bodyPr wrap="square" lIns="0" tIns="0" rIns="0" bIns="0" rtlCol="0" anchor="t"/>
          <a:lstStyle/>
          <a:p>
            <a:pPr marL="0" indent="0">
              <a:buNone/>
            </a:pPr>
            <a:r>
              <a:rPr lang="en-US" sz="1313" dirty="0">
                <a:solidFill>
                  <a:srgbClr val="2B2F38"/>
                </a:solidFill>
                <a:latin typeface="Calibri" pitchFamily="34" charset="0"/>
                <a:ea typeface="Calibri" pitchFamily="34" charset="-122"/>
                <a:cs typeface="Calibri" pitchFamily="34" charset="-120"/>
              </a:rPr>
              <a:t>Anomaly flagged in real time - not discovered at next quarter's review</a:t>
            </a:r>
            <a:endParaRPr lang="en-US" sz="1313" dirty="0"/>
          </a:p>
        </p:txBody>
      </p:sp>
      <p:sp>
        <p:nvSpPr>
          <p:cNvPr id="36" name="Text 34"/>
          <p:cNvSpPr/>
          <p:nvPr/>
        </p:nvSpPr>
        <p:spPr>
          <a:xfrm>
            <a:off x="502920" y="4923282"/>
            <a:ext cx="5486400" cy="237744"/>
          </a:xfrm>
          <a:prstGeom prst="rect">
            <a:avLst/>
          </a:prstGeom>
          <a:noFill/>
          <a:ln/>
        </p:spPr>
        <p:txBody>
          <a:bodyPr wrap="square" lIns="0" tIns="0" rIns="0" bIns="0" rtlCol="0" anchor="ctr"/>
          <a:lstStyle/>
          <a:p>
            <a:pPr marL="0" indent="0">
              <a:buNone/>
            </a:pPr>
            <a:r>
              <a:rPr lang="en-US" sz="1250" b="1" dirty="0">
                <a:solidFill>
                  <a:srgbClr val="6B7280"/>
                </a:solidFill>
                <a:latin typeface="Calibri" pitchFamily="34" charset="0"/>
                <a:ea typeface="Calibri" pitchFamily="34" charset="-122"/>
                <a:cs typeface="Calibri" pitchFamily="34" charset="-120"/>
              </a:rPr>
              <a:t>FROM EXCHANGE TO REAL-TIME AUDIT</a:t>
            </a:r>
            <a:endParaRPr lang="en-US" sz="1250" dirty="0"/>
          </a:p>
        </p:txBody>
      </p:sp>
      <p:sp>
        <p:nvSpPr>
          <p:cNvPr id="37" name="Shape 35"/>
          <p:cNvSpPr/>
          <p:nvPr/>
        </p:nvSpPr>
        <p:spPr>
          <a:xfrm>
            <a:off x="502920" y="5349240"/>
            <a:ext cx="2031797" cy="685800"/>
          </a:xfrm>
          <a:prstGeom prst="roundRect">
            <a:avLst>
              <a:gd name="adj" fmla="val 9333"/>
            </a:avLst>
          </a:prstGeom>
          <a:solidFill>
            <a:srgbClr val="E7EAF2"/>
          </a:solidFill>
          <a:ln w="12700">
            <a:solidFill>
              <a:srgbClr val="1B2A4A"/>
            </a:solidFill>
            <a:prstDash val="solid"/>
          </a:ln>
        </p:spPr>
        <p:txBody>
          <a:bodyPr/>
          <a:lstStyle/>
          <a:p>
            <a:endParaRPr lang="en-US"/>
          </a:p>
        </p:txBody>
      </p:sp>
      <p:sp>
        <p:nvSpPr>
          <p:cNvPr id="38" name="Text 36"/>
          <p:cNvSpPr/>
          <p:nvPr/>
        </p:nvSpPr>
        <p:spPr>
          <a:xfrm>
            <a:off x="548640" y="5376672"/>
            <a:ext cx="1940357" cy="630936"/>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Event</a:t>
            </a:r>
            <a:endParaRPr lang="en-US" sz="1600" dirty="0"/>
          </a:p>
        </p:txBody>
      </p:sp>
      <p:sp>
        <p:nvSpPr>
          <p:cNvPr id="39" name="Shape 37"/>
          <p:cNvSpPr/>
          <p:nvPr/>
        </p:nvSpPr>
        <p:spPr>
          <a:xfrm>
            <a:off x="2583363" y="5575554"/>
            <a:ext cx="158740" cy="233172"/>
          </a:xfrm>
          <a:prstGeom prst="chevron">
            <a:avLst/>
          </a:prstGeom>
          <a:solidFill>
            <a:srgbClr val="C9CDD6"/>
          </a:solidFill>
          <a:ln/>
        </p:spPr>
        <p:txBody>
          <a:bodyPr/>
          <a:lstStyle/>
          <a:p>
            <a:endParaRPr lang="en-US"/>
          </a:p>
        </p:txBody>
      </p:sp>
      <p:sp>
        <p:nvSpPr>
          <p:cNvPr id="40" name="Shape 38"/>
          <p:cNvSpPr/>
          <p:nvPr/>
        </p:nvSpPr>
        <p:spPr>
          <a:xfrm>
            <a:off x="2790749" y="5349240"/>
            <a:ext cx="2031797" cy="685800"/>
          </a:xfrm>
          <a:prstGeom prst="roundRect">
            <a:avLst>
              <a:gd name="adj" fmla="val 9333"/>
            </a:avLst>
          </a:prstGeom>
          <a:solidFill>
            <a:srgbClr val="E7EAF2"/>
          </a:solidFill>
          <a:ln w="12700">
            <a:solidFill>
              <a:srgbClr val="1B2A4A"/>
            </a:solidFill>
            <a:prstDash val="solid"/>
          </a:ln>
        </p:spPr>
        <p:txBody>
          <a:bodyPr/>
          <a:lstStyle/>
          <a:p>
            <a:endParaRPr lang="en-US" sz="2800"/>
          </a:p>
        </p:txBody>
      </p:sp>
      <p:sp>
        <p:nvSpPr>
          <p:cNvPr id="41" name="Text 39"/>
          <p:cNvSpPr/>
          <p:nvPr/>
        </p:nvSpPr>
        <p:spPr>
          <a:xfrm>
            <a:off x="2836469" y="5376672"/>
            <a:ext cx="1940357" cy="630936"/>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Agent Mediates</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Exchange</a:t>
            </a:r>
            <a:endParaRPr lang="en-US" sz="1600" dirty="0"/>
          </a:p>
        </p:txBody>
      </p:sp>
      <p:sp>
        <p:nvSpPr>
          <p:cNvPr id="42" name="Shape 40"/>
          <p:cNvSpPr/>
          <p:nvPr/>
        </p:nvSpPr>
        <p:spPr>
          <a:xfrm>
            <a:off x="4871192" y="5575554"/>
            <a:ext cx="158740" cy="233172"/>
          </a:xfrm>
          <a:prstGeom prst="chevron">
            <a:avLst/>
          </a:prstGeom>
          <a:solidFill>
            <a:srgbClr val="C9CDD6"/>
          </a:solidFill>
          <a:ln/>
        </p:spPr>
        <p:txBody>
          <a:bodyPr/>
          <a:lstStyle/>
          <a:p>
            <a:endParaRPr lang="en-US"/>
          </a:p>
        </p:txBody>
      </p:sp>
      <p:sp>
        <p:nvSpPr>
          <p:cNvPr id="43" name="Shape 41"/>
          <p:cNvSpPr/>
          <p:nvPr/>
        </p:nvSpPr>
        <p:spPr>
          <a:xfrm>
            <a:off x="5078578" y="5349240"/>
            <a:ext cx="2031797" cy="685800"/>
          </a:xfrm>
          <a:prstGeom prst="roundRect">
            <a:avLst>
              <a:gd name="adj" fmla="val 9333"/>
            </a:avLst>
          </a:prstGeom>
          <a:solidFill>
            <a:srgbClr val="E7EAF2"/>
          </a:solidFill>
          <a:ln w="12700">
            <a:solidFill>
              <a:srgbClr val="1B2A4A"/>
            </a:solidFill>
            <a:prstDash val="solid"/>
          </a:ln>
        </p:spPr>
        <p:txBody>
          <a:bodyPr/>
          <a:lstStyle/>
          <a:p>
            <a:endParaRPr lang="en-US"/>
          </a:p>
        </p:txBody>
      </p:sp>
      <p:sp>
        <p:nvSpPr>
          <p:cNvPr id="44" name="Text 42"/>
          <p:cNvSpPr/>
          <p:nvPr/>
        </p:nvSpPr>
        <p:spPr>
          <a:xfrm>
            <a:off x="5124298" y="5376672"/>
            <a:ext cx="1940357" cy="630936"/>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Policy Checked +</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Evidence Logged</a:t>
            </a:r>
            <a:endParaRPr lang="en-US" sz="1600" dirty="0"/>
          </a:p>
        </p:txBody>
      </p:sp>
      <p:sp>
        <p:nvSpPr>
          <p:cNvPr id="45" name="Shape 43"/>
          <p:cNvSpPr/>
          <p:nvPr/>
        </p:nvSpPr>
        <p:spPr>
          <a:xfrm>
            <a:off x="7159020" y="5575554"/>
            <a:ext cx="158740" cy="233172"/>
          </a:xfrm>
          <a:prstGeom prst="chevron">
            <a:avLst/>
          </a:prstGeom>
          <a:solidFill>
            <a:srgbClr val="C9CDD6"/>
          </a:solidFill>
          <a:ln/>
        </p:spPr>
        <p:txBody>
          <a:bodyPr/>
          <a:lstStyle/>
          <a:p>
            <a:endParaRPr lang="en-US"/>
          </a:p>
        </p:txBody>
      </p:sp>
      <p:sp>
        <p:nvSpPr>
          <p:cNvPr id="46" name="Shape 44"/>
          <p:cNvSpPr/>
          <p:nvPr/>
        </p:nvSpPr>
        <p:spPr>
          <a:xfrm>
            <a:off x="7366406" y="5349240"/>
            <a:ext cx="2031797" cy="685800"/>
          </a:xfrm>
          <a:prstGeom prst="roundRect">
            <a:avLst>
              <a:gd name="adj" fmla="val 9333"/>
            </a:avLst>
          </a:prstGeom>
          <a:solidFill>
            <a:srgbClr val="E7EAF2"/>
          </a:solidFill>
          <a:ln w="12700">
            <a:solidFill>
              <a:srgbClr val="1B2A4A"/>
            </a:solidFill>
            <a:prstDash val="solid"/>
          </a:ln>
        </p:spPr>
        <p:txBody>
          <a:bodyPr/>
          <a:lstStyle/>
          <a:p>
            <a:endParaRPr lang="en-US"/>
          </a:p>
        </p:txBody>
      </p:sp>
      <p:sp>
        <p:nvSpPr>
          <p:cNvPr id="47" name="Text 45"/>
          <p:cNvSpPr/>
          <p:nvPr/>
        </p:nvSpPr>
        <p:spPr>
          <a:xfrm>
            <a:off x="7412126" y="5376672"/>
            <a:ext cx="1940357" cy="630936"/>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Real-Time</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Audit Feed</a:t>
            </a:r>
            <a:endParaRPr lang="en-US" sz="1600" dirty="0"/>
          </a:p>
        </p:txBody>
      </p:sp>
      <p:sp>
        <p:nvSpPr>
          <p:cNvPr id="48" name="Shape 46"/>
          <p:cNvSpPr/>
          <p:nvPr/>
        </p:nvSpPr>
        <p:spPr>
          <a:xfrm>
            <a:off x="9446849" y="5575554"/>
            <a:ext cx="158740" cy="233172"/>
          </a:xfrm>
          <a:prstGeom prst="chevron">
            <a:avLst/>
          </a:prstGeom>
          <a:solidFill>
            <a:srgbClr val="C9CDD6"/>
          </a:solidFill>
          <a:ln/>
        </p:spPr>
        <p:txBody>
          <a:bodyPr/>
          <a:lstStyle/>
          <a:p>
            <a:endParaRPr lang="en-US"/>
          </a:p>
        </p:txBody>
      </p:sp>
      <p:sp>
        <p:nvSpPr>
          <p:cNvPr id="49" name="Shape 47"/>
          <p:cNvSpPr/>
          <p:nvPr/>
        </p:nvSpPr>
        <p:spPr>
          <a:xfrm>
            <a:off x="9654235" y="5349240"/>
            <a:ext cx="2031797" cy="685800"/>
          </a:xfrm>
          <a:prstGeom prst="roundRect">
            <a:avLst>
              <a:gd name="adj" fmla="val 9333"/>
            </a:avLst>
          </a:prstGeom>
          <a:solidFill>
            <a:srgbClr val="E7EAF2"/>
          </a:solidFill>
          <a:ln w="12700">
            <a:solidFill>
              <a:srgbClr val="1B2A4A"/>
            </a:solidFill>
            <a:prstDash val="solid"/>
          </a:ln>
        </p:spPr>
        <p:txBody>
          <a:bodyPr/>
          <a:lstStyle/>
          <a:p>
            <a:endParaRPr lang="en-US"/>
          </a:p>
        </p:txBody>
      </p:sp>
      <p:sp>
        <p:nvSpPr>
          <p:cNvPr id="50" name="Text 48"/>
          <p:cNvSpPr/>
          <p:nvPr/>
        </p:nvSpPr>
        <p:spPr>
          <a:xfrm>
            <a:off x="9699955" y="5376672"/>
            <a:ext cx="1940357" cy="630936"/>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Exception →</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Investigation</a:t>
            </a:r>
            <a:endParaRPr lang="en-US" sz="1600" dirty="0"/>
          </a:p>
        </p:txBody>
      </p:sp>
      <p:sp>
        <p:nvSpPr>
          <p:cNvPr id="51" name="Shape 49"/>
          <p:cNvSpPr/>
          <p:nvPr/>
        </p:nvSpPr>
        <p:spPr>
          <a:xfrm>
            <a:off x="502920" y="6199632"/>
            <a:ext cx="11183112" cy="457200"/>
          </a:xfrm>
          <a:prstGeom prst="rect">
            <a:avLst/>
          </a:prstGeom>
          <a:solidFill>
            <a:srgbClr val="F7F8FA"/>
          </a:solidFill>
          <a:ln/>
        </p:spPr>
        <p:txBody>
          <a:bodyPr/>
          <a:lstStyle/>
          <a:p>
            <a:endParaRPr lang="en-US"/>
          </a:p>
        </p:txBody>
      </p:sp>
      <p:sp>
        <p:nvSpPr>
          <p:cNvPr id="52" name="Text 50"/>
          <p:cNvSpPr/>
          <p:nvPr/>
        </p:nvSpPr>
        <p:spPr>
          <a:xfrm>
            <a:off x="731520" y="6199632"/>
            <a:ext cx="11091134" cy="500634"/>
          </a:xfrm>
          <a:prstGeom prst="rect">
            <a:avLst/>
          </a:prstGeom>
          <a:noFill/>
          <a:ln/>
        </p:spPr>
        <p:txBody>
          <a:bodyPr wrap="square" lIns="0" tIns="0" rIns="0" bIns="0" rtlCol="0" anchor="ctr"/>
          <a:lstStyle/>
          <a:p>
            <a:pPr marL="0" indent="0">
              <a:buNone/>
            </a:pPr>
            <a:r>
              <a:rPr lang="en-US" sz="1600" b="1" i="1" dirty="0">
                <a:solidFill>
                  <a:srgbClr val="1B2A4A"/>
                </a:solidFill>
                <a:latin typeface="Cambria" pitchFamily="34" charset="0"/>
                <a:ea typeface="Cambria" pitchFamily="34" charset="-122"/>
                <a:cs typeface="Cambria" pitchFamily="34" charset="-120"/>
              </a:rPr>
              <a:t>The integration layer doesn't have to be a black box - properly mediated, it becomes your best source of continuous assurance.</a:t>
            </a:r>
            <a:endParaRPr lang="en-US" sz="1600" dirty="0"/>
          </a:p>
        </p:txBody>
      </p:sp>
      <p:sp>
        <p:nvSpPr>
          <p:cNvPr id="53" name="Text 51"/>
          <p:cNvSpPr/>
          <p:nvPr/>
        </p:nvSpPr>
        <p:spPr>
          <a:xfrm>
            <a:off x="11658600" y="320040"/>
            <a:ext cx="457200" cy="274320"/>
          </a:xfrm>
          <a:prstGeom prst="rect">
            <a:avLst/>
          </a:prstGeom>
          <a:noFill/>
          <a:ln/>
        </p:spPr>
        <p:txBody>
          <a:bodyPr wrap="square" lIns="0" tIns="0" rIns="0" bIns="0" rtlCol="0" anchor="ctr"/>
          <a:lstStyle/>
          <a:p>
            <a:pPr marL="0" indent="0" algn="r">
              <a:buNone/>
            </a:pPr>
            <a:r>
              <a:rPr lang="en-US" sz="1125" dirty="0">
                <a:solidFill>
                  <a:srgbClr val="C9CDD6"/>
                </a:solidFill>
                <a:latin typeface="Calibri" pitchFamily="34" charset="0"/>
                <a:ea typeface="Calibri" pitchFamily="34" charset="-122"/>
                <a:cs typeface="Calibri" pitchFamily="34" charset="-120"/>
              </a:rPr>
              <a:t>13</a:t>
            </a:r>
            <a:endParaRPr lang="en-US" sz="1125" dirty="0"/>
          </a:p>
        </p:txBody>
      </p:sp>
    </p:spTree>
    <p:extLst>
      <p:ext uri="{BB962C8B-B14F-4D97-AF65-F5344CB8AC3E}">
        <p14:creationId xmlns:p14="http://schemas.microsoft.com/office/powerpoint/2010/main" val="16483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buNone/>
            </a:pPr>
            <a:r>
              <a:rPr lang="en-US" sz="1500" b="1" kern="0" spc="200" dirty="0">
                <a:solidFill>
                  <a:srgbClr val="0E6E8C"/>
                </a:solidFill>
                <a:latin typeface="Calibri" pitchFamily="34" charset="0"/>
                <a:ea typeface="Calibri" pitchFamily="34" charset="-122"/>
                <a:cs typeface="Calibri" pitchFamily="34" charset="-120"/>
              </a:rPr>
              <a:t>THE DESTINATION</a:t>
            </a:r>
            <a:endParaRPr lang="en-US" sz="1500" dirty="0"/>
          </a:p>
        </p:txBody>
      </p:sp>
      <p:sp>
        <p:nvSpPr>
          <p:cNvPr id="3" name="Text 1"/>
          <p:cNvSpPr/>
          <p:nvPr/>
        </p:nvSpPr>
        <p:spPr>
          <a:xfrm>
            <a:off x="502920" y="612648"/>
            <a:ext cx="11155680" cy="868680"/>
          </a:xfrm>
          <a:prstGeom prst="rect">
            <a:avLst/>
          </a:prstGeom>
          <a:noFill/>
          <a:ln/>
        </p:spPr>
        <p:txBody>
          <a:bodyPr wrap="square" lIns="0" tIns="0" rIns="0" bIns="0" rtlCol="0" anchor="t"/>
          <a:lstStyle/>
          <a:p>
            <a:pPr marL="0" indent="0">
              <a:lnSpc>
                <a:spcPct val="102000"/>
              </a:lnSpc>
              <a:buNone/>
            </a:pPr>
            <a:r>
              <a:rPr lang="en-US" sz="2875" b="1" dirty="0">
                <a:solidFill>
                  <a:srgbClr val="1B2A4A"/>
                </a:solidFill>
                <a:latin typeface="Cambria" pitchFamily="34" charset="0"/>
                <a:ea typeface="Cambria" pitchFamily="34" charset="-122"/>
                <a:cs typeface="Cambria" pitchFamily="34" charset="-120"/>
              </a:rPr>
              <a:t>The destination is not more AI. It is stronger, continuous, governed assurance.</a:t>
            </a:r>
            <a:endParaRPr lang="en-US" sz="2875" dirty="0"/>
          </a:p>
        </p:txBody>
      </p:sp>
      <p:sp>
        <p:nvSpPr>
          <p:cNvPr id="9" name="Shape 7"/>
          <p:cNvSpPr/>
          <p:nvPr/>
        </p:nvSpPr>
        <p:spPr>
          <a:xfrm>
            <a:off x="617220" y="2807208"/>
            <a:ext cx="1600200" cy="512064"/>
          </a:xfrm>
          <a:prstGeom prst="roundRect">
            <a:avLst>
              <a:gd name="adj" fmla="val 10714"/>
            </a:avLst>
          </a:prstGeom>
          <a:solidFill>
            <a:srgbClr val="E7EAF2"/>
          </a:solidFill>
          <a:ln w="12700">
            <a:solidFill>
              <a:srgbClr val="1B2A4A"/>
            </a:solidFill>
            <a:prstDash val="solid"/>
          </a:ln>
        </p:spPr>
        <p:txBody>
          <a:bodyPr/>
          <a:lstStyle/>
          <a:p>
            <a:endParaRPr lang="en-US" sz="2400"/>
          </a:p>
        </p:txBody>
      </p:sp>
      <p:sp>
        <p:nvSpPr>
          <p:cNvPr id="10" name="Text 8"/>
          <p:cNvSpPr/>
          <p:nvPr/>
        </p:nvSpPr>
        <p:spPr>
          <a:xfrm>
            <a:off x="653796" y="2807208"/>
            <a:ext cx="1697718" cy="512064"/>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Detection</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Engineering</a:t>
            </a:r>
            <a:endParaRPr lang="en-US" sz="1600" dirty="0"/>
          </a:p>
        </p:txBody>
      </p:sp>
      <p:sp>
        <p:nvSpPr>
          <p:cNvPr id="11" name="Shape 9"/>
          <p:cNvSpPr/>
          <p:nvPr/>
        </p:nvSpPr>
        <p:spPr>
          <a:xfrm>
            <a:off x="2491740" y="2532888"/>
            <a:ext cx="1779046" cy="512064"/>
          </a:xfrm>
          <a:prstGeom prst="roundRect">
            <a:avLst>
              <a:gd name="adj" fmla="val 10714"/>
            </a:avLst>
          </a:prstGeom>
          <a:solidFill>
            <a:srgbClr val="E7EAF2"/>
          </a:solidFill>
          <a:ln w="12700">
            <a:solidFill>
              <a:srgbClr val="1B2A4A"/>
            </a:solidFill>
            <a:prstDash val="solid"/>
          </a:ln>
        </p:spPr>
        <p:txBody>
          <a:bodyPr/>
          <a:lstStyle/>
          <a:p>
            <a:endParaRPr lang="en-US" sz="2400"/>
          </a:p>
        </p:txBody>
      </p:sp>
      <p:sp>
        <p:nvSpPr>
          <p:cNvPr id="12" name="Text 10"/>
          <p:cNvSpPr/>
          <p:nvPr/>
        </p:nvSpPr>
        <p:spPr>
          <a:xfrm>
            <a:off x="2528316" y="2532888"/>
            <a:ext cx="1527048" cy="512064"/>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Agentic</a:t>
            </a:r>
            <a:endParaRPr lang="en-US" sz="1600" dirty="0"/>
          </a:p>
          <a:p>
            <a:pPr marL="0" indent="0" algn="ctr">
              <a:buNone/>
            </a:pPr>
            <a:r>
              <a:rPr lang="en-US" sz="1600" b="1" dirty="0">
                <a:solidFill>
                  <a:srgbClr val="1B2A4A"/>
                </a:solidFill>
                <a:latin typeface="Calibri" pitchFamily="34" charset="0"/>
                <a:ea typeface="Calibri" pitchFamily="34" charset="-122"/>
                <a:cs typeface="Calibri" pitchFamily="34" charset="-120"/>
              </a:rPr>
              <a:t>Investigation</a:t>
            </a:r>
            <a:endParaRPr lang="en-US" sz="1600" dirty="0"/>
          </a:p>
        </p:txBody>
      </p:sp>
      <p:sp>
        <p:nvSpPr>
          <p:cNvPr id="13" name="Shape 11"/>
          <p:cNvSpPr/>
          <p:nvPr/>
        </p:nvSpPr>
        <p:spPr>
          <a:xfrm>
            <a:off x="4366260" y="2258568"/>
            <a:ext cx="1779046" cy="512064"/>
          </a:xfrm>
          <a:prstGeom prst="roundRect">
            <a:avLst>
              <a:gd name="adj" fmla="val 10714"/>
            </a:avLst>
          </a:prstGeom>
          <a:solidFill>
            <a:srgbClr val="E7EAF2"/>
          </a:solidFill>
          <a:ln w="12700">
            <a:solidFill>
              <a:srgbClr val="1B2A4A"/>
            </a:solidFill>
            <a:prstDash val="solid"/>
          </a:ln>
        </p:spPr>
        <p:txBody>
          <a:bodyPr/>
          <a:lstStyle/>
          <a:p>
            <a:endParaRPr lang="en-US" sz="2400"/>
          </a:p>
        </p:txBody>
      </p:sp>
      <p:sp>
        <p:nvSpPr>
          <p:cNvPr id="14" name="Text 12"/>
          <p:cNvSpPr/>
          <p:nvPr/>
        </p:nvSpPr>
        <p:spPr>
          <a:xfrm>
            <a:off x="4402836" y="2258568"/>
            <a:ext cx="1527048" cy="512064"/>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Observability</a:t>
            </a:r>
            <a:endParaRPr lang="en-US" sz="1600" dirty="0"/>
          </a:p>
        </p:txBody>
      </p:sp>
      <p:sp>
        <p:nvSpPr>
          <p:cNvPr id="15" name="Shape 13"/>
          <p:cNvSpPr/>
          <p:nvPr/>
        </p:nvSpPr>
        <p:spPr>
          <a:xfrm>
            <a:off x="6240780" y="1984248"/>
            <a:ext cx="1779046" cy="512064"/>
          </a:xfrm>
          <a:prstGeom prst="roundRect">
            <a:avLst>
              <a:gd name="adj" fmla="val 10714"/>
            </a:avLst>
          </a:prstGeom>
          <a:solidFill>
            <a:srgbClr val="E7EAF2"/>
          </a:solidFill>
          <a:ln w="12700">
            <a:solidFill>
              <a:srgbClr val="1B2A4A"/>
            </a:solidFill>
            <a:prstDash val="solid"/>
          </a:ln>
        </p:spPr>
        <p:txBody>
          <a:bodyPr/>
          <a:lstStyle/>
          <a:p>
            <a:endParaRPr lang="en-US" sz="2400"/>
          </a:p>
        </p:txBody>
      </p:sp>
      <p:sp>
        <p:nvSpPr>
          <p:cNvPr id="16" name="Text 14"/>
          <p:cNvSpPr/>
          <p:nvPr/>
        </p:nvSpPr>
        <p:spPr>
          <a:xfrm>
            <a:off x="6277356" y="1984248"/>
            <a:ext cx="1527048" cy="512064"/>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Auditability</a:t>
            </a:r>
            <a:endParaRPr lang="en-US" sz="1600" dirty="0"/>
          </a:p>
        </p:txBody>
      </p:sp>
      <p:sp>
        <p:nvSpPr>
          <p:cNvPr id="17" name="Shape 15"/>
          <p:cNvSpPr/>
          <p:nvPr/>
        </p:nvSpPr>
        <p:spPr>
          <a:xfrm>
            <a:off x="8115300" y="1709928"/>
            <a:ext cx="1779046" cy="512064"/>
          </a:xfrm>
          <a:prstGeom prst="roundRect">
            <a:avLst>
              <a:gd name="adj" fmla="val 10714"/>
            </a:avLst>
          </a:prstGeom>
          <a:solidFill>
            <a:srgbClr val="D8ECF1"/>
          </a:solidFill>
          <a:ln w="12700">
            <a:solidFill>
              <a:srgbClr val="0E6E8C"/>
            </a:solidFill>
            <a:prstDash val="solid"/>
          </a:ln>
        </p:spPr>
        <p:txBody>
          <a:bodyPr/>
          <a:lstStyle/>
          <a:p>
            <a:endParaRPr lang="en-US" sz="2400"/>
          </a:p>
        </p:txBody>
      </p:sp>
      <p:sp>
        <p:nvSpPr>
          <p:cNvPr id="18" name="Text 16"/>
          <p:cNvSpPr/>
          <p:nvPr/>
        </p:nvSpPr>
        <p:spPr>
          <a:xfrm>
            <a:off x="8151876" y="1709928"/>
            <a:ext cx="1527048" cy="512064"/>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Assurance</a:t>
            </a:r>
            <a:endParaRPr lang="en-US" sz="1600" dirty="0"/>
          </a:p>
        </p:txBody>
      </p:sp>
      <p:sp>
        <p:nvSpPr>
          <p:cNvPr id="19" name="Shape 17"/>
          <p:cNvSpPr/>
          <p:nvPr/>
        </p:nvSpPr>
        <p:spPr>
          <a:xfrm>
            <a:off x="9989820" y="1435608"/>
            <a:ext cx="1779046" cy="512064"/>
          </a:xfrm>
          <a:prstGeom prst="roundRect">
            <a:avLst>
              <a:gd name="adj" fmla="val 10714"/>
            </a:avLst>
          </a:prstGeom>
          <a:solidFill>
            <a:srgbClr val="D8ECF1"/>
          </a:solidFill>
          <a:ln w="12700">
            <a:solidFill>
              <a:srgbClr val="0E6E8C"/>
            </a:solidFill>
            <a:prstDash val="solid"/>
          </a:ln>
        </p:spPr>
        <p:txBody>
          <a:bodyPr/>
          <a:lstStyle/>
          <a:p>
            <a:endParaRPr lang="en-US" sz="2400"/>
          </a:p>
        </p:txBody>
      </p:sp>
      <p:sp>
        <p:nvSpPr>
          <p:cNvPr id="20" name="Text 18"/>
          <p:cNvSpPr/>
          <p:nvPr/>
        </p:nvSpPr>
        <p:spPr>
          <a:xfrm>
            <a:off x="10026396" y="1435608"/>
            <a:ext cx="1527048" cy="512064"/>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Resilience</a:t>
            </a:r>
            <a:endParaRPr lang="en-US" sz="1600" dirty="0"/>
          </a:p>
        </p:txBody>
      </p:sp>
      <p:sp>
        <p:nvSpPr>
          <p:cNvPr id="21" name="Text 19"/>
          <p:cNvSpPr/>
          <p:nvPr/>
        </p:nvSpPr>
        <p:spPr>
          <a:xfrm>
            <a:off x="1659636" y="3818426"/>
            <a:ext cx="2743200" cy="237744"/>
          </a:xfrm>
          <a:prstGeom prst="rect">
            <a:avLst/>
          </a:prstGeom>
          <a:noFill/>
          <a:ln/>
        </p:spPr>
        <p:txBody>
          <a:bodyPr wrap="square" lIns="0" tIns="0" rIns="0" bIns="0" rtlCol="0" anchor="ctr"/>
          <a:lstStyle/>
          <a:p>
            <a:pPr marL="0" indent="0" algn="ctr">
              <a:buNone/>
            </a:pPr>
            <a:r>
              <a:rPr lang="en-US" sz="1600" b="1" dirty="0">
                <a:solidFill>
                  <a:srgbClr val="0E6E8C"/>
                </a:solidFill>
                <a:latin typeface="Calibri" pitchFamily="34" charset="0"/>
                <a:ea typeface="Calibri" pitchFamily="34" charset="-122"/>
                <a:cs typeface="Calibri" pitchFamily="34" charset="-120"/>
              </a:rPr>
              <a:t>RESILIENCE LOOP</a:t>
            </a:r>
            <a:endParaRPr lang="en-US" sz="1600" dirty="0"/>
          </a:p>
        </p:txBody>
      </p:sp>
      <p:sp>
        <p:nvSpPr>
          <p:cNvPr id="22" name="Shape 20"/>
          <p:cNvSpPr/>
          <p:nvPr/>
        </p:nvSpPr>
        <p:spPr>
          <a:xfrm>
            <a:off x="2537460" y="4224528"/>
            <a:ext cx="960120" cy="384048"/>
          </a:xfrm>
          <a:prstGeom prst="roundRect">
            <a:avLst>
              <a:gd name="adj" fmla="val 14286"/>
            </a:avLst>
          </a:prstGeom>
          <a:solidFill>
            <a:srgbClr val="D8ECF1"/>
          </a:solidFill>
          <a:ln w="12700">
            <a:solidFill>
              <a:srgbClr val="0E6E8C"/>
            </a:solidFill>
            <a:prstDash val="solid"/>
          </a:ln>
        </p:spPr>
        <p:txBody>
          <a:bodyPr/>
          <a:lstStyle/>
          <a:p>
            <a:endParaRPr lang="en-US" sz="2400"/>
          </a:p>
        </p:txBody>
      </p:sp>
      <p:sp>
        <p:nvSpPr>
          <p:cNvPr id="23" name="Text 21"/>
          <p:cNvSpPr/>
          <p:nvPr/>
        </p:nvSpPr>
        <p:spPr>
          <a:xfrm>
            <a:off x="2574036" y="4224528"/>
            <a:ext cx="886968" cy="384048"/>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Detect</a:t>
            </a:r>
            <a:endParaRPr lang="en-US" sz="1400" dirty="0"/>
          </a:p>
        </p:txBody>
      </p:sp>
      <p:sp>
        <p:nvSpPr>
          <p:cNvPr id="24" name="Shape 22"/>
          <p:cNvSpPr/>
          <p:nvPr/>
        </p:nvSpPr>
        <p:spPr>
          <a:xfrm>
            <a:off x="3195828" y="4882896"/>
            <a:ext cx="960120" cy="384048"/>
          </a:xfrm>
          <a:prstGeom prst="roundRect">
            <a:avLst>
              <a:gd name="adj" fmla="val 14286"/>
            </a:avLst>
          </a:prstGeom>
          <a:solidFill>
            <a:srgbClr val="D8ECF1"/>
          </a:solidFill>
          <a:ln w="12700">
            <a:solidFill>
              <a:srgbClr val="0E6E8C"/>
            </a:solidFill>
            <a:prstDash val="solid"/>
          </a:ln>
        </p:spPr>
        <p:txBody>
          <a:bodyPr/>
          <a:lstStyle/>
          <a:p>
            <a:endParaRPr lang="en-US" sz="2400"/>
          </a:p>
        </p:txBody>
      </p:sp>
      <p:sp>
        <p:nvSpPr>
          <p:cNvPr id="25" name="Text 23"/>
          <p:cNvSpPr/>
          <p:nvPr/>
        </p:nvSpPr>
        <p:spPr>
          <a:xfrm>
            <a:off x="3232404" y="4882896"/>
            <a:ext cx="886968" cy="384048"/>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Respond</a:t>
            </a:r>
            <a:endParaRPr lang="en-US" sz="1400" dirty="0"/>
          </a:p>
        </p:txBody>
      </p:sp>
      <p:sp>
        <p:nvSpPr>
          <p:cNvPr id="26" name="Shape 24"/>
          <p:cNvSpPr/>
          <p:nvPr/>
        </p:nvSpPr>
        <p:spPr>
          <a:xfrm>
            <a:off x="2537460" y="5541264"/>
            <a:ext cx="960120" cy="384048"/>
          </a:xfrm>
          <a:prstGeom prst="roundRect">
            <a:avLst>
              <a:gd name="adj" fmla="val 14286"/>
            </a:avLst>
          </a:prstGeom>
          <a:solidFill>
            <a:srgbClr val="D8ECF1"/>
          </a:solidFill>
          <a:ln w="12700">
            <a:solidFill>
              <a:srgbClr val="0E6E8C"/>
            </a:solidFill>
            <a:prstDash val="solid"/>
          </a:ln>
        </p:spPr>
        <p:txBody>
          <a:bodyPr/>
          <a:lstStyle/>
          <a:p>
            <a:endParaRPr lang="en-US" sz="2400"/>
          </a:p>
        </p:txBody>
      </p:sp>
      <p:sp>
        <p:nvSpPr>
          <p:cNvPr id="27" name="Text 25"/>
          <p:cNvSpPr/>
          <p:nvPr/>
        </p:nvSpPr>
        <p:spPr>
          <a:xfrm>
            <a:off x="2574036" y="5541264"/>
            <a:ext cx="886968" cy="384048"/>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Recover</a:t>
            </a:r>
            <a:endParaRPr lang="en-US" sz="1400" dirty="0"/>
          </a:p>
        </p:txBody>
      </p:sp>
      <p:sp>
        <p:nvSpPr>
          <p:cNvPr id="28" name="Shape 26"/>
          <p:cNvSpPr/>
          <p:nvPr/>
        </p:nvSpPr>
        <p:spPr>
          <a:xfrm>
            <a:off x="1879092" y="4882896"/>
            <a:ext cx="960120" cy="384048"/>
          </a:xfrm>
          <a:prstGeom prst="roundRect">
            <a:avLst>
              <a:gd name="adj" fmla="val 14286"/>
            </a:avLst>
          </a:prstGeom>
          <a:solidFill>
            <a:srgbClr val="D8ECF1"/>
          </a:solidFill>
          <a:ln w="12700">
            <a:solidFill>
              <a:srgbClr val="0E6E8C"/>
            </a:solidFill>
            <a:prstDash val="solid"/>
          </a:ln>
        </p:spPr>
        <p:txBody>
          <a:bodyPr/>
          <a:lstStyle/>
          <a:p>
            <a:endParaRPr lang="en-US" sz="2400"/>
          </a:p>
        </p:txBody>
      </p:sp>
      <p:sp>
        <p:nvSpPr>
          <p:cNvPr id="29" name="Text 27"/>
          <p:cNvSpPr/>
          <p:nvPr/>
        </p:nvSpPr>
        <p:spPr>
          <a:xfrm>
            <a:off x="1915668" y="4882896"/>
            <a:ext cx="886968" cy="384048"/>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Adapt</a:t>
            </a:r>
            <a:endParaRPr lang="en-US" sz="1400" dirty="0"/>
          </a:p>
        </p:txBody>
      </p:sp>
      <p:sp>
        <p:nvSpPr>
          <p:cNvPr id="30" name="Shape 28"/>
          <p:cNvSpPr/>
          <p:nvPr/>
        </p:nvSpPr>
        <p:spPr>
          <a:xfrm rot="2700000">
            <a:off x="3540820" y="4633642"/>
            <a:ext cx="201168" cy="146304"/>
          </a:xfrm>
          <a:prstGeom prst="chevron">
            <a:avLst/>
          </a:prstGeom>
          <a:solidFill>
            <a:srgbClr val="0E6E8C"/>
          </a:solidFill>
          <a:ln/>
        </p:spPr>
        <p:txBody>
          <a:bodyPr/>
          <a:lstStyle/>
          <a:p>
            <a:endParaRPr lang="en-US" sz="2400"/>
          </a:p>
        </p:txBody>
      </p:sp>
      <p:sp>
        <p:nvSpPr>
          <p:cNvPr id="31" name="Shape 29"/>
          <p:cNvSpPr/>
          <p:nvPr/>
        </p:nvSpPr>
        <p:spPr>
          <a:xfrm rot="8100000">
            <a:off x="3468746" y="5370698"/>
            <a:ext cx="201168" cy="146304"/>
          </a:xfrm>
          <a:prstGeom prst="chevron">
            <a:avLst/>
          </a:prstGeom>
          <a:solidFill>
            <a:srgbClr val="0E6E8C"/>
          </a:solidFill>
          <a:ln/>
        </p:spPr>
        <p:txBody>
          <a:bodyPr/>
          <a:lstStyle/>
          <a:p>
            <a:endParaRPr lang="en-US" sz="2400"/>
          </a:p>
        </p:txBody>
      </p:sp>
      <p:sp>
        <p:nvSpPr>
          <p:cNvPr id="32" name="Shape 30"/>
          <p:cNvSpPr/>
          <p:nvPr/>
        </p:nvSpPr>
        <p:spPr>
          <a:xfrm rot="13500000">
            <a:off x="2365395" y="5391972"/>
            <a:ext cx="201168" cy="146304"/>
          </a:xfrm>
          <a:prstGeom prst="chevron">
            <a:avLst/>
          </a:prstGeom>
          <a:solidFill>
            <a:srgbClr val="0E6E8C"/>
          </a:solidFill>
          <a:ln/>
        </p:spPr>
        <p:txBody>
          <a:bodyPr/>
          <a:lstStyle/>
          <a:p>
            <a:endParaRPr lang="en-US" sz="2400"/>
          </a:p>
        </p:txBody>
      </p:sp>
      <p:sp>
        <p:nvSpPr>
          <p:cNvPr id="33" name="Shape 31"/>
          <p:cNvSpPr/>
          <p:nvPr/>
        </p:nvSpPr>
        <p:spPr>
          <a:xfrm rot="18900000">
            <a:off x="2320214" y="4611564"/>
            <a:ext cx="201168" cy="146304"/>
          </a:xfrm>
          <a:prstGeom prst="chevron">
            <a:avLst/>
          </a:prstGeom>
          <a:solidFill>
            <a:srgbClr val="0E6E8C"/>
          </a:solidFill>
          <a:ln/>
        </p:spPr>
        <p:txBody>
          <a:bodyPr/>
          <a:lstStyle/>
          <a:p>
            <a:endParaRPr lang="en-US" sz="2400"/>
          </a:p>
        </p:txBody>
      </p:sp>
      <p:sp>
        <p:nvSpPr>
          <p:cNvPr id="34" name="Text 32"/>
          <p:cNvSpPr/>
          <p:nvPr/>
        </p:nvSpPr>
        <p:spPr>
          <a:xfrm>
            <a:off x="7798756" y="3803310"/>
            <a:ext cx="2743200" cy="237744"/>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ASSURANCE LOOP</a:t>
            </a:r>
            <a:endParaRPr lang="en-US" sz="1600" dirty="0"/>
          </a:p>
        </p:txBody>
      </p:sp>
      <p:sp>
        <p:nvSpPr>
          <p:cNvPr id="35" name="Shape 33"/>
          <p:cNvSpPr/>
          <p:nvPr/>
        </p:nvSpPr>
        <p:spPr>
          <a:xfrm>
            <a:off x="8709660" y="4224528"/>
            <a:ext cx="960120" cy="384048"/>
          </a:xfrm>
          <a:prstGeom prst="roundRect">
            <a:avLst>
              <a:gd name="adj" fmla="val 14286"/>
            </a:avLst>
          </a:prstGeom>
          <a:solidFill>
            <a:srgbClr val="E7EAF2"/>
          </a:solidFill>
          <a:ln w="12700">
            <a:solidFill>
              <a:srgbClr val="1B2A4A"/>
            </a:solidFill>
            <a:prstDash val="solid"/>
          </a:ln>
        </p:spPr>
        <p:txBody>
          <a:bodyPr/>
          <a:lstStyle/>
          <a:p>
            <a:endParaRPr lang="en-US" sz="2400"/>
          </a:p>
        </p:txBody>
      </p:sp>
      <p:sp>
        <p:nvSpPr>
          <p:cNvPr id="36" name="Text 34"/>
          <p:cNvSpPr/>
          <p:nvPr/>
        </p:nvSpPr>
        <p:spPr>
          <a:xfrm>
            <a:off x="8746236" y="4224528"/>
            <a:ext cx="886968" cy="384048"/>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Observe</a:t>
            </a:r>
            <a:endParaRPr lang="en-US" sz="1400" dirty="0"/>
          </a:p>
        </p:txBody>
      </p:sp>
      <p:sp>
        <p:nvSpPr>
          <p:cNvPr id="37" name="Shape 35"/>
          <p:cNvSpPr/>
          <p:nvPr/>
        </p:nvSpPr>
        <p:spPr>
          <a:xfrm>
            <a:off x="9368028" y="4882896"/>
            <a:ext cx="960120" cy="384048"/>
          </a:xfrm>
          <a:prstGeom prst="roundRect">
            <a:avLst>
              <a:gd name="adj" fmla="val 14286"/>
            </a:avLst>
          </a:prstGeom>
          <a:solidFill>
            <a:srgbClr val="E7EAF2"/>
          </a:solidFill>
          <a:ln w="12700">
            <a:solidFill>
              <a:srgbClr val="1B2A4A"/>
            </a:solidFill>
            <a:prstDash val="solid"/>
          </a:ln>
        </p:spPr>
        <p:txBody>
          <a:bodyPr/>
          <a:lstStyle/>
          <a:p>
            <a:endParaRPr lang="en-US" sz="2400"/>
          </a:p>
        </p:txBody>
      </p:sp>
      <p:sp>
        <p:nvSpPr>
          <p:cNvPr id="38" name="Text 36"/>
          <p:cNvSpPr/>
          <p:nvPr/>
        </p:nvSpPr>
        <p:spPr>
          <a:xfrm>
            <a:off x="9404604" y="4882896"/>
            <a:ext cx="886968" cy="384048"/>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Test</a:t>
            </a:r>
            <a:endParaRPr lang="en-US" sz="1400" dirty="0"/>
          </a:p>
        </p:txBody>
      </p:sp>
      <p:sp>
        <p:nvSpPr>
          <p:cNvPr id="39" name="Shape 37"/>
          <p:cNvSpPr/>
          <p:nvPr/>
        </p:nvSpPr>
        <p:spPr>
          <a:xfrm>
            <a:off x="8709660" y="5541264"/>
            <a:ext cx="960120" cy="384048"/>
          </a:xfrm>
          <a:prstGeom prst="roundRect">
            <a:avLst>
              <a:gd name="adj" fmla="val 14286"/>
            </a:avLst>
          </a:prstGeom>
          <a:solidFill>
            <a:srgbClr val="E7EAF2"/>
          </a:solidFill>
          <a:ln w="12700">
            <a:solidFill>
              <a:srgbClr val="1B2A4A"/>
            </a:solidFill>
            <a:prstDash val="solid"/>
          </a:ln>
        </p:spPr>
        <p:txBody>
          <a:bodyPr/>
          <a:lstStyle/>
          <a:p>
            <a:endParaRPr lang="en-US" sz="2400"/>
          </a:p>
        </p:txBody>
      </p:sp>
      <p:sp>
        <p:nvSpPr>
          <p:cNvPr id="40" name="Text 38"/>
          <p:cNvSpPr/>
          <p:nvPr/>
        </p:nvSpPr>
        <p:spPr>
          <a:xfrm>
            <a:off x="8746236" y="5541264"/>
            <a:ext cx="886968" cy="384048"/>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Verify</a:t>
            </a:r>
            <a:endParaRPr lang="en-US" sz="1400" dirty="0"/>
          </a:p>
        </p:txBody>
      </p:sp>
      <p:sp>
        <p:nvSpPr>
          <p:cNvPr id="41" name="Shape 39"/>
          <p:cNvSpPr/>
          <p:nvPr/>
        </p:nvSpPr>
        <p:spPr>
          <a:xfrm>
            <a:off x="8051292" y="4882896"/>
            <a:ext cx="960120" cy="384048"/>
          </a:xfrm>
          <a:prstGeom prst="roundRect">
            <a:avLst>
              <a:gd name="adj" fmla="val 14286"/>
            </a:avLst>
          </a:prstGeom>
          <a:solidFill>
            <a:srgbClr val="E7EAF2"/>
          </a:solidFill>
          <a:ln w="12700">
            <a:solidFill>
              <a:srgbClr val="1B2A4A"/>
            </a:solidFill>
            <a:prstDash val="solid"/>
          </a:ln>
        </p:spPr>
        <p:txBody>
          <a:bodyPr/>
          <a:lstStyle/>
          <a:p>
            <a:endParaRPr lang="en-US" sz="2400"/>
          </a:p>
        </p:txBody>
      </p:sp>
      <p:sp>
        <p:nvSpPr>
          <p:cNvPr id="42" name="Text 40"/>
          <p:cNvSpPr/>
          <p:nvPr/>
        </p:nvSpPr>
        <p:spPr>
          <a:xfrm>
            <a:off x="8087868" y="4882896"/>
            <a:ext cx="886968" cy="384048"/>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Prove</a:t>
            </a:r>
            <a:endParaRPr lang="en-US" sz="1400" dirty="0"/>
          </a:p>
        </p:txBody>
      </p:sp>
      <p:sp>
        <p:nvSpPr>
          <p:cNvPr id="43" name="Shape 41"/>
          <p:cNvSpPr/>
          <p:nvPr/>
        </p:nvSpPr>
        <p:spPr>
          <a:xfrm rot="2700000">
            <a:off x="9696079" y="4633642"/>
            <a:ext cx="201168" cy="146304"/>
          </a:xfrm>
          <a:prstGeom prst="chevron">
            <a:avLst/>
          </a:prstGeom>
          <a:solidFill>
            <a:srgbClr val="1B2A4A"/>
          </a:solidFill>
          <a:ln/>
        </p:spPr>
        <p:txBody>
          <a:bodyPr/>
          <a:lstStyle/>
          <a:p>
            <a:endParaRPr lang="en-US" sz="2400"/>
          </a:p>
        </p:txBody>
      </p:sp>
      <p:sp>
        <p:nvSpPr>
          <p:cNvPr id="44" name="Shape 42"/>
          <p:cNvSpPr/>
          <p:nvPr/>
        </p:nvSpPr>
        <p:spPr>
          <a:xfrm rot="8100000">
            <a:off x="9654124" y="5381838"/>
            <a:ext cx="201168" cy="146304"/>
          </a:xfrm>
          <a:prstGeom prst="chevron">
            <a:avLst/>
          </a:prstGeom>
          <a:solidFill>
            <a:srgbClr val="1B2A4A"/>
          </a:solidFill>
          <a:ln/>
        </p:spPr>
        <p:txBody>
          <a:bodyPr/>
          <a:lstStyle/>
          <a:p>
            <a:endParaRPr lang="en-US" sz="2400"/>
          </a:p>
        </p:txBody>
      </p:sp>
      <p:sp>
        <p:nvSpPr>
          <p:cNvPr id="45" name="Shape 43"/>
          <p:cNvSpPr/>
          <p:nvPr/>
        </p:nvSpPr>
        <p:spPr>
          <a:xfrm rot="13500000">
            <a:off x="8557498" y="5391972"/>
            <a:ext cx="201168" cy="146304"/>
          </a:xfrm>
          <a:prstGeom prst="chevron">
            <a:avLst/>
          </a:prstGeom>
          <a:solidFill>
            <a:srgbClr val="1B2A4A"/>
          </a:solidFill>
          <a:ln/>
        </p:spPr>
        <p:txBody>
          <a:bodyPr/>
          <a:lstStyle/>
          <a:p>
            <a:endParaRPr lang="en-US" sz="2400"/>
          </a:p>
        </p:txBody>
      </p:sp>
      <p:sp>
        <p:nvSpPr>
          <p:cNvPr id="46" name="Shape 44"/>
          <p:cNvSpPr/>
          <p:nvPr/>
        </p:nvSpPr>
        <p:spPr>
          <a:xfrm rot="18900000">
            <a:off x="8500751" y="4633642"/>
            <a:ext cx="201168" cy="146304"/>
          </a:xfrm>
          <a:prstGeom prst="chevron">
            <a:avLst/>
          </a:prstGeom>
          <a:solidFill>
            <a:srgbClr val="1B2A4A"/>
          </a:solidFill>
          <a:ln/>
        </p:spPr>
        <p:txBody>
          <a:bodyPr/>
          <a:lstStyle/>
          <a:p>
            <a:endParaRPr lang="en-US" sz="2400"/>
          </a:p>
        </p:txBody>
      </p:sp>
      <p:sp>
        <p:nvSpPr>
          <p:cNvPr id="47" name="Shape 45"/>
          <p:cNvSpPr/>
          <p:nvPr/>
        </p:nvSpPr>
        <p:spPr>
          <a:xfrm>
            <a:off x="4617720" y="4583944"/>
            <a:ext cx="3138008" cy="710432"/>
          </a:xfrm>
          <a:prstGeom prst="roundRect">
            <a:avLst>
              <a:gd name="adj" fmla="val 50000"/>
            </a:avLst>
          </a:prstGeom>
          <a:solidFill>
            <a:srgbClr val="F7F8FA"/>
          </a:solidFill>
          <a:ln w="9525">
            <a:solidFill>
              <a:srgbClr val="C9CDD6"/>
            </a:solidFill>
            <a:prstDash val="solid"/>
          </a:ln>
        </p:spPr>
        <p:txBody>
          <a:bodyPr/>
          <a:lstStyle/>
          <a:p>
            <a:endParaRPr lang="en-US" sz="2400"/>
          </a:p>
        </p:txBody>
      </p:sp>
      <p:sp>
        <p:nvSpPr>
          <p:cNvPr id="48" name="Text 46"/>
          <p:cNvSpPr/>
          <p:nvPr/>
        </p:nvSpPr>
        <p:spPr>
          <a:xfrm>
            <a:off x="4617720" y="4608576"/>
            <a:ext cx="3130322" cy="685800"/>
          </a:xfrm>
          <a:prstGeom prst="rect">
            <a:avLst/>
          </a:prstGeom>
          <a:noFill/>
          <a:ln/>
        </p:spPr>
        <p:txBody>
          <a:bodyPr wrap="square" lIns="0" tIns="0" rIns="0" bIns="0" rtlCol="0" anchor="ctr"/>
          <a:lstStyle/>
          <a:p>
            <a:pPr marL="0" indent="0" algn="ctr">
              <a:buNone/>
            </a:pPr>
            <a:r>
              <a:rPr lang="en-US" sz="1400" b="1" i="1" dirty="0">
                <a:solidFill>
                  <a:srgbClr val="6B7280"/>
                </a:solidFill>
                <a:latin typeface="Calibri" pitchFamily="34" charset="0"/>
                <a:ea typeface="Calibri" pitchFamily="34" charset="-122"/>
                <a:cs typeface="Calibri" pitchFamily="34" charset="-120"/>
              </a:rPr>
              <a:t>Evidence-backed confidence</a:t>
            </a:r>
            <a:endParaRPr lang="en-US" sz="1400" dirty="0"/>
          </a:p>
          <a:p>
            <a:pPr marL="0" indent="0" algn="ctr">
              <a:buNone/>
            </a:pPr>
            <a:r>
              <a:rPr lang="en-US" sz="1400" b="1" i="1" dirty="0">
                <a:solidFill>
                  <a:srgbClr val="6B7280"/>
                </a:solidFill>
                <a:latin typeface="Calibri" pitchFamily="34" charset="0"/>
                <a:ea typeface="Calibri" pitchFamily="34" charset="-122"/>
                <a:cs typeface="Calibri" pitchFamily="34" charset="-120"/>
              </a:rPr>
              <a:t>in resilience</a:t>
            </a:r>
            <a:endParaRPr lang="en-US" sz="1400" dirty="0"/>
          </a:p>
        </p:txBody>
      </p:sp>
      <p:sp>
        <p:nvSpPr>
          <p:cNvPr id="49" name="Text 47"/>
          <p:cNvSpPr/>
          <p:nvPr/>
        </p:nvSpPr>
        <p:spPr>
          <a:xfrm>
            <a:off x="502920" y="6263640"/>
            <a:ext cx="11183112" cy="502920"/>
          </a:xfrm>
          <a:prstGeom prst="rect">
            <a:avLst/>
          </a:prstGeom>
          <a:noFill/>
          <a:ln/>
        </p:spPr>
        <p:txBody>
          <a:bodyPr wrap="square" lIns="0" tIns="0" rIns="0" bIns="0" rtlCol="0" anchor="ctr"/>
          <a:lstStyle/>
          <a:p>
            <a:pPr marL="0" indent="0" algn="ctr">
              <a:buNone/>
            </a:pPr>
            <a:r>
              <a:rPr lang="en-US" sz="1625" b="1" i="1" dirty="0">
                <a:solidFill>
                  <a:srgbClr val="1B2A4A"/>
                </a:solidFill>
                <a:latin typeface="Cambria" pitchFamily="34" charset="0"/>
                <a:ea typeface="Cambria" pitchFamily="34" charset="-122"/>
                <a:cs typeface="Cambria" pitchFamily="34" charset="-120"/>
              </a:rPr>
              <a:t>The opportunity is not to automate more work - </a:t>
            </a:r>
            <a:r>
              <a:rPr lang="en-US" sz="1625" b="1" i="1" dirty="0">
                <a:solidFill>
                  <a:srgbClr val="0E6E8C"/>
                </a:solidFill>
                <a:latin typeface="Cambria" pitchFamily="34" charset="0"/>
                <a:ea typeface="Cambria" pitchFamily="34" charset="-122"/>
                <a:cs typeface="Cambria" pitchFamily="34" charset="-120"/>
              </a:rPr>
              <a:t>it's to engineer evidence, governance, and accountability into how work happens.</a:t>
            </a:r>
            <a:endParaRPr lang="en-US" sz="1625" dirty="0"/>
          </a:p>
        </p:txBody>
      </p:sp>
      <p:sp>
        <p:nvSpPr>
          <p:cNvPr id="50" name="Text 48"/>
          <p:cNvSpPr/>
          <p:nvPr/>
        </p:nvSpPr>
        <p:spPr>
          <a:xfrm>
            <a:off x="11658600" y="320040"/>
            <a:ext cx="457200" cy="274320"/>
          </a:xfrm>
          <a:prstGeom prst="rect">
            <a:avLst/>
          </a:prstGeom>
          <a:noFill/>
          <a:ln/>
        </p:spPr>
        <p:txBody>
          <a:bodyPr wrap="square" lIns="0" tIns="0" rIns="0" bIns="0" rtlCol="0" anchor="ctr"/>
          <a:lstStyle/>
          <a:p>
            <a:pPr marL="0" indent="0" algn="r">
              <a:buNone/>
            </a:pPr>
            <a:r>
              <a:rPr lang="en-US" sz="1400" dirty="0">
                <a:solidFill>
                  <a:srgbClr val="C9CDD6"/>
                </a:solidFill>
                <a:latin typeface="Calibri" pitchFamily="34" charset="0"/>
                <a:ea typeface="Calibri" pitchFamily="34" charset="-122"/>
                <a:cs typeface="Calibri" pitchFamily="34" charset="-120"/>
              </a:rPr>
              <a:t>14</a:t>
            </a:r>
            <a:endParaRPr lang="en-US" sz="1400" dirty="0"/>
          </a:p>
        </p:txBody>
      </p:sp>
    </p:spTree>
    <p:extLst>
      <p:ext uri="{BB962C8B-B14F-4D97-AF65-F5344CB8AC3E}">
        <p14:creationId xmlns:p14="http://schemas.microsoft.com/office/powerpoint/2010/main" val="13275970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13BD0C8F-6357-6874-29E2-9E2DC327C0E7}"/>
              </a:ext>
            </a:extLst>
          </p:cNvPr>
          <p:cNvSpPr/>
          <p:nvPr/>
        </p:nvSpPr>
        <p:spPr>
          <a:xfrm>
            <a:off x="2459311" y="2994660"/>
            <a:ext cx="7460866" cy="868680"/>
          </a:xfrm>
          <a:prstGeom prst="rect">
            <a:avLst/>
          </a:prstGeom>
          <a:noFill/>
          <a:ln/>
        </p:spPr>
        <p:txBody>
          <a:bodyPr wrap="square" lIns="0" tIns="0" rIns="0" bIns="0" rtlCol="0" anchor="t"/>
          <a:lstStyle/>
          <a:p>
            <a:pPr marL="0" indent="0" algn="ctr">
              <a:lnSpc>
                <a:spcPct val="102000"/>
              </a:lnSpc>
              <a:buNone/>
            </a:pPr>
            <a:r>
              <a:rPr lang="en-US" sz="4400" b="1" dirty="0">
                <a:solidFill>
                  <a:srgbClr val="1B2A4A"/>
                </a:solidFill>
                <a:latin typeface="Cambria" pitchFamily="34" charset="0"/>
                <a:ea typeface="Cambria" pitchFamily="34" charset="-122"/>
                <a:cs typeface="Cambria" pitchFamily="34" charset="-120"/>
              </a:rPr>
              <a:t>Thank You!</a:t>
            </a:r>
            <a:endParaRPr lang="en-US" sz="4400" dirty="0"/>
          </a:p>
        </p:txBody>
      </p:sp>
    </p:spTree>
    <p:extLst>
      <p:ext uri="{BB962C8B-B14F-4D97-AF65-F5344CB8AC3E}">
        <p14:creationId xmlns:p14="http://schemas.microsoft.com/office/powerpoint/2010/main" val="21840282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buNone/>
            </a:pPr>
            <a:r>
              <a:rPr lang="en-US" sz="1500" b="1" kern="0" spc="200" dirty="0">
                <a:solidFill>
                  <a:srgbClr val="0E6E8C"/>
                </a:solidFill>
                <a:latin typeface="Calibri" pitchFamily="34" charset="0"/>
                <a:ea typeface="Calibri" pitchFamily="34" charset="-122"/>
                <a:cs typeface="Calibri" pitchFamily="34" charset="-120"/>
              </a:rPr>
              <a:t>PERSONAL PRACTICE - APPENDIX</a:t>
            </a:r>
            <a:endParaRPr lang="en-US" sz="1500" dirty="0"/>
          </a:p>
        </p:txBody>
      </p:sp>
      <p:sp>
        <p:nvSpPr>
          <p:cNvPr id="3" name="Text 1"/>
          <p:cNvSpPr/>
          <p:nvPr/>
        </p:nvSpPr>
        <p:spPr>
          <a:xfrm>
            <a:off x="502920" y="612648"/>
            <a:ext cx="11155680" cy="868680"/>
          </a:xfrm>
          <a:prstGeom prst="rect">
            <a:avLst/>
          </a:prstGeom>
          <a:noFill/>
          <a:ln/>
        </p:spPr>
        <p:txBody>
          <a:bodyPr wrap="square" lIns="0" tIns="0" rIns="0" bIns="0" rtlCol="0" anchor="t"/>
          <a:lstStyle/>
          <a:p>
            <a:pPr marL="0" indent="0">
              <a:lnSpc>
                <a:spcPct val="102000"/>
              </a:lnSpc>
              <a:buNone/>
            </a:pPr>
            <a:r>
              <a:rPr lang="en-US" sz="3000" b="1" dirty="0">
                <a:solidFill>
                  <a:srgbClr val="1B2A4A"/>
                </a:solidFill>
                <a:latin typeface="Cambria" pitchFamily="34" charset="0"/>
                <a:ea typeface="Cambria" pitchFamily="34" charset="-122"/>
                <a:cs typeface="Cambria" pitchFamily="34" charset="-120"/>
              </a:rPr>
              <a:t>Where my own engineering practice sits on this matrix today</a:t>
            </a:r>
            <a:endParaRPr lang="en-US" sz="3000" dirty="0"/>
          </a:p>
        </p:txBody>
      </p:sp>
      <p:sp>
        <p:nvSpPr>
          <p:cNvPr id="4" name="Shape 2"/>
          <p:cNvSpPr/>
          <p:nvPr/>
        </p:nvSpPr>
        <p:spPr>
          <a:xfrm>
            <a:off x="2680564" y="1362456"/>
            <a:ext cx="6830568" cy="4590288"/>
          </a:xfrm>
          <a:prstGeom prst="rect">
            <a:avLst/>
          </a:prstGeom>
          <a:solidFill>
            <a:srgbClr val="FFFFFF"/>
          </a:solidFill>
          <a:ln w="9525">
            <a:solidFill>
              <a:srgbClr val="C9CDD6"/>
            </a:solidFill>
            <a:prstDash val="solid"/>
          </a:ln>
          <a:effectLst>
            <a:outerShdw blurRad="76200" dist="25400" dir="5400000" algn="bl" rotWithShape="0">
              <a:srgbClr val="888888">
                <a:alpha val="25000"/>
              </a:srgbClr>
            </a:outerShdw>
          </a:effectLst>
        </p:spPr>
        <p:txBody>
          <a:bodyPr/>
          <a:lstStyle/>
          <a:p>
            <a:endParaRPr lang="en-US"/>
          </a:p>
        </p:txBody>
      </p:sp>
      <p:pic>
        <p:nvPicPr>
          <p:cNvPr id="5" name="Image 0" descr="/home/claude/deck/maturity_matrix.png"/>
          <p:cNvPicPr>
            <a:picLocks noChangeAspect="1"/>
          </p:cNvPicPr>
          <p:nvPr/>
        </p:nvPicPr>
        <p:blipFill>
          <a:blip r:embed="rId3"/>
          <a:stretch>
            <a:fillRect/>
          </a:stretch>
        </p:blipFill>
        <p:spPr>
          <a:xfrm>
            <a:off x="2735428" y="1417320"/>
            <a:ext cx="6720840" cy="4480560"/>
          </a:xfrm>
          <a:prstGeom prst="rect">
            <a:avLst/>
          </a:prstGeom>
        </p:spPr>
      </p:pic>
      <p:sp>
        <p:nvSpPr>
          <p:cNvPr id="6" name="Text 3"/>
          <p:cNvSpPr/>
          <p:nvPr/>
        </p:nvSpPr>
        <p:spPr>
          <a:xfrm>
            <a:off x="504292" y="6153912"/>
            <a:ext cx="11183112" cy="548640"/>
          </a:xfrm>
          <a:prstGeom prst="rect">
            <a:avLst/>
          </a:prstGeom>
          <a:noFill/>
          <a:ln/>
        </p:spPr>
        <p:txBody>
          <a:bodyPr wrap="square" lIns="0" tIns="0" rIns="0" bIns="0" rtlCol="0" anchor="t"/>
          <a:lstStyle/>
          <a:p>
            <a:pPr marL="0" indent="0">
              <a:lnSpc>
                <a:spcPct val="115000"/>
              </a:lnSpc>
              <a:buNone/>
            </a:pPr>
            <a:r>
              <a:rPr lang="en-US" sz="1313" b="1" dirty="0">
                <a:solidFill>
                  <a:srgbClr val="1B2A4A"/>
                </a:solidFill>
                <a:latin typeface="Calibri" pitchFamily="34" charset="0"/>
                <a:ea typeface="Calibri" pitchFamily="34" charset="-122"/>
                <a:cs typeface="Calibri" pitchFamily="34" charset="-120"/>
              </a:rPr>
              <a:t>DORA:  </a:t>
            </a:r>
            <a:r>
              <a:rPr lang="en-US" sz="1313" dirty="0">
                <a:solidFill>
                  <a:srgbClr val="2B2F38"/>
                </a:solidFill>
                <a:latin typeface="Calibri" pitchFamily="34" charset="0"/>
                <a:ea typeface="Calibri" pitchFamily="34" charset="-122"/>
                <a:cs typeface="Calibri" pitchFamily="34" charset="-120"/>
              </a:rPr>
              <a:t>Google’s DevOps Research and Assessment program - the annual industry survey behind the “Industry Median” benchmark on this matrix.   </a:t>
            </a:r>
            <a:r>
              <a:rPr lang="en-US" sz="1313" b="1" dirty="0">
                <a:solidFill>
                  <a:srgbClr val="1B2A4A"/>
                </a:solidFill>
                <a:latin typeface="Calibri" pitchFamily="34" charset="0"/>
                <a:ea typeface="Calibri" pitchFamily="34" charset="-122"/>
                <a:cs typeface="Calibri" pitchFamily="34" charset="-120"/>
              </a:rPr>
              <a:t>McCabe:  </a:t>
            </a:r>
            <a:r>
              <a:rPr lang="en-US" sz="1313" dirty="0">
                <a:solidFill>
                  <a:srgbClr val="2B2F38"/>
                </a:solidFill>
                <a:latin typeface="Calibri" pitchFamily="34" charset="0"/>
                <a:ea typeface="Calibri" pitchFamily="34" charset="-122"/>
                <a:cs typeface="Calibri" pitchFamily="34" charset="-120"/>
              </a:rPr>
              <a:t>cyclomatic complexity - a classic software metric counting independent execution paths through code, used here as shorthand for how gated vs. unsupervised a change path is.</a:t>
            </a:r>
            <a:endParaRPr lang="en-US" sz="1313" dirty="0"/>
          </a:p>
        </p:txBody>
      </p:sp>
      <p:sp>
        <p:nvSpPr>
          <p:cNvPr id="7" name="Text 4"/>
          <p:cNvSpPr/>
          <p:nvPr/>
        </p:nvSpPr>
        <p:spPr>
          <a:xfrm>
            <a:off x="11658600" y="320040"/>
            <a:ext cx="457200" cy="274320"/>
          </a:xfrm>
          <a:prstGeom prst="rect">
            <a:avLst/>
          </a:prstGeom>
          <a:noFill/>
          <a:ln/>
        </p:spPr>
        <p:txBody>
          <a:bodyPr wrap="square" lIns="0" tIns="0" rIns="0" bIns="0" rtlCol="0" anchor="ctr"/>
          <a:lstStyle/>
          <a:p>
            <a:pPr marL="0" indent="0" algn="r">
              <a:buNone/>
            </a:pPr>
            <a:r>
              <a:rPr lang="en-US" sz="1125" dirty="0">
                <a:solidFill>
                  <a:srgbClr val="C9CDD6"/>
                </a:solidFill>
                <a:latin typeface="Calibri" pitchFamily="34" charset="0"/>
                <a:ea typeface="Calibri" pitchFamily="34" charset="-122"/>
                <a:cs typeface="Calibri" pitchFamily="34" charset="-120"/>
              </a:rPr>
              <a:t>16</a:t>
            </a:r>
            <a:endParaRPr lang="en-US" sz="1125" dirty="0"/>
          </a:p>
        </p:txBody>
      </p:sp>
    </p:spTree>
    <p:extLst>
      <p:ext uri="{BB962C8B-B14F-4D97-AF65-F5344CB8AC3E}">
        <p14:creationId xmlns:p14="http://schemas.microsoft.com/office/powerpoint/2010/main" val="39202820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8606BAFC-1AF1-6D47-95EB-D99C28A81774}">
  <we:reference id="wa200010001" version="1.0.0.1" store="en-US" storeType="OMEX"/>
  <we:alternateReferences>
    <we:reference id="WA200010001" version="1.0.0.1" store="WA200010001" storeType="OMEX"/>
  </we:alternateReferences>
  <we:properties>
    <we:property name="claude.fileId" value="&quot;b76ea286-f36a-4a66-af28-9d6356b688ab&quot;"/>
  </we:properties>
  <we:bindings/>
  <we:snapshot xmlns:r="http://schemas.openxmlformats.org/officeDocument/2006/relationships"/>
</we:webextension>
</file>

<file path=ppt/webextensions/webextension2.xml><?xml version="1.0" encoding="utf-8"?>
<we:webextension xmlns:we="http://schemas.microsoft.com/office/webextensions/webextension/2010/11" id="{31B741D6-0819-D44E-9148-B90A13E64143}">
  <we:reference id="wa200010725" version="1.0.0.1" store="en-US" storeType="OMEX"/>
  <we:alternateReferences>
    <we:reference id="WA200010725" version="1.0.0.1" store="" storeType="OMEX"/>
  </we:alternateReferences>
  <we:properties>
    <we:property name="claude.fileId" value="&quot;d9487422-431f-4c14-ab7e-b89735f303b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845</TotalTime>
  <Words>6105</Words>
  <Application>Microsoft Macintosh PowerPoint</Application>
  <PresentationFormat>Widescreen</PresentationFormat>
  <Paragraphs>377</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Tharaka Kaushalya</cp:lastModifiedBy>
  <cp:revision>4</cp:revision>
  <dcterms:created xsi:type="dcterms:W3CDTF">2026-08-12T18:27:23Z</dcterms:created>
  <dcterms:modified xsi:type="dcterms:W3CDTF">2026-09-04T02:26:54Z</dcterms:modified>
</cp:coreProperties>
</file>